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
   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24384000" cy="13716000" type="screen16x9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
    Type="http://schemas.openxmlformats.org/officeDocument/2006/relationships/slideMaster"
   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  <Relationship Id="rId7" Type="http://schemas.openxmlformats.org/officeDocument/2006/relationships/slide" Target="slides/slide6.xml"/>
  <Relationship Id="rId8" Type="http://schemas.openxmlformats.org/officeDocument/2006/relationships/slide" Target="slides/slide7.xml"/>
  <Relationship Id="rId9" Type="http://schemas.openxmlformats.org/officeDocument/2006/relationships/slide" Target="slides/slide8.xml"/>
</Relationships>
</file>

<file path=ppt/slideLayouts/_rels/slideLayout1.xml.rels><?xml version="1.0" encoding="UTF-8" standalone="yes"?>
<Relationships xmlns="http://schemas.openxmlformats.org/package/2006/relationships">
  <Relationship Id="rId1"
    Type="http://schemas.openxmlformats.org/officeDocument/2006/relationships/slideMaster"
   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  <Relationship Id="rId2"
    Type="http://schemas.openxmlformats.org/officeDocument/2006/relationships/theme"
   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lang="uz-UZ" sz="4400" b="1"/>
      </a:lvl1pPr>
    </p:titleStyle>
    <p:bodyStyle>
      <a:lvl1pPr>
        <a:defRPr lang="uz-UZ" sz="2000"/>
      </a:lvl1pPr>
    </p:bodyStyle>
    <p:otherStyle>
      <a:defPPr>
        <a:defRPr lang="uz-UZ"/>
      </a:def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8000" y="900000"/>
            <a:ext cx="8063999" cy="1260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wrap="square" lIns="91440" rIns="91440" tIns="45720" bIns="45720"/>
          <a:lstStyle/>
          <a:p>
            <a:r>
              <a:rPr lang="uz-UZ" sz="5400" b="1" dirty="0">
                <a:solidFill>
                  <a:srgbClr val="F0C040"/>
                </a:solidFill>
              </a:rPr>
              <a:t>1-JAHON URUSHI</a:t>
            </a:r>
          </a:p>
        </p:txBody>
      </p:sp>
      <p:sp>
        <p:nvSpPr>
          <p:cNvPr id="5" name="Divider"/>
          <p:cNvSpPr>
            <a:spLocks noGrp="1"/>
          </p:cNvSpPr>
          <p:nvPr/>
        </p:nvSpPr>
        <p:spPr>
          <a:xfrm>
            <a:off x="288000" y="2124000"/>
            <a:ext cx="8063999" cy="38100"/>
          </a:xfrm>
          <a:prstGeom prst="rect">
            <a:avLst/>
          </a:prstGeom>
          <a:solidFill>
            <a:srgbClr val="F0C040"/>
          </a:solidFill>
        </p:spPr>
        <p:txBody>
          <a:bodyPr/>
          <a:lstStyle/>
          <a:p/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288000" y="2520000"/>
            <a:ext cx="8063999" cy="540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/>
          <a:lstStyle/>
          <a:p>
            <a:r>
              <a:rPr lang="uz-UZ" sz="2800" dirty="0">
                <a:solidFill>
                  <a:srgbClr val="CCCCCC"/>
                </a:solidFill>
              </a:rPr>
              <a:t>1914 – 1918  |  "Katta Urush"</a:t>
            </a:r>
          </a:p>
        </p:txBody>
      </p:sp>
      <p:sp>
        <p:nvSpPr>
          <p:cNvPr id="4" name="Body"/>
          <p:cNvSpPr>
            <a:spLocks noGrp="1"/>
          </p:cNvSpPr>
          <p:nvPr>
            <p:ph idx="1"/>
          </p:nvPr>
        </p:nvSpPr>
        <p:spPr>
          <a:xfrm>
            <a:off x="288000" y="3060000"/>
            <a:ext cx="8063999" cy="2160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wrap="square" lIns="91440" rIns="91440" tIns="45720" bIns="45720"/>
          <a:lstStyle/>
          <a:p>
            <a:pPr marL="0" indent="0">
              <a:buNone/>
            </a:pPr>
            <a:r>
              <a:rPr lang="uz-UZ" sz="1900" b="0" dirty="0">
                <a:solidFill>
                  <a:srgbClr val="DDDDDD"/>
                </a:solidFill>
              </a:rPr>
              <a:t>Mustaqil ish  ·  Tarix fani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C7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8000" y="216000"/>
            <a:ext cx="8063999" cy="9000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txBody>
          <a:bodyPr wrap="square" lIns="91440" rIns="91440" tIns="45720" bIns="45720"/>
          <a:lstStyle/>
          <a:p>
            <a:r>
              <a:rPr lang="uz-UZ" sz="3600" b="1" dirty="0">
                <a:solidFill>
                  <a:srgbClr val="F0C040"/>
                </a:solidFill>
              </a:rPr>
              <a:t>Umumiy Ma'lumot</a:t>
            </a:r>
          </a:p>
        </p:txBody>
      </p:sp>
      <p:sp>
        <p:nvSpPr>
          <p:cNvPr id="5" name="Divider"/>
          <p:cNvSpPr>
            <a:spLocks noGrp="1"/>
          </p:cNvSpPr>
          <p:nvPr/>
        </p:nvSpPr>
        <p:spPr>
          <a:xfrm>
            <a:off x="288000" y="1080000"/>
            <a:ext cx="8063999" cy="38100"/>
          </a:xfrm>
          <a:prstGeom prst="rect">
            <a:avLst/>
          </a:prstGeom>
          <a:solidFill>
            <a:srgbClr val="F0C040"/>
          </a:solidFill>
        </p:spPr>
        <p:txBody>
          <a:bodyPr/>
          <a:lstStyle/>
          <a:p/>
        </p:txBody>
      </p:sp>
      <p:sp>
        <p:nvSpPr>
          <p:cNvPr id="4" name="Body"/>
          <p:cNvSpPr>
            <a:spLocks noGrp="1"/>
          </p:cNvSpPr>
          <p:nvPr>
            <p:ph idx="1"/>
          </p:nvPr>
        </p:nvSpPr>
        <p:spPr>
          <a:xfrm>
            <a:off x="288000" y="1440000"/>
            <a:ext cx="8063999" cy="37800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txBody>
          <a:bodyPr wrap="square" lIns="91440" rIns="91440" tIns="45720" bIns="45720"/>
          <a:lstStyle/>
          <a:p>
            <a:pPr marL="0" indent="0">
              <a:buNone/>
            </a:pPr>
            <a:r>
              <a:rPr lang="uz-UZ" sz="1900" b="0" dirty="0">
                <a:solidFill>
                  <a:srgbClr val="DDDDDD"/>
                </a:solidFill>
              </a:rPr>
              <a:t>Urush davri: 1914-yil 28-iyul – 1918-yil 11-noyabr</a:t>
            </a:r>
          </a:p>
          <a:p>
            <a:pPr marL="0" indent="0">
              <a:buNone/>
            </a:pPr>
            <a:r>
              <a:rPr lang="uz-UZ" sz="1900" b="0" dirty="0">
                <a:solidFill>
                  <a:srgbClr val="DDDDDD"/>
                </a:solidFill>
              </a:rPr>
              <a:t>Ishtirokchi davlatlar: 30 dan ortiq</a:t>
            </a:r>
          </a:p>
          <a:p>
            <a:pPr marL="0" indent="0">
              <a:buNone/>
            </a:pPr>
            <a:r>
              <a:rPr lang="uz-UZ" sz="1900" b="0" dirty="0">
                <a:solidFill>
                  <a:srgbClr val="DDDDDD"/>
                </a:solidFill>
              </a:rPr>
              <a:t>Safarbar etilgan askarlar: 70 million</a:t>
            </a:r>
          </a:p>
          <a:p>
            <a:pPr marL="0" indent="0">
              <a:buNone/>
            </a:pPr>
            <a:r>
              <a:rPr lang="uz-UZ" sz="1900" b="0" dirty="0">
                <a:solidFill>
                  <a:srgbClr val="DDDDDD"/>
                </a:solidFill>
              </a:rPr>
              <a:t>Halok bo'lganlar: 17 million kishi</a:t>
            </a:r>
          </a:p>
          <a:p>
            <a:pPr marL="0" indent="0">
              <a:buNone/>
            </a:pPr>
            <a:r>
              <a:rPr lang="uz-UZ" sz="1900" b="0" dirty="0">
                <a:solidFill>
                  <a:srgbClr val="DDDDDD"/>
                </a:solidFill>
              </a:rPr>
              <a:t>Yarador va asirlar: 20 million dan ortiq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B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8000" y="216000"/>
            <a:ext cx="8063999" cy="900000"/>
          </a:xfrm>
          <a:prstGeom prst="rect">
            <a:avLst/>
          </a:prstGeom>
          <a:solidFill>
            <a:srgbClr val="4B0000"/>
          </a:solidFill>
          <a:ln>
            <a:noFill/>
          </a:ln>
        </p:spPr>
        <p:txBody>
          <a:bodyPr wrap="square" lIns="91440" rIns="91440" tIns="45720" bIns="45720"/>
          <a:lstStyle/>
          <a:p>
            <a:r>
              <a:rPr lang="uz-UZ" sz="3600" b="1" dirty="0">
                <a:solidFill>
                  <a:srgbClr val="F0C040"/>
                </a:solidFill>
              </a:rPr>
              <a:t>Urushning Sabablari</a:t>
            </a:r>
          </a:p>
        </p:txBody>
      </p:sp>
      <p:sp>
        <p:nvSpPr>
          <p:cNvPr id="5" name="Divider"/>
          <p:cNvSpPr>
            <a:spLocks noGrp="1"/>
          </p:cNvSpPr>
          <p:nvPr/>
        </p:nvSpPr>
        <p:spPr>
          <a:xfrm>
            <a:off x="288000" y="1080000"/>
            <a:ext cx="8063999" cy="38100"/>
          </a:xfrm>
          <a:prstGeom prst="rect">
            <a:avLst/>
          </a:prstGeom>
          <a:solidFill>
            <a:srgbClr val="F0C040"/>
          </a:solidFill>
        </p:spPr>
        <p:txBody>
          <a:bodyPr/>
          <a:lstStyle/>
          <a:p/>
        </p:txBody>
      </p:sp>
      <p:sp>
        <p:nvSpPr>
          <p:cNvPr id="4" name="Body"/>
          <p:cNvSpPr>
            <a:spLocks noGrp="1"/>
          </p:cNvSpPr>
          <p:nvPr>
            <p:ph idx="1"/>
          </p:nvPr>
        </p:nvSpPr>
        <p:spPr>
          <a:xfrm>
            <a:off x="288000" y="1440000"/>
            <a:ext cx="8063999" cy="3780000"/>
          </a:xfrm>
          <a:prstGeom prst="rect">
            <a:avLst/>
          </a:prstGeom>
          <a:solidFill>
            <a:srgbClr val="4B0000"/>
          </a:solidFill>
          <a:ln>
            <a:noFill/>
          </a:ln>
        </p:spPr>
        <p:txBody>
          <a:bodyPr wrap="square" lIns="91440" rIns="91440" tIns="45720" bIns="45720"/>
          <a:lstStyle/>
          <a:p>
            <a:pPr marL="0" indent="0">
              <a:buNone/>
            </a:pPr>
            <a:r>
              <a:rPr lang="uz-UZ" sz="1900" b="0" dirty="0">
                <a:solidFill>
                  <a:srgbClr val="DDDDDD"/>
                </a:solidFill>
              </a:rPr>
              <a:t>Sarajevo suiqasdi (1914-yil 28-iyun) – Artsxersog Frans Ferdinand o'ldirildi</a:t>
            </a:r>
          </a:p>
          <a:p>
            <a:pPr marL="0" indent="0">
              <a:buNone/>
            </a:pPr>
            <a:r>
              <a:rPr lang="uz-UZ" sz="1900" b="0" dirty="0">
                <a:solidFill>
                  <a:srgbClr val="DDDDDD"/>
                </a:solidFill>
              </a:rPr>
              <a:t>Ittifoqlar tizimi – Uchlar ittifoqi va Antanta o'rtasidagi qarama-qarshilik</a:t>
            </a:r>
          </a:p>
          <a:p>
            <a:pPr marL="0" indent="0">
              <a:buNone/>
            </a:pPr>
            <a:r>
              <a:rPr lang="uz-UZ" sz="1900" b="0" dirty="0">
                <a:solidFill>
                  <a:srgbClr val="DDDDDD"/>
                </a:solidFill>
              </a:rPr>
              <a:t>Imperializm – mustamlakalar uchun raqobat va hududiy ziddiyatlar</a:t>
            </a:r>
          </a:p>
          <a:p>
            <a:pPr marL="0" indent="0">
              <a:buNone/>
            </a:pPr>
            <a:r>
              <a:rPr lang="uz-UZ" sz="1900" b="0" dirty="0">
                <a:solidFill>
                  <a:srgbClr val="DDDDDD"/>
                </a:solidFill>
              </a:rPr>
              <a:t>Militarizm – qurollanish poygasi va harbiy salohiyatni oshirish</a:t>
            </a:r>
          </a:p>
          <a:p>
            <a:pPr marL="0" indent="0">
              <a:buNone/>
            </a:pPr>
            <a:r>
              <a:rPr lang="uz-UZ" sz="1900" b="0" dirty="0">
                <a:solidFill>
                  <a:srgbClr val="DDDDDD"/>
                </a:solidFill>
              </a:rPr>
              <a:t>Milliy-ozodlik harakatlari – Bolqon yarim orolidagi beqarorlik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8000" y="216000"/>
            <a:ext cx="8063999" cy="900000"/>
          </a:xfrm>
          <a:prstGeom prst="rect">
            <a:avLst/>
          </a:prstGeom>
          <a:solidFill>
            <a:srgbClr val="003300"/>
          </a:solidFill>
          <a:ln>
            <a:noFill/>
          </a:ln>
        </p:spPr>
        <p:txBody>
          <a:bodyPr wrap="square" lIns="91440" rIns="91440" tIns="45720" bIns="45720"/>
          <a:lstStyle/>
          <a:p>
            <a:r>
              <a:rPr lang="uz-UZ" sz="3600" b="1" dirty="0">
                <a:solidFill>
                  <a:srgbClr val="F0C040"/>
                </a:solidFill>
              </a:rPr>
              <a:t>Asosiy Ishtirokchilar</a:t>
            </a:r>
          </a:p>
        </p:txBody>
      </p:sp>
      <p:sp>
        <p:nvSpPr>
          <p:cNvPr id="5" name="Divider"/>
          <p:cNvSpPr>
            <a:spLocks noGrp="1"/>
          </p:cNvSpPr>
          <p:nvPr/>
        </p:nvSpPr>
        <p:spPr>
          <a:xfrm>
            <a:off x="288000" y="1080000"/>
            <a:ext cx="8063999" cy="38100"/>
          </a:xfrm>
          <a:prstGeom prst="rect">
            <a:avLst/>
          </a:prstGeom>
          <a:solidFill>
            <a:srgbClr val="F0C040"/>
          </a:solidFill>
        </p:spPr>
        <p:txBody>
          <a:bodyPr/>
          <a:lstStyle/>
          <a:p/>
        </p:txBody>
      </p:sp>
      <p:sp>
        <p:nvSpPr>
          <p:cNvPr id="4" name="Body"/>
          <p:cNvSpPr>
            <a:spLocks noGrp="1"/>
          </p:cNvSpPr>
          <p:nvPr>
            <p:ph idx="1"/>
          </p:nvPr>
        </p:nvSpPr>
        <p:spPr>
          <a:xfrm>
            <a:off x="288000" y="1440000"/>
            <a:ext cx="8063999" cy="3780000"/>
          </a:xfrm>
          <a:prstGeom prst="rect">
            <a:avLst/>
          </a:prstGeom>
          <a:solidFill>
            <a:srgbClr val="003300"/>
          </a:solidFill>
          <a:ln>
            <a:noFill/>
          </a:ln>
        </p:spPr>
        <p:txBody>
          <a:bodyPr wrap="square" lIns="91440" rIns="91440" tIns="45720" bIns="45720"/>
          <a:lstStyle/>
          <a:p>
            <a:pPr marL="0" indent="0">
              <a:buNone/>
            </a:pPr>
            <a:r>
              <a:rPr lang="uz-UZ" sz="2000" b="1" dirty="0">
                <a:solidFill>
                  <a:srgbClr val="F0C040"/>
                </a:solidFill>
              </a:rPr>
              <a:t>ANTANTA BLOKI:</a:t>
            </a:r>
          </a:p>
          <a:p>
            <a:pPr marL="228600" indent="228600">
              <a:buNone/>
            </a:pPr>
            <a:r>
              <a:rPr lang="uz-UZ" sz="1900" b="0" dirty="0">
                <a:solidFill>
                  <a:srgbClr val="AADDFF"/>
                </a:solidFill>
              </a:rPr>
              <a:t>  • Rossiya imperiyasi, Fransiya, Buyuk Britaniya</a:t>
            </a:r>
          </a:p>
          <a:p>
            <a:pPr marL="228600" indent="228600">
              <a:buNone/>
            </a:pPr>
            <a:r>
              <a:rPr lang="uz-UZ" sz="1900" b="0" dirty="0">
                <a:solidFill>
                  <a:srgbClr val="AADDFF"/>
                </a:solidFill>
              </a:rPr>
              <a:t>  • Italiya (1915 dan), AQSh (1917 dan), Belgiya, Serbiya</a:t>
            </a:r>
          </a:p>
          <a:p>
            <a:pPr marL="0" indent="0">
              <a:buNone/>
            </a:pPr>
            <a:r>
              <a:rPr lang="uz-UZ" sz="2000" b="1" dirty="0">
                <a:solidFill>
                  <a:srgbClr val="F0C040"/>
                </a:solidFill>
              </a:rPr>
              <a:t>MARKAZIY DAVLATLAR:</a:t>
            </a:r>
          </a:p>
          <a:p>
            <a:pPr marL="228600" indent="228600">
              <a:buNone/>
            </a:pPr>
            <a:r>
              <a:rPr lang="uz-UZ" sz="1900" b="0" dirty="0">
                <a:solidFill>
                  <a:srgbClr val="AADDFF"/>
                </a:solidFill>
              </a:rPr>
              <a:t>  • Germaniya imperiyasi, Avstro-Vengriya</a:t>
            </a:r>
          </a:p>
          <a:p>
            <a:pPr marL="228600" indent="228600">
              <a:buNone/>
            </a:pPr>
            <a:r>
              <a:rPr lang="uz-UZ" sz="1900" b="0" dirty="0">
                <a:solidFill>
                  <a:srgbClr val="AADDFF"/>
                </a:solidFill>
              </a:rPr>
              <a:t>  • Usmonli imperiyasi, Bolgariya (1915 dan)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00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8000" y="216000"/>
            <a:ext cx="8063999" cy="900000"/>
          </a:xfrm>
          <a:prstGeom prst="rect">
            <a:avLst/>
          </a:prstGeom>
          <a:solidFill>
            <a:srgbClr val="2C003E"/>
          </a:solidFill>
          <a:ln>
            <a:noFill/>
          </a:ln>
        </p:spPr>
        <p:txBody>
          <a:bodyPr wrap="square" lIns="91440" rIns="91440" tIns="45720" bIns="45720"/>
          <a:lstStyle/>
          <a:p>
            <a:r>
              <a:rPr lang="uz-UZ" sz="3600" b="1" dirty="0">
                <a:solidFill>
                  <a:srgbClr val="F0C040"/>
                </a:solidFill>
              </a:rPr>
              <a:t>Asosiy Janglar va Voqealar</a:t>
            </a:r>
          </a:p>
        </p:txBody>
      </p:sp>
      <p:sp>
        <p:nvSpPr>
          <p:cNvPr id="5" name="Divider"/>
          <p:cNvSpPr>
            <a:spLocks noGrp="1"/>
          </p:cNvSpPr>
          <p:nvPr/>
        </p:nvSpPr>
        <p:spPr>
          <a:xfrm>
            <a:off x="288000" y="1080000"/>
            <a:ext cx="8063999" cy="38100"/>
          </a:xfrm>
          <a:prstGeom prst="rect">
            <a:avLst/>
          </a:prstGeom>
          <a:solidFill>
            <a:srgbClr val="F0C040"/>
          </a:solidFill>
        </p:spPr>
        <p:txBody>
          <a:bodyPr/>
          <a:lstStyle/>
          <a:p/>
        </p:txBody>
      </p:sp>
      <p:sp>
        <p:nvSpPr>
          <p:cNvPr id="4" name="Body"/>
          <p:cNvSpPr>
            <a:spLocks noGrp="1"/>
          </p:cNvSpPr>
          <p:nvPr>
            <p:ph idx="1"/>
          </p:nvPr>
        </p:nvSpPr>
        <p:spPr>
          <a:xfrm>
            <a:off x="288000" y="1440000"/>
            <a:ext cx="8063999" cy="3780000"/>
          </a:xfrm>
          <a:prstGeom prst="rect">
            <a:avLst/>
          </a:prstGeom>
          <a:solidFill>
            <a:srgbClr val="2C003E"/>
          </a:solidFill>
          <a:ln>
            <a:noFill/>
          </a:ln>
        </p:spPr>
        <p:txBody>
          <a:bodyPr wrap="square" lIns="91440" rIns="91440" tIns="45720" bIns="45720"/>
          <a:lstStyle/>
          <a:p>
            <a:pPr marL="0" indent="0">
              <a:buNone/>
            </a:pPr>
            <a:r>
              <a:rPr lang="uz-UZ" sz="1900" b="0" dirty="0">
                <a:solidFill>
                  <a:srgbClr val="DDDDDD"/>
                </a:solidFill>
              </a:rPr>
              <a:t>1914 – Urush boshlanishi; G'arbiy va Sharqiy frontlar ochildi</a:t>
            </a:r>
          </a:p>
          <a:p>
            <a:pPr marL="0" indent="0">
              <a:buNone/>
            </a:pPr>
            <a:r>
              <a:rPr lang="uz-UZ" sz="1900" b="0" dirty="0">
                <a:solidFill>
                  <a:srgbClr val="DDDDDD"/>
                </a:solidFill>
              </a:rPr>
              <a:t>1915 – Çanakkale (Gallipoli) jangi; zaharli gaz birinchi marta ishlatildi</a:t>
            </a:r>
          </a:p>
          <a:p>
            <a:pPr marL="0" indent="0">
              <a:buNone/>
            </a:pPr>
            <a:r>
              <a:rPr lang="uz-UZ" sz="1900" b="0" dirty="0">
                <a:solidFill>
                  <a:srgbClr val="DDDDDD"/>
                </a:solidFill>
              </a:rPr>
              <a:t>1916 – Verdan jangi (700 000+ halok); Somma jangi – tanklar kiritildi</a:t>
            </a:r>
          </a:p>
          <a:p>
            <a:pPr marL="0" indent="0">
              <a:buNone/>
            </a:pPr>
            <a:r>
              <a:rPr lang="uz-UZ" sz="1900" b="0" dirty="0">
                <a:solidFill>
                  <a:srgbClr val="DDDDDD"/>
                </a:solidFill>
              </a:rPr>
              <a:t>1917 – AQSh urushga kirdi; Rossiyada inqilob; Germaniya suv osti urushi</a:t>
            </a:r>
          </a:p>
          <a:p>
            <a:pPr marL="0" indent="0">
              <a:buNone/>
            </a:pPr>
            <a:r>
              <a:rPr lang="uz-UZ" sz="1900" b="0" dirty="0">
                <a:solidFill>
                  <a:srgbClr val="DDDDDD"/>
                </a:solidFill>
              </a:rPr>
              <a:t>1918 – Germaniya taslim bo'ldi; 11-noyabr – ateşkes bitimi imzolandi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8000" y="216000"/>
            <a:ext cx="8063999" cy="900000"/>
          </a:xfrm>
          <a:prstGeom prst="rect">
            <a:avLst/>
          </a:prstGeom>
          <a:solidFill>
            <a:srgbClr val="1A1A00"/>
          </a:solidFill>
          <a:ln>
            <a:noFill/>
          </a:ln>
        </p:spPr>
        <p:txBody>
          <a:bodyPr wrap="square" lIns="91440" rIns="91440" tIns="45720" bIns="45720"/>
          <a:lstStyle/>
          <a:p>
            <a:r>
              <a:rPr lang="uz-UZ" sz="3600" b="1" dirty="0">
                <a:solidFill>
                  <a:srgbClr val="F0C040"/>
                </a:solidFill>
              </a:rPr>
              <a:t>Yangi Harbiy Texnologiyalar</a:t>
            </a:r>
          </a:p>
        </p:txBody>
      </p:sp>
      <p:sp>
        <p:nvSpPr>
          <p:cNvPr id="5" name="Divider"/>
          <p:cNvSpPr>
            <a:spLocks noGrp="1"/>
          </p:cNvSpPr>
          <p:nvPr/>
        </p:nvSpPr>
        <p:spPr>
          <a:xfrm>
            <a:off x="288000" y="1080000"/>
            <a:ext cx="8063999" cy="38100"/>
          </a:xfrm>
          <a:prstGeom prst="rect">
            <a:avLst/>
          </a:prstGeom>
          <a:solidFill>
            <a:srgbClr val="F0C040"/>
          </a:solidFill>
        </p:spPr>
        <p:txBody>
          <a:bodyPr/>
          <a:lstStyle/>
          <a:p/>
        </p:txBody>
      </p:sp>
      <p:sp>
        <p:nvSpPr>
          <p:cNvPr id="4" name="Body"/>
          <p:cNvSpPr>
            <a:spLocks noGrp="1"/>
          </p:cNvSpPr>
          <p:nvPr>
            <p:ph idx="1"/>
          </p:nvPr>
        </p:nvSpPr>
        <p:spPr>
          <a:xfrm>
            <a:off x="288000" y="1440000"/>
            <a:ext cx="8063999" cy="3780000"/>
          </a:xfrm>
          <a:prstGeom prst="rect">
            <a:avLst/>
          </a:prstGeom>
          <a:solidFill>
            <a:srgbClr val="1A1A00"/>
          </a:solidFill>
          <a:ln>
            <a:noFill/>
          </a:ln>
        </p:spPr>
        <p:txBody>
          <a:bodyPr wrap="square" lIns="91440" rIns="91440" tIns="45720" bIns="45720"/>
          <a:lstStyle/>
          <a:p>
            <a:pPr marL="0" indent="0">
              <a:buNone/>
            </a:pPr>
            <a:r>
              <a:rPr lang="uz-UZ" sz="1900" b="0" dirty="0">
                <a:solidFill>
                  <a:srgbClr val="DDDDDD"/>
                </a:solidFill>
              </a:rPr>
              <a:t>Zaharli gazlar – xlorli va xardal gazi (Germaniya, 1915)</a:t>
            </a:r>
          </a:p>
          <a:p>
            <a:pPr marL="0" indent="0">
              <a:buNone/>
            </a:pPr>
            <a:r>
              <a:rPr lang="uz-UZ" sz="1900" b="0" dirty="0">
                <a:solidFill>
                  <a:srgbClr val="DDDDDD"/>
                </a:solidFill>
              </a:rPr>
              <a:t>Tanklar – Britaniya tomonidan Somma jangida birinchi marta qo'llanildi</a:t>
            </a:r>
          </a:p>
          <a:p>
            <a:pPr marL="0" indent="0">
              <a:buNone/>
            </a:pPr>
            <a:r>
              <a:rPr lang="uz-UZ" sz="1900" b="0" dirty="0">
                <a:solidFill>
                  <a:srgbClr val="DDDDDD"/>
                </a:solidFill>
              </a:rPr>
              <a:t>Harbiy aviatsiya – razvedka va bombalash uchun samolyotlar</a:t>
            </a:r>
          </a:p>
          <a:p>
            <a:pPr marL="0" indent="0">
              <a:buNone/>
            </a:pPr>
            <a:r>
              <a:rPr lang="uz-UZ" sz="1900" b="0" dirty="0">
                <a:solidFill>
                  <a:srgbClr val="DDDDDD"/>
                </a:solidFill>
              </a:rPr>
              <a:t>Dengiz osti kemalari – Germaniya U-boat floti</a:t>
            </a:r>
          </a:p>
          <a:p>
            <a:pPr marL="0" indent="0">
              <a:buNone/>
            </a:pPr>
            <a:r>
              <a:rPr lang="uz-UZ" sz="1900" b="0" dirty="0">
                <a:solidFill>
                  <a:srgbClr val="DDDDDD"/>
                </a:solidFill>
              </a:rPr>
              <a:t>Pulemyotlar – xandaqlar urushini shakllantirdi</a:t>
            </a:r>
          </a:p>
          <a:p>
            <a:pPr marL="0" indent="0">
              <a:buNone/>
            </a:pPr>
            <a:r>
              <a:rPr lang="uz-UZ" sz="1900" b="0" dirty="0">
                <a:solidFill>
                  <a:srgbClr val="DDDDDD"/>
                </a:solidFill>
              </a:rPr>
              <a:t>Radio aloqa – harbiy buyruqlarni uzatishda keng qo'llanildi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8000" y="216000"/>
            <a:ext cx="8063999" cy="900000"/>
          </a:xfrm>
          <a:prstGeom prst="rect">
            <a:avLst/>
          </a:prstGeom>
          <a:solidFill>
            <a:srgbClr val="00001A"/>
          </a:solidFill>
          <a:ln>
            <a:noFill/>
          </a:ln>
        </p:spPr>
        <p:txBody>
          <a:bodyPr wrap="square" lIns="91440" rIns="91440" tIns="45720" bIns="45720"/>
          <a:lstStyle/>
          <a:p>
            <a:r>
              <a:rPr lang="uz-UZ" sz="3600" b="1" dirty="0">
                <a:solidFill>
                  <a:srgbClr val="F0C040"/>
                </a:solidFill>
              </a:rPr>
              <a:t>Urushning Oqibatlari</a:t>
            </a:r>
          </a:p>
        </p:txBody>
      </p:sp>
      <p:sp>
        <p:nvSpPr>
          <p:cNvPr id="5" name="Divider"/>
          <p:cNvSpPr>
            <a:spLocks noGrp="1"/>
          </p:cNvSpPr>
          <p:nvPr/>
        </p:nvSpPr>
        <p:spPr>
          <a:xfrm>
            <a:off x="288000" y="1080000"/>
            <a:ext cx="8063999" cy="38100"/>
          </a:xfrm>
          <a:prstGeom prst="rect">
            <a:avLst/>
          </a:prstGeom>
          <a:solidFill>
            <a:srgbClr val="F0C040"/>
          </a:solidFill>
        </p:spPr>
        <p:txBody>
          <a:bodyPr/>
          <a:lstStyle/>
          <a:p/>
        </p:txBody>
      </p:sp>
      <p:sp>
        <p:nvSpPr>
          <p:cNvPr id="4" name="Body"/>
          <p:cNvSpPr>
            <a:spLocks noGrp="1"/>
          </p:cNvSpPr>
          <p:nvPr>
            <p:ph idx="1"/>
          </p:nvPr>
        </p:nvSpPr>
        <p:spPr>
          <a:xfrm>
            <a:off x="288000" y="1440000"/>
            <a:ext cx="8063999" cy="3780000"/>
          </a:xfrm>
          <a:prstGeom prst="rect">
            <a:avLst/>
          </a:prstGeom>
          <a:solidFill>
            <a:srgbClr val="00001A"/>
          </a:solidFill>
          <a:ln>
            <a:noFill/>
          </a:ln>
        </p:spPr>
        <p:txBody>
          <a:bodyPr wrap="square" lIns="91440" rIns="91440" tIns="45720" bIns="45720"/>
          <a:lstStyle/>
          <a:p>
            <a:pPr marL="0" indent="0">
              <a:buNone/>
            </a:pPr>
            <a:r>
              <a:rPr lang="uz-UZ" sz="1900" b="0" dirty="0">
                <a:solidFill>
                  <a:srgbClr val="DDDDDD"/>
                </a:solidFill>
              </a:rPr>
              <a:t>Versal shartnomasi (1919) – Germaniyaga og'ir jazo choralari belgilandi</a:t>
            </a:r>
          </a:p>
          <a:p>
            <a:pPr marL="0" indent="0">
              <a:buNone/>
            </a:pPr>
            <a:r>
              <a:rPr lang="uz-UZ" sz="1900" b="0" dirty="0">
                <a:solidFill>
                  <a:srgbClr val="DDDDDD"/>
                </a:solidFill>
              </a:rPr>
              <a:t>4 ta imperiya qulab tushdi: Rossiya, Avstriya-Vengriya, Usmonli, Germaniya</a:t>
            </a:r>
          </a:p>
          <a:p>
            <a:pPr marL="0" indent="0">
              <a:buNone/>
            </a:pPr>
            <a:r>
              <a:rPr lang="uz-UZ" sz="1900" b="0" dirty="0">
                <a:solidFill>
                  <a:srgbClr val="DDDDDD"/>
                </a:solidFill>
              </a:rPr>
              <a:t>Yangi davlatlar: Polsha, Chexoslovakiya, Yugoslaviya, Finlandiya va boshqalar</a:t>
            </a:r>
          </a:p>
          <a:p>
            <a:pPr marL="0" indent="0">
              <a:buNone/>
            </a:pPr>
            <a:r>
              <a:rPr lang="uz-UZ" sz="1900" b="0" dirty="0">
                <a:solidFill>
                  <a:srgbClr val="DDDDDD"/>
                </a:solidFill>
              </a:rPr>
              <a:t>Millatlar Ligasi tuzildi – BMT ning salafi, xalqaro tinchlik tashkiloti</a:t>
            </a:r>
          </a:p>
          <a:p>
            <a:pPr marL="0" indent="0">
              <a:buNone/>
            </a:pPr>
            <a:r>
              <a:rPr lang="uz-UZ" sz="1900" b="0" dirty="0">
                <a:solidFill>
                  <a:srgbClr val="DDDDDD"/>
                </a:solidFill>
              </a:rPr>
              <a:t>Iqtisodiy vayronagarchilik – Yevropa butunlay izdan chiqdi</a:t>
            </a:r>
          </a:p>
          <a:p>
            <a:pPr marL="0" indent="0">
              <a:buNone/>
            </a:pPr>
            <a:r>
              <a:rPr lang="uz-UZ" sz="1900" b="0" dirty="0">
                <a:solidFill>
                  <a:srgbClr val="DDDDDD"/>
                </a:solidFill>
              </a:rPr>
              <a:t>2-Jahon urushiga zamin: Versal shartlari Gitlerizm uchun yo'l ochdi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8000" y="216000"/>
            <a:ext cx="8063999" cy="900000"/>
          </a:xfrm>
          <a:prstGeom prst="rect">
            <a:avLst/>
          </a:prstGeom>
          <a:solidFill>
            <a:srgbClr val="1A0000"/>
          </a:solidFill>
          <a:ln>
            <a:noFill/>
          </a:ln>
        </p:spPr>
        <p:txBody>
          <a:bodyPr wrap="square" lIns="91440" rIns="91440" tIns="45720" bIns="45720"/>
          <a:lstStyle/>
          <a:p>
            <a:r>
              <a:rPr lang="uz-UZ" sz="3600" b="1" dirty="0">
                <a:solidFill>
                  <a:srgbClr val="F0C040"/>
                </a:solidFill>
              </a:rPr>
              <a:t>Xulosa</a:t>
            </a:r>
          </a:p>
        </p:txBody>
      </p:sp>
      <p:sp>
        <p:nvSpPr>
          <p:cNvPr id="5" name="Divider"/>
          <p:cNvSpPr>
            <a:spLocks noGrp="1"/>
          </p:cNvSpPr>
          <p:nvPr/>
        </p:nvSpPr>
        <p:spPr>
          <a:xfrm>
            <a:off x="288000" y="1080000"/>
            <a:ext cx="8063999" cy="38100"/>
          </a:xfrm>
          <a:prstGeom prst="rect">
            <a:avLst/>
          </a:prstGeom>
          <a:solidFill>
            <a:srgbClr val="F0C040"/>
          </a:solidFill>
        </p:spPr>
        <p:txBody>
          <a:bodyPr/>
          <a:lstStyle/>
          <a:p/>
        </p:txBody>
      </p:sp>
      <p:sp>
        <p:nvSpPr>
          <p:cNvPr id="4" name="Body"/>
          <p:cNvSpPr>
            <a:spLocks noGrp="1"/>
          </p:cNvSpPr>
          <p:nvPr>
            <p:ph idx="1"/>
          </p:nvPr>
        </p:nvSpPr>
        <p:spPr>
          <a:xfrm>
            <a:off x="288000" y="1440000"/>
            <a:ext cx="8063999" cy="3780000"/>
          </a:xfrm>
          <a:prstGeom prst="rect">
            <a:avLst/>
          </a:prstGeom>
          <a:solidFill>
            <a:srgbClr val="1A0000"/>
          </a:solidFill>
          <a:ln>
            <a:noFill/>
          </a:ln>
        </p:spPr>
        <p:txBody>
          <a:bodyPr wrap="square" lIns="91440" rIns="91440" tIns="45720" bIns="45720"/>
          <a:lstStyle/>
          <a:p>
            <a:pPr marL="0" indent="0">
              <a:buNone/>
            </a:pPr>
            <a:r>
              <a:rPr lang="uz-UZ" sz="1900" b="0" dirty="0">
                <a:solidFill>
                  <a:srgbClr val="DDDDDD"/>
                </a:solidFill>
              </a:rPr>
              <a:t>1-Jahon urushi insoniyat tarixidagi eng dahshatli fojialardan biri</a:t>
            </a:r>
          </a:p>
          <a:p>
            <a:pPr marL="0" indent="0">
              <a:buNone/>
            </a:pPr>
            <a:r>
              <a:rPr lang="uz-UZ" sz="1900" b="0" dirty="0">
                <a:solidFill>
                  <a:srgbClr val="DDDDDD"/>
                </a:solidFill>
              </a:rPr>
              <a:t>Butun bir avlodning yo'q qilinishiga olib keldi</a:t>
            </a:r>
          </a:p>
          <a:p>
            <a:pPr marL="0" indent="0">
              <a:buNone/>
            </a:pPr>
            <a:r>
              <a:rPr lang="uz-UZ" sz="1900" b="0" dirty="0">
                <a:solidFill>
                  <a:srgbClr val="DDDDDD"/>
                </a:solidFill>
              </a:rPr>
              <a:t>Siyosiy xaritani butunlay o'zgartirdi, imperiyalarni qulatdi</a:t>
            </a:r>
          </a:p>
          <a:p>
            <a:pPr marL="0" indent="0">
              <a:buNone/>
            </a:pPr>
            <a:r>
              <a:rPr lang="uz-UZ" sz="1900" b="0" dirty="0">
                <a:solidFill>
                  <a:srgbClr val="DDDDDD"/>
                </a:solidFill>
              </a:rPr>
              <a:t>Saboq: tinchlik va xalqaro hamkorlik muqarrar zaruriyatdir</a:t>
            </a:r>
          </a:p>
          <a:p>
            <a:endParaRPr lang="uz-UZ" sz="1800" dirty="0"/>
          </a:p>
          <a:p>
            <a:pPr marL="0" indent="0">
              <a:buNone/>
            </a:pPr>
            <a:r>
              <a:rPr lang="uz-UZ" sz="1900" b="0" dirty="0">
                <a:solidFill>
                  <a:srgbClr val="DDDDDD"/>
                </a:solidFill>
              </a:rPr>
              <a:t>"Urush – bu insoniyatning eng katta muvaffaqiyatsizligidir."</a:t>
            </a:r>
          </a:p>
          <a:p>
            <a:pPr marL="0" indent="0">
              <a:buNone/>
            </a:pPr>
            <a:r>
              <a:rPr lang="uz-UZ" sz="1900" b="0" dirty="0">
                <a:solidFill>
                  <a:srgbClr val="DDDDDD"/>
                </a:solidFill>
              </a:rPr>
              <a:t>                                            – Herbert Hoover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lastClr="000000" val="windowText"/>
      </a:dk1>
      <a:lt1>
        <a:sysClr lastClr="FFFFFF" val="window"/>
      </a:lt1>
      <a:dk2>
        <a:srgbClr val="1F3864"/>
      </a:dk2>
      <a:lt2>
        <a:srgbClr val="E8E8E8"/>
      </a:lt2>
      <a:accent1>
        <a:srgbClr val="F0C040"/>
      </a:accent1>
      <a:accent2>
        <a:srgbClr val="ED7D31"/>
      </a:accent2>
      <a:accent3>
        <a:srgbClr val="A9D18E"/>
      </a:accent3>
      <a:accent4>
        <a:srgbClr val="4472C4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