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
   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
   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
   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  <Relationship Id="rId2" Type="http://schemas.openxmlformats.org/officeDocument/2006/relationships/theme"
   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lang="uz-UZ" sz="3600" b="1"/>
      </a:lvl1pPr>
    </p:titleStyle>
    <p:bodyStyle>
      <a:lvl1pPr>
        <a:defRPr lang="uz-UZ" sz="1800"/>
      </a:lvl1pPr>
    </p:bodyStyle>
    <p:otherStyle>
      <a:defPPr>
        <a:defRPr lang="uz-UZ"/>
      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Deco"/>
          <p:cNvSpPr/>
          <p:nvPr/>
        </p:nvSpPr>
        <p:spPr>
          <a:xfrm>
            <a:off x="7200000" y="360000"/>
            <a:ext cx="4680000" cy="6120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Deco2"/>
          <p:cNvSpPr/>
          <p:nvPr/>
        </p:nvSpPr>
        <p:spPr>
          <a:xfrm>
            <a:off x="7560000" y="720000"/>
            <a:ext cx="216000" cy="5400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Year"/>
          <p:cNvSpPr/>
          <p:nvPr/>
        </p:nvSpPr>
        <p:spPr>
          <a:xfrm>
            <a:off x="7920000" y="1080000"/>
            <a:ext cx="36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8000" b="1" i="0" dirty="0">
                <a:solidFill>
                  <a:srgbClr val="F0A500"/>
                </a:solidFill>
              </a:rPr>
              <a:t>1914 — 1918</a:t>
            </a:r>
          </a:p>
        </p:txBody>
      </p:sp>
      <p:sp>
        <p:nvSpPr>
          <p:cNvPr id="14" name="Title"/>
          <p:cNvSpPr/>
          <p:nvPr/>
        </p:nvSpPr>
        <p:spPr>
          <a:xfrm>
            <a:off x="288000" y="1440000"/>
            <a:ext cx="6840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6600" b="1" i="0" dirty="0">
                <a:solidFill>
                  <a:srgbClr val="FFFFFF"/>
                </a:solidFill>
              </a:rPr>
              <a:t>1-JAHON URUSHI</a:t>
            </a:r>
          </a:p>
        </p:txBody>
      </p:sp>
      <p:sp>
        <p:nvSpPr>
          <p:cNvPr id="15" name="Line"/>
          <p:cNvSpPr/>
          <p:nvPr/>
        </p:nvSpPr>
        <p:spPr>
          <a:xfrm>
            <a:off x="288000" y="3780000"/>
            <a:ext cx="3600000" cy="288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Desc"/>
          <p:cNvSpPr/>
          <p:nvPr/>
        </p:nvSpPr>
        <p:spPr>
          <a:xfrm>
            <a:off x="288000" y="3960000"/>
            <a:ext cx="64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0" i="0" dirty="0">
                <a:solidFill>
                  <a:srgbClr val="8B949E"/>
                </a:solidFill>
              </a:rPr>
              <a:t>Mustaqil ish  ·  Tarix fani  ·  8-sinf</a:t>
            </a:r>
          </a:p>
        </p:txBody>
      </p:sp>
      <p:sp>
        <p:nvSpPr>
          <p:cNvPr id="17" name="Num"/>
          <p:cNvSpPr/>
          <p:nvPr/>
        </p:nvSpPr>
        <p:spPr>
          <a:xfrm>
            <a:off x="288000" y="594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itle"/>
          <p:cNvSpPr/>
          <p:nvPr/>
        </p:nvSpPr>
        <p:spPr>
          <a:xfrm>
            <a:off x="288000" y="216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3600" b="1" i="0" dirty="0">
                <a:solidFill>
                  <a:srgbClr val="FFFFFF"/>
                </a:solidFill>
              </a:rPr>
              <a:t>Umumiy Ma'lumot</a:t>
            </a:r>
          </a:p>
        </p:txBody>
      </p:sp>
      <p:sp>
        <p:nvSpPr>
          <p:cNvPr id="12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Body"/>
          <p:cNvSpPr/>
          <p:nvPr/>
        </p:nvSpPr>
        <p:spPr>
          <a:xfrm>
            <a:off x="288000" y="1152000"/>
            <a:ext cx="1116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800" b="0" i="0" dirty="0">
                <a:solidFill>
                  <a:srgbClr val="C9D1D9"/>
                </a:solidFill>
              </a:rPr>
              <a:t>1914-yil 28-iyuldan 1918-yil 11-noyabrgacha davom etgan bu urush</a:t>
            </a:r>
          </a:p>
          <a:p>
            <a:pPr algn="l"/>
            <a:r>
              <a:rPr lang="uz-UZ" sz="1800" b="0" i="0" dirty="0">
                <a:solidFill>
                  <a:srgbClr val="C9D1D9"/>
                </a:solidFill>
              </a:rPr>
              <a:t>insoniYat tarixidagi eng yirik harbiy to'qnashuvlardan biri bo'ldi.</a:t>
            </a:r>
          </a:p>
        </p:txBody>
      </p:sp>
      <p:sp>
        <p:nvSpPr>
          <p:cNvPr id="14" name="Card0"/>
          <p:cNvSpPr/>
          <p:nvPr/>
        </p:nvSpPr>
        <p:spPr>
          <a:xfrm>
            <a:off x="288000" y="2340000"/>
            <a:ext cx="2700000" cy="2880000"/>
          </a:xfrm>
          <a:prstGeom prst="roundRect">
            <a:avLst>
              <a:gd name="adj" fmla="val 12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Acc0"/>
          <p:cNvSpPr/>
          <p:nvPr/>
        </p:nvSpPr>
        <p:spPr>
          <a:xfrm>
            <a:off x="288000" y="2340000"/>
            <a:ext cx="2700000" cy="144000"/>
          </a:xfrm>
          <a:prstGeom prst="roundRect">
            <a:avLst>
              <a:gd name="adj" fmla="val 120000"/>
            </a:avLst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Num0"/>
          <p:cNvSpPr/>
          <p:nvPr/>
        </p:nvSpPr>
        <p:spPr>
          <a:xfrm>
            <a:off x="396000" y="2880000"/>
            <a:ext cx="2484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4800" b="1" i="0" dirty="0">
                <a:solidFill>
                  <a:srgbClr val="1F6FEB"/>
                </a:solidFill>
              </a:rPr>
              <a:t>4 YIL</a:t>
            </a:r>
          </a:p>
        </p:txBody>
      </p:sp>
      <p:sp>
        <p:nvSpPr>
          <p:cNvPr id="17" name="Lbl0"/>
          <p:cNvSpPr/>
          <p:nvPr/>
        </p:nvSpPr>
        <p:spPr>
          <a:xfrm>
            <a:off x="396000" y="4140000"/>
            <a:ext cx="2484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1600" b="0" i="0" dirty="0">
                <a:solidFill>
                  <a:srgbClr val="C9D1D9"/>
                </a:solidFill>
              </a:rPr>
              <a:t>Urush davom etdi</a:t>
            </a:r>
          </a:p>
        </p:txBody>
      </p:sp>
      <p:sp>
        <p:nvSpPr>
          <p:cNvPr id="18" name="Card1"/>
          <p:cNvSpPr/>
          <p:nvPr/>
        </p:nvSpPr>
        <p:spPr>
          <a:xfrm>
            <a:off x="3168000" y="2340000"/>
            <a:ext cx="2700000" cy="2880000"/>
          </a:xfrm>
          <a:prstGeom prst="roundRect">
            <a:avLst>
              <a:gd name="adj" fmla="val 12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Acc1"/>
          <p:cNvSpPr/>
          <p:nvPr/>
        </p:nvSpPr>
        <p:spPr>
          <a:xfrm>
            <a:off x="3168000" y="2340000"/>
            <a:ext cx="2700000" cy="144000"/>
          </a:xfrm>
          <a:prstGeom prst="roundRect">
            <a:avLst>
              <a:gd name="adj" fmla="val 120000"/>
            </a:avLst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Num1"/>
          <p:cNvSpPr/>
          <p:nvPr/>
        </p:nvSpPr>
        <p:spPr>
          <a:xfrm>
            <a:off x="3276000" y="2880000"/>
            <a:ext cx="2484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4800" b="1" i="0" dirty="0">
                <a:solidFill>
                  <a:srgbClr val="1F6FEB"/>
                </a:solidFill>
              </a:rPr>
              <a:t>30+</a:t>
            </a:r>
          </a:p>
        </p:txBody>
      </p:sp>
      <p:sp>
        <p:nvSpPr>
          <p:cNvPr id="21" name="Lbl1"/>
          <p:cNvSpPr/>
          <p:nvPr/>
        </p:nvSpPr>
        <p:spPr>
          <a:xfrm>
            <a:off x="3276000" y="4140000"/>
            <a:ext cx="2484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1600" b="0" i="0" dirty="0">
                <a:solidFill>
                  <a:srgbClr val="C9D1D9"/>
                </a:solidFill>
              </a:rPr>
              <a:t>Ishtirokchi davlat</a:t>
            </a:r>
          </a:p>
        </p:txBody>
      </p:sp>
      <p:sp>
        <p:nvSpPr>
          <p:cNvPr id="22" name="Card2"/>
          <p:cNvSpPr/>
          <p:nvPr/>
        </p:nvSpPr>
        <p:spPr>
          <a:xfrm>
            <a:off x="6048000" y="2340000"/>
            <a:ext cx="2700000" cy="2880000"/>
          </a:xfrm>
          <a:prstGeom prst="roundRect">
            <a:avLst>
              <a:gd name="adj" fmla="val 12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Acc2"/>
          <p:cNvSpPr/>
          <p:nvPr/>
        </p:nvSpPr>
        <p:spPr>
          <a:xfrm>
            <a:off x="6048000" y="2340000"/>
            <a:ext cx="2700000" cy="144000"/>
          </a:xfrm>
          <a:prstGeom prst="roundRect">
            <a:avLst>
              <a:gd name="adj" fmla="val 120000"/>
            </a:avLst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Num2"/>
          <p:cNvSpPr/>
          <p:nvPr/>
        </p:nvSpPr>
        <p:spPr>
          <a:xfrm>
            <a:off x="6156000" y="2880000"/>
            <a:ext cx="2484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4800" b="1" i="0" dirty="0">
                <a:solidFill>
                  <a:srgbClr val="1F6FEB"/>
                </a:solidFill>
              </a:rPr>
              <a:t>70 MLN</a:t>
            </a:r>
          </a:p>
        </p:txBody>
      </p:sp>
      <p:sp>
        <p:nvSpPr>
          <p:cNvPr id="25" name="Lbl2"/>
          <p:cNvSpPr/>
          <p:nvPr/>
        </p:nvSpPr>
        <p:spPr>
          <a:xfrm>
            <a:off x="6156000" y="4140000"/>
            <a:ext cx="2484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1600" b="0" i="0" dirty="0">
                <a:solidFill>
                  <a:srgbClr val="C9D1D9"/>
                </a:solidFill>
              </a:rPr>
              <a:t>Safarbar askar</a:t>
            </a:r>
          </a:p>
        </p:txBody>
      </p:sp>
      <p:sp>
        <p:nvSpPr>
          <p:cNvPr id="26" name="Card3"/>
          <p:cNvSpPr/>
          <p:nvPr/>
        </p:nvSpPr>
        <p:spPr>
          <a:xfrm>
            <a:off x="8928000" y="2340000"/>
            <a:ext cx="2700000" cy="2880000"/>
          </a:xfrm>
          <a:prstGeom prst="roundRect">
            <a:avLst>
              <a:gd name="adj" fmla="val 12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cc3"/>
          <p:cNvSpPr/>
          <p:nvPr/>
        </p:nvSpPr>
        <p:spPr>
          <a:xfrm>
            <a:off x="8928000" y="2340000"/>
            <a:ext cx="2700000" cy="144000"/>
          </a:xfrm>
          <a:prstGeom prst="roundRect">
            <a:avLst>
              <a:gd name="adj" fmla="val 120000"/>
            </a:avLst>
          </a:prstGeom>
          <a:solidFill>
            <a:srgbClr val="1F6FEB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Num3"/>
          <p:cNvSpPr/>
          <p:nvPr/>
        </p:nvSpPr>
        <p:spPr>
          <a:xfrm>
            <a:off x="9036000" y="2880000"/>
            <a:ext cx="2484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4800" b="1" i="0" dirty="0">
                <a:solidFill>
                  <a:srgbClr val="1F6FEB"/>
                </a:solidFill>
              </a:rPr>
              <a:t>17 MLN</a:t>
            </a:r>
          </a:p>
        </p:txBody>
      </p:sp>
      <p:sp>
        <p:nvSpPr>
          <p:cNvPr id="29" name="Lbl3"/>
          <p:cNvSpPr/>
          <p:nvPr/>
        </p:nvSpPr>
        <p:spPr>
          <a:xfrm>
            <a:off x="9036000" y="4140000"/>
            <a:ext cx="2484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1600" b="0" i="0" dirty="0">
                <a:solidFill>
                  <a:srgbClr val="C9D1D9"/>
                </a:solidFill>
              </a:rPr>
              <a:t>Halok bo'ldi</a:t>
            </a:r>
          </a:p>
        </p:txBody>
      </p:sp>
      <p:sp>
        <p:nvSpPr>
          <p:cNvPr id="30" name="SNum"/>
          <p:cNvSpPr/>
          <p:nvPr/>
        </p:nvSpPr>
        <p:spPr>
          <a:xfrm>
            <a:off x="288000" y="594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itle"/>
          <p:cNvSpPr/>
          <p:nvPr/>
        </p:nvSpPr>
        <p:spPr>
          <a:xfrm>
            <a:off x="288000" y="216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3600" b="1" i="0" dirty="0">
                <a:solidFill>
                  <a:srgbClr val="FFFFFF"/>
                </a:solidFill>
              </a:rPr>
              <a:t>Urushning Sabablari</a:t>
            </a:r>
          </a:p>
        </p:txBody>
      </p:sp>
      <p:sp>
        <p:nvSpPr>
          <p:cNvPr id="12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"/>
          <p:cNvSpPr/>
          <p:nvPr/>
        </p:nvSpPr>
        <p:spPr>
          <a:xfrm>
            <a:off x="288000" y="1260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LBar"/>
          <p:cNvSpPr/>
          <p:nvPr/>
        </p:nvSpPr>
        <p:spPr>
          <a:xfrm>
            <a:off x="288000" y="1260000"/>
            <a:ext cx="90000" cy="7560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H"/>
          <p:cNvSpPr/>
          <p:nvPr/>
        </p:nvSpPr>
        <p:spPr>
          <a:xfrm>
            <a:off x="503999" y="1296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DA3633"/>
                </a:solidFill>
              </a:rPr>
              <a:t>Sarajevo suiqasdi</a:t>
            </a:r>
          </a:p>
        </p:txBody>
      </p:sp>
      <p:sp>
        <p:nvSpPr>
          <p:cNvPr id="16" name="B"/>
          <p:cNvSpPr/>
          <p:nvPr/>
        </p:nvSpPr>
        <p:spPr>
          <a:xfrm>
            <a:off x="503999" y="1584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1914-yil 28-iyun — Artsxersog Frans Ferdinand o'ldirildi</a:t>
            </a:r>
          </a:p>
        </p:txBody>
      </p:sp>
      <p:sp>
        <p:nvSpPr>
          <p:cNvPr id="17" name="Card"/>
          <p:cNvSpPr/>
          <p:nvPr/>
        </p:nvSpPr>
        <p:spPr>
          <a:xfrm>
            <a:off x="288000" y="2124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LBar"/>
          <p:cNvSpPr/>
          <p:nvPr/>
        </p:nvSpPr>
        <p:spPr>
          <a:xfrm>
            <a:off x="288000" y="2124000"/>
            <a:ext cx="90000" cy="7560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H"/>
          <p:cNvSpPr/>
          <p:nvPr/>
        </p:nvSpPr>
        <p:spPr>
          <a:xfrm>
            <a:off x="503999" y="2160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DA3633"/>
                </a:solidFill>
              </a:rPr>
              <a:t>Ittifoqlar tizimi</a:t>
            </a:r>
          </a:p>
        </p:txBody>
      </p:sp>
      <p:sp>
        <p:nvSpPr>
          <p:cNvPr id="20" name="B"/>
          <p:cNvSpPr/>
          <p:nvPr/>
        </p:nvSpPr>
        <p:spPr>
          <a:xfrm>
            <a:off x="503999" y="2448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Uchlar ittifoqi va Antanta o'rtasidagi harbiy ittifоqlar</a:t>
            </a:r>
          </a:p>
        </p:txBody>
      </p:sp>
      <p:sp>
        <p:nvSpPr>
          <p:cNvPr id="21" name="Card"/>
          <p:cNvSpPr/>
          <p:nvPr/>
        </p:nvSpPr>
        <p:spPr>
          <a:xfrm>
            <a:off x="288000" y="2988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LBar"/>
          <p:cNvSpPr/>
          <p:nvPr/>
        </p:nvSpPr>
        <p:spPr>
          <a:xfrm>
            <a:off x="288000" y="2988000"/>
            <a:ext cx="90000" cy="7560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H"/>
          <p:cNvSpPr/>
          <p:nvPr/>
        </p:nvSpPr>
        <p:spPr>
          <a:xfrm>
            <a:off x="503999" y="3024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DA3633"/>
                </a:solidFill>
              </a:rPr>
              <a:t>Imperializm</a:t>
            </a:r>
          </a:p>
        </p:txBody>
      </p:sp>
      <p:sp>
        <p:nvSpPr>
          <p:cNvPr id="24" name="B"/>
          <p:cNvSpPr/>
          <p:nvPr/>
        </p:nvSpPr>
        <p:spPr>
          <a:xfrm>
            <a:off x="503999" y="3312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Mustamlakalar va bozorlar uchun davlatlar o'rtasidagi raqobat</a:t>
            </a:r>
          </a:p>
        </p:txBody>
      </p:sp>
      <p:sp>
        <p:nvSpPr>
          <p:cNvPr id="25" name="Card"/>
          <p:cNvSpPr/>
          <p:nvPr/>
        </p:nvSpPr>
        <p:spPr>
          <a:xfrm>
            <a:off x="288000" y="3852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LBar"/>
          <p:cNvSpPr/>
          <p:nvPr/>
        </p:nvSpPr>
        <p:spPr>
          <a:xfrm>
            <a:off x="288000" y="3852000"/>
            <a:ext cx="90000" cy="7560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H"/>
          <p:cNvSpPr/>
          <p:nvPr/>
        </p:nvSpPr>
        <p:spPr>
          <a:xfrm>
            <a:off x="503999" y="3888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DA3633"/>
                </a:solidFill>
              </a:rPr>
              <a:t>Militarizm</a:t>
            </a:r>
          </a:p>
        </p:txBody>
      </p:sp>
      <p:sp>
        <p:nvSpPr>
          <p:cNvPr id="28" name="B"/>
          <p:cNvSpPr/>
          <p:nvPr/>
        </p:nvSpPr>
        <p:spPr>
          <a:xfrm>
            <a:off x="503999" y="4176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Yirik davlatlarning qurollanish poygasi</a:t>
            </a:r>
          </a:p>
        </p:txBody>
      </p:sp>
      <p:sp>
        <p:nvSpPr>
          <p:cNvPr id="29" name="Card"/>
          <p:cNvSpPr/>
          <p:nvPr/>
        </p:nvSpPr>
        <p:spPr>
          <a:xfrm>
            <a:off x="288000" y="4716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LBar"/>
          <p:cNvSpPr/>
          <p:nvPr/>
        </p:nvSpPr>
        <p:spPr>
          <a:xfrm>
            <a:off x="288000" y="4716000"/>
            <a:ext cx="90000" cy="7560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H"/>
          <p:cNvSpPr/>
          <p:nvPr/>
        </p:nvSpPr>
        <p:spPr>
          <a:xfrm>
            <a:off x="503999" y="4752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DA3633"/>
                </a:solidFill>
              </a:rPr>
              <a:t>Milliy harakatlar</a:t>
            </a:r>
          </a:p>
        </p:txBody>
      </p:sp>
      <p:sp>
        <p:nvSpPr>
          <p:cNvPr id="32" name="B"/>
          <p:cNvSpPr/>
          <p:nvPr/>
        </p:nvSpPr>
        <p:spPr>
          <a:xfrm>
            <a:off x="503999" y="5040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Bolqon yarim orolidagi mustaqillik talablari</a:t>
            </a:r>
          </a:p>
        </p:txBody>
      </p:sp>
      <p:sp>
        <p:nvSpPr>
          <p:cNvPr id="33" name="SNum"/>
          <p:cNvSpPr/>
          <p:nvPr/>
        </p:nvSpPr>
        <p:spPr>
          <a:xfrm>
            <a:off x="288000" y="594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itle"/>
          <p:cNvSpPr/>
          <p:nvPr/>
        </p:nvSpPr>
        <p:spPr>
          <a:xfrm>
            <a:off x="288000" y="216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3600" b="1" i="0" dirty="0">
                <a:solidFill>
                  <a:srgbClr val="FFFFFF"/>
                </a:solidFill>
              </a:rPr>
              <a:t>Ishtirokchi Davlatlar</a:t>
            </a:r>
          </a:p>
        </p:txBody>
      </p:sp>
      <p:sp>
        <p:nvSpPr>
          <p:cNvPr id="12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ol0"/>
          <p:cNvSpPr/>
          <p:nvPr/>
        </p:nvSpPr>
        <p:spPr>
          <a:xfrm>
            <a:off x="288000" y="1260000"/>
            <a:ext cx="5580000" cy="4860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olAcc0"/>
          <p:cNvSpPr/>
          <p:nvPr/>
        </p:nvSpPr>
        <p:spPr>
          <a:xfrm>
            <a:off x="288000" y="1260000"/>
            <a:ext cx="5580000" cy="144000"/>
          </a:xfrm>
          <a:prstGeom prst="roundRect">
            <a:avLst>
              <a:gd name="adj" fmla="val 80000"/>
            </a:avLst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CT0"/>
          <p:cNvSpPr/>
          <p:nvPr/>
        </p:nvSpPr>
        <p:spPr>
          <a:xfrm>
            <a:off x="432000" y="1512000"/>
            <a:ext cx="52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200" b="1" i="0" dirty="0">
                <a:solidFill>
                  <a:srgbClr val="238636"/>
                </a:solidFill>
              </a:rPr>
              <a:t>🟡  ANTANTA BLOKI</a:t>
            </a:r>
          </a:p>
        </p:txBody>
      </p:sp>
      <p:sp>
        <p:nvSpPr>
          <p:cNvPr id="16" name="Dot00"/>
          <p:cNvSpPr/>
          <p:nvPr/>
        </p:nvSpPr>
        <p:spPr>
          <a:xfrm>
            <a:off x="504000" y="2412000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I00"/>
          <p:cNvSpPr/>
          <p:nvPr/>
        </p:nvSpPr>
        <p:spPr>
          <a:xfrm>
            <a:off x="684000" y="2160000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Rossiya imperiyasi</a:t>
            </a:r>
          </a:p>
        </p:txBody>
      </p:sp>
      <p:sp>
        <p:nvSpPr>
          <p:cNvPr id="18" name="Dot01"/>
          <p:cNvSpPr/>
          <p:nvPr/>
        </p:nvSpPr>
        <p:spPr>
          <a:xfrm>
            <a:off x="504000" y="2915999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I01"/>
          <p:cNvSpPr/>
          <p:nvPr/>
        </p:nvSpPr>
        <p:spPr>
          <a:xfrm>
            <a:off x="684000" y="2663999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Fransiya</a:t>
            </a:r>
          </a:p>
        </p:txBody>
      </p:sp>
      <p:sp>
        <p:nvSpPr>
          <p:cNvPr id="20" name="Dot02"/>
          <p:cNvSpPr/>
          <p:nvPr/>
        </p:nvSpPr>
        <p:spPr>
          <a:xfrm>
            <a:off x="504000" y="3419998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I02"/>
          <p:cNvSpPr/>
          <p:nvPr/>
        </p:nvSpPr>
        <p:spPr>
          <a:xfrm>
            <a:off x="684000" y="3167998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Buyuk Britaniya</a:t>
            </a:r>
          </a:p>
        </p:txBody>
      </p:sp>
      <p:sp>
        <p:nvSpPr>
          <p:cNvPr id="22" name="Dot03"/>
          <p:cNvSpPr/>
          <p:nvPr/>
        </p:nvSpPr>
        <p:spPr>
          <a:xfrm>
            <a:off x="504000" y="3923997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I03"/>
          <p:cNvSpPr/>
          <p:nvPr/>
        </p:nvSpPr>
        <p:spPr>
          <a:xfrm>
            <a:off x="684000" y="3671997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Italiya (1915 dan)</a:t>
            </a:r>
          </a:p>
        </p:txBody>
      </p:sp>
      <p:sp>
        <p:nvSpPr>
          <p:cNvPr id="24" name="Dot04"/>
          <p:cNvSpPr/>
          <p:nvPr/>
        </p:nvSpPr>
        <p:spPr>
          <a:xfrm>
            <a:off x="504000" y="4427996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I04"/>
          <p:cNvSpPr/>
          <p:nvPr/>
        </p:nvSpPr>
        <p:spPr>
          <a:xfrm>
            <a:off x="684000" y="4175996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AQSh (1917 dan)</a:t>
            </a:r>
          </a:p>
        </p:txBody>
      </p:sp>
      <p:sp>
        <p:nvSpPr>
          <p:cNvPr id="26" name="Dot05"/>
          <p:cNvSpPr/>
          <p:nvPr/>
        </p:nvSpPr>
        <p:spPr>
          <a:xfrm>
            <a:off x="504000" y="4931995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I05"/>
          <p:cNvSpPr/>
          <p:nvPr/>
        </p:nvSpPr>
        <p:spPr>
          <a:xfrm>
            <a:off x="684000" y="4679995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Belgiya, Serbiya</a:t>
            </a:r>
          </a:p>
        </p:txBody>
      </p:sp>
      <p:sp>
        <p:nvSpPr>
          <p:cNvPr id="28" name="Col1"/>
          <p:cNvSpPr/>
          <p:nvPr/>
        </p:nvSpPr>
        <p:spPr>
          <a:xfrm>
            <a:off x="6120000" y="1260000"/>
            <a:ext cx="5580000" cy="4860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ColAcc1"/>
          <p:cNvSpPr/>
          <p:nvPr/>
        </p:nvSpPr>
        <p:spPr>
          <a:xfrm>
            <a:off x="6120000" y="1260000"/>
            <a:ext cx="5580000" cy="144000"/>
          </a:xfrm>
          <a:prstGeom prst="roundRect">
            <a:avLst>
              <a:gd name="adj" fmla="val 80000"/>
            </a:avLst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CT1"/>
          <p:cNvSpPr/>
          <p:nvPr/>
        </p:nvSpPr>
        <p:spPr>
          <a:xfrm>
            <a:off x="6264000" y="1512000"/>
            <a:ext cx="52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200" b="1" i="0" dirty="0">
                <a:solidFill>
                  <a:srgbClr val="238636"/>
                </a:solidFill>
              </a:rPr>
              <a:t>⚫  MARKAZIY DAVLATLAR</a:t>
            </a:r>
          </a:p>
        </p:txBody>
      </p:sp>
      <p:sp>
        <p:nvSpPr>
          <p:cNvPr id="31" name="Dot10"/>
          <p:cNvSpPr/>
          <p:nvPr/>
        </p:nvSpPr>
        <p:spPr>
          <a:xfrm>
            <a:off x="6336000" y="2412000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I10"/>
          <p:cNvSpPr/>
          <p:nvPr/>
        </p:nvSpPr>
        <p:spPr>
          <a:xfrm>
            <a:off x="6516000" y="2160000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Germaniya imperiyasi</a:t>
            </a:r>
          </a:p>
        </p:txBody>
      </p:sp>
      <p:sp>
        <p:nvSpPr>
          <p:cNvPr id="33" name="Dot11"/>
          <p:cNvSpPr/>
          <p:nvPr/>
        </p:nvSpPr>
        <p:spPr>
          <a:xfrm>
            <a:off x="6336000" y="2915999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I11"/>
          <p:cNvSpPr/>
          <p:nvPr/>
        </p:nvSpPr>
        <p:spPr>
          <a:xfrm>
            <a:off x="6516000" y="2663999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Avstro-Vengriya</a:t>
            </a:r>
          </a:p>
        </p:txBody>
      </p:sp>
      <p:sp>
        <p:nvSpPr>
          <p:cNvPr id="35" name="Dot12"/>
          <p:cNvSpPr/>
          <p:nvPr/>
        </p:nvSpPr>
        <p:spPr>
          <a:xfrm>
            <a:off x="6336000" y="3419998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I12"/>
          <p:cNvSpPr/>
          <p:nvPr/>
        </p:nvSpPr>
        <p:spPr>
          <a:xfrm>
            <a:off x="6516000" y="3167998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Usmonli imperiyasi</a:t>
            </a:r>
          </a:p>
        </p:txBody>
      </p:sp>
      <p:sp>
        <p:nvSpPr>
          <p:cNvPr id="37" name="Dot13"/>
          <p:cNvSpPr/>
          <p:nvPr/>
        </p:nvSpPr>
        <p:spPr>
          <a:xfrm>
            <a:off x="6336000" y="3923997"/>
            <a:ext cx="72000" cy="720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I13"/>
          <p:cNvSpPr/>
          <p:nvPr/>
        </p:nvSpPr>
        <p:spPr>
          <a:xfrm>
            <a:off x="6516000" y="3671997"/>
            <a:ext cx="4860000" cy="468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Bolgariya (1915 dan)</a:t>
            </a:r>
          </a:p>
        </p:txBody>
      </p:sp>
      <p:sp>
        <p:nvSpPr>
          <p:cNvPr id="39" name="SNum"/>
          <p:cNvSpPr/>
          <p:nvPr/>
        </p:nvSpPr>
        <p:spPr>
          <a:xfrm>
            <a:off x="288000" y="594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itle"/>
          <p:cNvSpPr/>
          <p:nvPr/>
        </p:nvSpPr>
        <p:spPr>
          <a:xfrm>
            <a:off x="288000" y="216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3600" b="1" i="0" dirty="0">
                <a:solidFill>
                  <a:srgbClr val="FFFFFF"/>
                </a:solidFill>
              </a:rPr>
              <a:t>Asosiy Voqealar</a:t>
            </a:r>
          </a:p>
        </p:txBody>
      </p:sp>
      <p:sp>
        <p:nvSpPr>
          <p:cNvPr id="12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pine"/>
          <p:cNvSpPr/>
          <p:nvPr/>
        </p:nvSpPr>
        <p:spPr>
          <a:xfrm>
            <a:off x="2088000" y="1260000"/>
            <a:ext cx="43200" cy="5040000"/>
          </a:xfrm>
          <a:prstGeom prst="rect">
            <a:avLst/>
          </a:prstGeom>
          <a:solidFill>
            <a:srgbClr val="8B949E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Dot0"/>
          <p:cNvSpPr/>
          <p:nvPr/>
        </p:nvSpPr>
        <p:spPr>
          <a:xfrm>
            <a:off x="1965600" y="1447200"/>
            <a:ext cx="288000" cy="288000"/>
          </a:xfrm>
          <a:prstGeom prst="roundRect">
            <a:avLst>
              <a:gd name="adj" fmla="val 400000"/>
            </a:avLst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YrB0"/>
          <p:cNvSpPr/>
          <p:nvPr/>
        </p:nvSpPr>
        <p:spPr>
          <a:xfrm>
            <a:off x="180000" y="1332000"/>
            <a:ext cx="1655999" cy="503999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Yr0"/>
          <p:cNvSpPr/>
          <p:nvPr/>
        </p:nvSpPr>
        <p:spPr>
          <a:xfrm>
            <a:off x="180000" y="1332000"/>
            <a:ext cx="1655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2400" b="1" i="0" dirty="0">
                <a:solidFill>
                  <a:srgbClr val="9C27B0"/>
                </a:solidFill>
              </a:rPr>
              <a:t>1914</a:t>
            </a:r>
          </a:p>
        </p:txBody>
      </p:sp>
      <p:sp>
        <p:nvSpPr>
          <p:cNvPr id="17" name="H0"/>
          <p:cNvSpPr/>
          <p:nvPr/>
        </p:nvSpPr>
        <p:spPr>
          <a:xfrm>
            <a:off x="2520000" y="1296000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FFFFFF"/>
                </a:solidFill>
              </a:rPr>
              <a:t>Urush boshlandi</a:t>
            </a:r>
          </a:p>
        </p:txBody>
      </p:sp>
      <p:sp>
        <p:nvSpPr>
          <p:cNvPr id="18" name="B0"/>
          <p:cNvSpPr/>
          <p:nvPr/>
        </p:nvSpPr>
        <p:spPr>
          <a:xfrm>
            <a:off x="2520000" y="1656000"/>
            <a:ext cx="90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Sarajevo suiqasdi — G'arbiy va Sharqiy frontlar ochildi</a:t>
            </a:r>
          </a:p>
        </p:txBody>
      </p:sp>
      <p:sp>
        <p:nvSpPr>
          <p:cNvPr id="19" name="Dot1"/>
          <p:cNvSpPr/>
          <p:nvPr/>
        </p:nvSpPr>
        <p:spPr>
          <a:xfrm>
            <a:off x="1965600" y="2419200"/>
            <a:ext cx="288000" cy="288000"/>
          </a:xfrm>
          <a:prstGeom prst="roundRect">
            <a:avLst>
              <a:gd name="adj" fmla="val 400000"/>
            </a:avLst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YrB1"/>
          <p:cNvSpPr/>
          <p:nvPr/>
        </p:nvSpPr>
        <p:spPr>
          <a:xfrm>
            <a:off x="180000" y="2304000"/>
            <a:ext cx="1655999" cy="503999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Yr1"/>
          <p:cNvSpPr/>
          <p:nvPr/>
        </p:nvSpPr>
        <p:spPr>
          <a:xfrm>
            <a:off x="180000" y="2304000"/>
            <a:ext cx="1655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2400" b="1" i="0" dirty="0">
                <a:solidFill>
                  <a:srgbClr val="9C27B0"/>
                </a:solidFill>
              </a:rPr>
              <a:t>1915</a:t>
            </a:r>
          </a:p>
        </p:txBody>
      </p:sp>
      <p:sp>
        <p:nvSpPr>
          <p:cNvPr id="22" name="H1"/>
          <p:cNvSpPr/>
          <p:nvPr/>
        </p:nvSpPr>
        <p:spPr>
          <a:xfrm>
            <a:off x="2520000" y="2268000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FFFFFF"/>
                </a:solidFill>
              </a:rPr>
              <a:t>Gallipoli jangi</a:t>
            </a:r>
          </a:p>
        </p:txBody>
      </p:sp>
      <p:sp>
        <p:nvSpPr>
          <p:cNvPr id="23" name="B1"/>
          <p:cNvSpPr/>
          <p:nvPr/>
        </p:nvSpPr>
        <p:spPr>
          <a:xfrm>
            <a:off x="2520000" y="2628000"/>
            <a:ext cx="90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Antanta Usmonli imperiyasiga hujum qildi, muvaffaqiyatsiz</a:t>
            </a:r>
          </a:p>
        </p:txBody>
      </p:sp>
      <p:sp>
        <p:nvSpPr>
          <p:cNvPr id="24" name="Dot2"/>
          <p:cNvSpPr/>
          <p:nvPr/>
        </p:nvSpPr>
        <p:spPr>
          <a:xfrm>
            <a:off x="1965600" y="3391200"/>
            <a:ext cx="288000" cy="288000"/>
          </a:xfrm>
          <a:prstGeom prst="roundRect">
            <a:avLst>
              <a:gd name="adj" fmla="val 400000"/>
            </a:avLst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YrB2"/>
          <p:cNvSpPr/>
          <p:nvPr/>
        </p:nvSpPr>
        <p:spPr>
          <a:xfrm>
            <a:off x="180000" y="3276000"/>
            <a:ext cx="1655999" cy="503999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Yr2"/>
          <p:cNvSpPr/>
          <p:nvPr/>
        </p:nvSpPr>
        <p:spPr>
          <a:xfrm>
            <a:off x="180000" y="3276000"/>
            <a:ext cx="1655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2400" b="1" i="0" dirty="0">
                <a:solidFill>
                  <a:srgbClr val="9C27B0"/>
                </a:solidFill>
              </a:rPr>
              <a:t>1916</a:t>
            </a:r>
          </a:p>
        </p:txBody>
      </p:sp>
      <p:sp>
        <p:nvSpPr>
          <p:cNvPr id="27" name="H2"/>
          <p:cNvSpPr/>
          <p:nvPr/>
        </p:nvSpPr>
        <p:spPr>
          <a:xfrm>
            <a:off x="2520000" y="3240000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FFFFFF"/>
                </a:solidFill>
              </a:rPr>
              <a:t>Verdan jangi</a:t>
            </a:r>
          </a:p>
        </p:txBody>
      </p:sp>
      <p:sp>
        <p:nvSpPr>
          <p:cNvPr id="28" name="B2"/>
          <p:cNvSpPr/>
          <p:nvPr/>
        </p:nvSpPr>
        <p:spPr>
          <a:xfrm>
            <a:off x="2520000" y="3600000"/>
            <a:ext cx="90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700 000+ askar halok bo'ldi — urushning eng qonli jangi</a:t>
            </a:r>
          </a:p>
        </p:txBody>
      </p:sp>
      <p:sp>
        <p:nvSpPr>
          <p:cNvPr id="29" name="Dot3"/>
          <p:cNvSpPr/>
          <p:nvPr/>
        </p:nvSpPr>
        <p:spPr>
          <a:xfrm>
            <a:off x="1965600" y="4363200"/>
            <a:ext cx="288000" cy="288000"/>
          </a:xfrm>
          <a:prstGeom prst="roundRect">
            <a:avLst>
              <a:gd name="adj" fmla="val 400000"/>
            </a:avLst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YrB3"/>
          <p:cNvSpPr/>
          <p:nvPr/>
        </p:nvSpPr>
        <p:spPr>
          <a:xfrm>
            <a:off x="180000" y="4248000"/>
            <a:ext cx="1655999" cy="503999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Yr3"/>
          <p:cNvSpPr/>
          <p:nvPr/>
        </p:nvSpPr>
        <p:spPr>
          <a:xfrm>
            <a:off x="180000" y="4248000"/>
            <a:ext cx="1655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2400" b="1" i="0" dirty="0">
                <a:solidFill>
                  <a:srgbClr val="9C27B0"/>
                </a:solidFill>
              </a:rPr>
              <a:t>1917</a:t>
            </a:r>
          </a:p>
        </p:txBody>
      </p:sp>
      <p:sp>
        <p:nvSpPr>
          <p:cNvPr id="32" name="H3"/>
          <p:cNvSpPr/>
          <p:nvPr/>
        </p:nvSpPr>
        <p:spPr>
          <a:xfrm>
            <a:off x="2520000" y="4212000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FFFFFF"/>
                </a:solidFill>
              </a:rPr>
              <a:t>AQSh kirdi</a:t>
            </a:r>
          </a:p>
        </p:txBody>
      </p:sp>
      <p:sp>
        <p:nvSpPr>
          <p:cNvPr id="33" name="B3"/>
          <p:cNvSpPr/>
          <p:nvPr/>
        </p:nvSpPr>
        <p:spPr>
          <a:xfrm>
            <a:off x="2520000" y="4572000"/>
            <a:ext cx="90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Rossiyada inqilob; AQSh Antanta tomonida urushga qo'shildi</a:t>
            </a:r>
          </a:p>
        </p:txBody>
      </p:sp>
      <p:sp>
        <p:nvSpPr>
          <p:cNvPr id="34" name="Dot4"/>
          <p:cNvSpPr/>
          <p:nvPr/>
        </p:nvSpPr>
        <p:spPr>
          <a:xfrm>
            <a:off x="1965600" y="5335200"/>
            <a:ext cx="288000" cy="288000"/>
          </a:xfrm>
          <a:prstGeom prst="roundRect">
            <a:avLst>
              <a:gd name="adj" fmla="val 400000"/>
            </a:avLst>
          </a:prstGeom>
          <a:solidFill>
            <a:srgbClr val="9C27B0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YrB4"/>
          <p:cNvSpPr/>
          <p:nvPr/>
        </p:nvSpPr>
        <p:spPr>
          <a:xfrm>
            <a:off x="180000" y="5220000"/>
            <a:ext cx="1655999" cy="503999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Yr4"/>
          <p:cNvSpPr/>
          <p:nvPr/>
        </p:nvSpPr>
        <p:spPr>
          <a:xfrm>
            <a:off x="180000" y="5220000"/>
            <a:ext cx="1655999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ctr"/>
            <a:r>
              <a:rPr lang="uz-UZ" sz="2400" b="1" i="0" dirty="0">
                <a:solidFill>
                  <a:srgbClr val="9C27B0"/>
                </a:solidFill>
              </a:rPr>
              <a:t>1918</a:t>
            </a:r>
          </a:p>
        </p:txBody>
      </p:sp>
      <p:sp>
        <p:nvSpPr>
          <p:cNvPr id="37" name="H4"/>
          <p:cNvSpPr/>
          <p:nvPr/>
        </p:nvSpPr>
        <p:spPr>
          <a:xfrm>
            <a:off x="2520000" y="5184000"/>
            <a:ext cx="36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FFFFFF"/>
                </a:solidFill>
              </a:rPr>
              <a:t>Urush tugadi</a:t>
            </a:r>
          </a:p>
        </p:txBody>
      </p:sp>
      <p:sp>
        <p:nvSpPr>
          <p:cNvPr id="38" name="B4"/>
          <p:cNvSpPr/>
          <p:nvPr/>
        </p:nvSpPr>
        <p:spPr>
          <a:xfrm>
            <a:off x="2520000" y="5544000"/>
            <a:ext cx="90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11-noyabr — Germaniya taslim bo'ldi, ateşkes imzolandi</a:t>
            </a:r>
          </a:p>
        </p:txBody>
      </p:sp>
      <p:sp>
        <p:nvSpPr>
          <p:cNvPr id="39" name="SNum"/>
          <p:cNvSpPr/>
          <p:nvPr/>
        </p:nvSpPr>
        <p:spPr>
          <a:xfrm>
            <a:off x="288000" y="630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itle"/>
          <p:cNvSpPr/>
          <p:nvPr/>
        </p:nvSpPr>
        <p:spPr>
          <a:xfrm>
            <a:off x="288000" y="216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3600" b="1" i="0" dirty="0">
                <a:solidFill>
                  <a:srgbClr val="FFFFFF"/>
                </a:solidFill>
              </a:rPr>
              <a:t>Yangi Harbiy Texnologiyalar</a:t>
            </a:r>
          </a:p>
        </p:txBody>
      </p:sp>
      <p:sp>
        <p:nvSpPr>
          <p:cNvPr id="12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0"/>
          <p:cNvSpPr/>
          <p:nvPr/>
        </p:nvSpPr>
        <p:spPr>
          <a:xfrm>
            <a:off x="288000" y="1260000"/>
            <a:ext cx="3671999" cy="2268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CAcc0"/>
          <p:cNvSpPr/>
          <p:nvPr/>
        </p:nvSpPr>
        <p:spPr>
          <a:xfrm>
            <a:off x="288000" y="1260000"/>
            <a:ext cx="3671999" cy="108000"/>
          </a:xfrm>
          <a:prstGeom prst="roundRect">
            <a:avLst>
              <a:gd name="adj" fmla="val 80000"/>
            </a:avLst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Ic0"/>
          <p:cNvSpPr/>
          <p:nvPr/>
        </p:nvSpPr>
        <p:spPr>
          <a:xfrm>
            <a:off x="396000" y="1440000"/>
            <a:ext cx="7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800" b="0" i="0" dirty="0">
                <a:solidFill>
                  <a:srgbClr val="FFFFFF"/>
                </a:solidFill>
              </a:rPr>
              <a:t>💀</a:t>
            </a:r>
          </a:p>
        </p:txBody>
      </p:sp>
      <p:sp>
        <p:nvSpPr>
          <p:cNvPr id="16" name="CH0"/>
          <p:cNvSpPr/>
          <p:nvPr/>
        </p:nvSpPr>
        <p:spPr>
          <a:xfrm>
            <a:off x="396000" y="1908000"/>
            <a:ext cx="34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00BCD4"/>
                </a:solidFill>
              </a:rPr>
              <a:t>Zaharli Gaz</a:t>
            </a:r>
          </a:p>
        </p:txBody>
      </p:sp>
      <p:sp>
        <p:nvSpPr>
          <p:cNvPr id="17" name="CB0"/>
          <p:cNvSpPr/>
          <p:nvPr/>
        </p:nvSpPr>
        <p:spPr>
          <a:xfrm>
            <a:off x="396000" y="2340000"/>
            <a:ext cx="342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C9D1D9"/>
                </a:solidFill>
              </a:rPr>
              <a:t>Xlorli va xardal gazi birinchi marta 1915-yilda qo'llanildi</a:t>
            </a:r>
          </a:p>
        </p:txBody>
      </p:sp>
      <p:sp>
        <p:nvSpPr>
          <p:cNvPr id="18" name="Card1"/>
          <p:cNvSpPr/>
          <p:nvPr/>
        </p:nvSpPr>
        <p:spPr>
          <a:xfrm>
            <a:off x="4140000" y="1260000"/>
            <a:ext cx="3671999" cy="2268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CAcc1"/>
          <p:cNvSpPr/>
          <p:nvPr/>
        </p:nvSpPr>
        <p:spPr>
          <a:xfrm>
            <a:off x="4140000" y="1260000"/>
            <a:ext cx="3671999" cy="108000"/>
          </a:xfrm>
          <a:prstGeom prst="roundRect">
            <a:avLst>
              <a:gd name="adj" fmla="val 80000"/>
            </a:avLst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Ic1"/>
          <p:cNvSpPr/>
          <p:nvPr/>
        </p:nvSpPr>
        <p:spPr>
          <a:xfrm>
            <a:off x="4248000" y="1440000"/>
            <a:ext cx="7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800" b="0" i="0" dirty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1" name="CH1"/>
          <p:cNvSpPr/>
          <p:nvPr/>
        </p:nvSpPr>
        <p:spPr>
          <a:xfrm>
            <a:off x="4248000" y="1908000"/>
            <a:ext cx="34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00BCD4"/>
                </a:solidFill>
              </a:rPr>
              <a:t>Tanklar</a:t>
            </a:r>
          </a:p>
        </p:txBody>
      </p:sp>
      <p:sp>
        <p:nvSpPr>
          <p:cNvPr id="22" name="CB1"/>
          <p:cNvSpPr/>
          <p:nvPr/>
        </p:nvSpPr>
        <p:spPr>
          <a:xfrm>
            <a:off x="4248000" y="2340000"/>
            <a:ext cx="342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C9D1D9"/>
                </a:solidFill>
              </a:rPr>
              <a:t>Britaniya 1916-yil Somma jangida tankni urushga kiritdi</a:t>
            </a:r>
          </a:p>
        </p:txBody>
      </p:sp>
      <p:sp>
        <p:nvSpPr>
          <p:cNvPr id="23" name="Card2"/>
          <p:cNvSpPr/>
          <p:nvPr/>
        </p:nvSpPr>
        <p:spPr>
          <a:xfrm>
            <a:off x="7992000" y="1260000"/>
            <a:ext cx="3671999" cy="2268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CAcc2"/>
          <p:cNvSpPr/>
          <p:nvPr/>
        </p:nvSpPr>
        <p:spPr>
          <a:xfrm>
            <a:off x="7992000" y="1260000"/>
            <a:ext cx="3671999" cy="108000"/>
          </a:xfrm>
          <a:prstGeom prst="roundRect">
            <a:avLst>
              <a:gd name="adj" fmla="val 80000"/>
            </a:avLst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Ic2"/>
          <p:cNvSpPr/>
          <p:nvPr/>
        </p:nvSpPr>
        <p:spPr>
          <a:xfrm>
            <a:off x="8100000" y="1440000"/>
            <a:ext cx="7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800" b="0" i="0" dirty="0">
                <a:solidFill>
                  <a:srgbClr val="FFFFFF"/>
                </a:solidFill>
              </a:rPr>
              <a:t>✈️</a:t>
            </a:r>
          </a:p>
        </p:txBody>
      </p:sp>
      <p:sp>
        <p:nvSpPr>
          <p:cNvPr id="26" name="CH2"/>
          <p:cNvSpPr/>
          <p:nvPr/>
        </p:nvSpPr>
        <p:spPr>
          <a:xfrm>
            <a:off x="8100000" y="1908000"/>
            <a:ext cx="34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00BCD4"/>
                </a:solidFill>
              </a:rPr>
              <a:t>Aviatsiya</a:t>
            </a:r>
          </a:p>
        </p:txBody>
      </p:sp>
      <p:sp>
        <p:nvSpPr>
          <p:cNvPr id="27" name="CB2"/>
          <p:cNvSpPr/>
          <p:nvPr/>
        </p:nvSpPr>
        <p:spPr>
          <a:xfrm>
            <a:off x="8100000" y="2340000"/>
            <a:ext cx="342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C9D1D9"/>
                </a:solidFill>
              </a:rPr>
              <a:t>Razvedka va bombalash uchun samolyotlar keng qo'llanildi</a:t>
            </a:r>
          </a:p>
        </p:txBody>
      </p:sp>
      <p:sp>
        <p:nvSpPr>
          <p:cNvPr id="28" name="Card3"/>
          <p:cNvSpPr/>
          <p:nvPr/>
        </p:nvSpPr>
        <p:spPr>
          <a:xfrm>
            <a:off x="288000" y="3780000"/>
            <a:ext cx="3671999" cy="2268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CAcc3"/>
          <p:cNvSpPr/>
          <p:nvPr/>
        </p:nvSpPr>
        <p:spPr>
          <a:xfrm>
            <a:off x="288000" y="3780000"/>
            <a:ext cx="3671999" cy="108000"/>
          </a:xfrm>
          <a:prstGeom prst="roundRect">
            <a:avLst>
              <a:gd name="adj" fmla="val 80000"/>
            </a:avLst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Ic3"/>
          <p:cNvSpPr/>
          <p:nvPr/>
        </p:nvSpPr>
        <p:spPr>
          <a:xfrm>
            <a:off x="396000" y="3960000"/>
            <a:ext cx="7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800" b="0" i="0" dirty="0">
                <a:solidFill>
                  <a:srgbClr val="FFFFFF"/>
                </a:solidFill>
              </a:rPr>
              <a:t>🚢</a:t>
            </a:r>
          </a:p>
        </p:txBody>
      </p:sp>
      <p:sp>
        <p:nvSpPr>
          <p:cNvPr id="31" name="CH3"/>
          <p:cNvSpPr/>
          <p:nvPr/>
        </p:nvSpPr>
        <p:spPr>
          <a:xfrm>
            <a:off x="396000" y="4428000"/>
            <a:ext cx="34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00BCD4"/>
                </a:solidFill>
              </a:rPr>
              <a:t>Dengiz osti</a:t>
            </a:r>
          </a:p>
        </p:txBody>
      </p:sp>
      <p:sp>
        <p:nvSpPr>
          <p:cNvPr id="32" name="CB3"/>
          <p:cNvSpPr/>
          <p:nvPr/>
        </p:nvSpPr>
        <p:spPr>
          <a:xfrm>
            <a:off x="396000" y="4860000"/>
            <a:ext cx="342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C9D1D9"/>
                </a:solidFill>
              </a:rPr>
              <a:t>Germaniya U-boat kemalari Antanta yo'llarini uzdi</a:t>
            </a:r>
          </a:p>
        </p:txBody>
      </p:sp>
      <p:sp>
        <p:nvSpPr>
          <p:cNvPr id="33" name="Card4"/>
          <p:cNvSpPr/>
          <p:nvPr/>
        </p:nvSpPr>
        <p:spPr>
          <a:xfrm>
            <a:off x="4140000" y="3780000"/>
            <a:ext cx="3671999" cy="2268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CAcc4"/>
          <p:cNvSpPr/>
          <p:nvPr/>
        </p:nvSpPr>
        <p:spPr>
          <a:xfrm>
            <a:off x="4140000" y="3780000"/>
            <a:ext cx="3671999" cy="108000"/>
          </a:xfrm>
          <a:prstGeom prst="roundRect">
            <a:avLst>
              <a:gd name="adj" fmla="val 80000"/>
            </a:avLst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Ic4"/>
          <p:cNvSpPr/>
          <p:nvPr/>
        </p:nvSpPr>
        <p:spPr>
          <a:xfrm>
            <a:off x="4248000" y="3960000"/>
            <a:ext cx="7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800" b="0" i="0" dirty="0">
                <a:solidFill>
                  <a:srgbClr val="FFFFFF"/>
                </a:solidFill>
              </a:rPr>
              <a:t>🔫</a:t>
            </a:r>
          </a:p>
        </p:txBody>
      </p:sp>
      <p:sp>
        <p:nvSpPr>
          <p:cNvPr id="36" name="CH4"/>
          <p:cNvSpPr/>
          <p:nvPr/>
        </p:nvSpPr>
        <p:spPr>
          <a:xfrm>
            <a:off x="4248000" y="4428000"/>
            <a:ext cx="34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00BCD4"/>
                </a:solidFill>
              </a:rPr>
              <a:t>Pulemyot</a:t>
            </a:r>
          </a:p>
        </p:txBody>
      </p:sp>
      <p:sp>
        <p:nvSpPr>
          <p:cNvPr id="37" name="CB4"/>
          <p:cNvSpPr/>
          <p:nvPr/>
        </p:nvSpPr>
        <p:spPr>
          <a:xfrm>
            <a:off x="4248000" y="4860000"/>
            <a:ext cx="342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C9D1D9"/>
                </a:solidFill>
              </a:rPr>
              <a:t>Xandaqlar urushini shakllantirdi, hujumni imkonsiz qildi</a:t>
            </a:r>
          </a:p>
        </p:txBody>
      </p:sp>
      <p:sp>
        <p:nvSpPr>
          <p:cNvPr id="38" name="Card5"/>
          <p:cNvSpPr/>
          <p:nvPr/>
        </p:nvSpPr>
        <p:spPr>
          <a:xfrm>
            <a:off x="7992000" y="3780000"/>
            <a:ext cx="3671999" cy="2268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CAcc5"/>
          <p:cNvSpPr/>
          <p:nvPr/>
        </p:nvSpPr>
        <p:spPr>
          <a:xfrm>
            <a:off x="7992000" y="3780000"/>
            <a:ext cx="3671999" cy="108000"/>
          </a:xfrm>
          <a:prstGeom prst="roundRect">
            <a:avLst>
              <a:gd name="adj" fmla="val 80000"/>
            </a:avLst>
          </a:prstGeom>
          <a:solidFill>
            <a:srgbClr val="00BC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Ic5"/>
          <p:cNvSpPr/>
          <p:nvPr/>
        </p:nvSpPr>
        <p:spPr>
          <a:xfrm>
            <a:off x="8100000" y="3960000"/>
            <a:ext cx="72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800" b="0" i="0" dirty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41" name="CH5"/>
          <p:cNvSpPr/>
          <p:nvPr/>
        </p:nvSpPr>
        <p:spPr>
          <a:xfrm>
            <a:off x="8100000" y="4428000"/>
            <a:ext cx="342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00BCD4"/>
                </a:solidFill>
              </a:rPr>
              <a:t>Radio aloqa</a:t>
            </a:r>
          </a:p>
        </p:txBody>
      </p:sp>
      <p:sp>
        <p:nvSpPr>
          <p:cNvPr id="42" name="CB5"/>
          <p:cNvSpPr/>
          <p:nvPr/>
        </p:nvSpPr>
        <p:spPr>
          <a:xfrm>
            <a:off x="8100000" y="4860000"/>
            <a:ext cx="3420000" cy="108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C9D1D9"/>
                </a:solidFill>
              </a:rPr>
              <a:t>Harbiy buyruqlarni uzatishda birinchi marta keng qo'llanildi</a:t>
            </a:r>
          </a:p>
        </p:txBody>
      </p:sp>
      <p:sp>
        <p:nvSpPr>
          <p:cNvPr id="43" name="SNum"/>
          <p:cNvSpPr/>
          <p:nvPr/>
        </p:nvSpPr>
        <p:spPr>
          <a:xfrm>
            <a:off x="288000" y="630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Title"/>
          <p:cNvSpPr/>
          <p:nvPr/>
        </p:nvSpPr>
        <p:spPr>
          <a:xfrm>
            <a:off x="288000" y="216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3600" b="1" i="0" dirty="0">
                <a:solidFill>
                  <a:srgbClr val="FFFFFF"/>
                </a:solidFill>
              </a:rPr>
              <a:t>Urushning Oqibatlari</a:t>
            </a:r>
          </a:p>
        </p:txBody>
      </p:sp>
      <p:sp>
        <p:nvSpPr>
          <p:cNvPr id="12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ard"/>
          <p:cNvSpPr/>
          <p:nvPr/>
        </p:nvSpPr>
        <p:spPr>
          <a:xfrm>
            <a:off x="288000" y="1260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LBar"/>
          <p:cNvSpPr/>
          <p:nvPr/>
        </p:nvSpPr>
        <p:spPr>
          <a:xfrm>
            <a:off x="288000" y="1260000"/>
            <a:ext cx="90000" cy="7560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H"/>
          <p:cNvSpPr/>
          <p:nvPr/>
        </p:nvSpPr>
        <p:spPr>
          <a:xfrm>
            <a:off x="503999" y="1296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E05C00"/>
                </a:solidFill>
              </a:rPr>
              <a:t>Versal shartnomasi</a:t>
            </a:r>
          </a:p>
        </p:txBody>
      </p:sp>
      <p:sp>
        <p:nvSpPr>
          <p:cNvPr id="16" name="B"/>
          <p:cNvSpPr/>
          <p:nvPr/>
        </p:nvSpPr>
        <p:spPr>
          <a:xfrm>
            <a:off x="503999" y="1584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1919 — Germaniyaga og'ir jazo choralari belgilandi</a:t>
            </a:r>
          </a:p>
        </p:txBody>
      </p:sp>
      <p:sp>
        <p:nvSpPr>
          <p:cNvPr id="17" name="Card"/>
          <p:cNvSpPr/>
          <p:nvPr/>
        </p:nvSpPr>
        <p:spPr>
          <a:xfrm>
            <a:off x="288000" y="2124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LBar"/>
          <p:cNvSpPr/>
          <p:nvPr/>
        </p:nvSpPr>
        <p:spPr>
          <a:xfrm>
            <a:off x="288000" y="2124000"/>
            <a:ext cx="90000" cy="7560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H"/>
          <p:cNvSpPr/>
          <p:nvPr/>
        </p:nvSpPr>
        <p:spPr>
          <a:xfrm>
            <a:off x="503999" y="2160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E05C00"/>
                </a:solidFill>
              </a:rPr>
              <a:t>Imperiyalar quladi</a:t>
            </a:r>
          </a:p>
        </p:txBody>
      </p:sp>
      <p:sp>
        <p:nvSpPr>
          <p:cNvPr id="20" name="B"/>
          <p:cNvSpPr/>
          <p:nvPr/>
        </p:nvSpPr>
        <p:spPr>
          <a:xfrm>
            <a:off x="503999" y="2448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Rossiya, Avstriya-Vengriya, Usmonli, Germaniya tarqab ketdi</a:t>
            </a:r>
          </a:p>
        </p:txBody>
      </p:sp>
      <p:sp>
        <p:nvSpPr>
          <p:cNvPr id="21" name="Card"/>
          <p:cNvSpPr/>
          <p:nvPr/>
        </p:nvSpPr>
        <p:spPr>
          <a:xfrm>
            <a:off x="288000" y="2988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LBar"/>
          <p:cNvSpPr/>
          <p:nvPr/>
        </p:nvSpPr>
        <p:spPr>
          <a:xfrm>
            <a:off x="288000" y="2988000"/>
            <a:ext cx="90000" cy="7560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H"/>
          <p:cNvSpPr/>
          <p:nvPr/>
        </p:nvSpPr>
        <p:spPr>
          <a:xfrm>
            <a:off x="503999" y="3024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E05C00"/>
                </a:solidFill>
              </a:rPr>
              <a:t>Yangi davlatlar</a:t>
            </a:r>
          </a:p>
        </p:txBody>
      </p:sp>
      <p:sp>
        <p:nvSpPr>
          <p:cNvPr id="24" name="B"/>
          <p:cNvSpPr/>
          <p:nvPr/>
        </p:nvSpPr>
        <p:spPr>
          <a:xfrm>
            <a:off x="503999" y="3312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Polsha, Chexoslovakiya, Yugoslaviya, Finlandiya mustaqil bo'ldi</a:t>
            </a:r>
          </a:p>
        </p:txBody>
      </p:sp>
      <p:sp>
        <p:nvSpPr>
          <p:cNvPr id="25" name="Card"/>
          <p:cNvSpPr/>
          <p:nvPr/>
        </p:nvSpPr>
        <p:spPr>
          <a:xfrm>
            <a:off x="288000" y="3852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LBar"/>
          <p:cNvSpPr/>
          <p:nvPr/>
        </p:nvSpPr>
        <p:spPr>
          <a:xfrm>
            <a:off x="288000" y="3852000"/>
            <a:ext cx="90000" cy="7560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H"/>
          <p:cNvSpPr/>
          <p:nvPr/>
        </p:nvSpPr>
        <p:spPr>
          <a:xfrm>
            <a:off x="503999" y="3888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E05C00"/>
                </a:solidFill>
              </a:rPr>
              <a:t>Millatlar Ligasi</a:t>
            </a:r>
          </a:p>
        </p:txBody>
      </p:sp>
      <p:sp>
        <p:nvSpPr>
          <p:cNvPr id="28" name="B"/>
          <p:cNvSpPr/>
          <p:nvPr/>
        </p:nvSpPr>
        <p:spPr>
          <a:xfrm>
            <a:off x="503999" y="4176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BMT ning salafi — xalqaro tinchlik tashkiloti tuzildi</a:t>
            </a:r>
          </a:p>
        </p:txBody>
      </p:sp>
      <p:sp>
        <p:nvSpPr>
          <p:cNvPr id="29" name="Card"/>
          <p:cNvSpPr/>
          <p:nvPr/>
        </p:nvSpPr>
        <p:spPr>
          <a:xfrm>
            <a:off x="288000" y="4716000"/>
            <a:ext cx="11340000" cy="756000"/>
          </a:xfrm>
          <a:prstGeom prst="roundRect">
            <a:avLst>
              <a:gd name="adj" fmla="val 6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LBar"/>
          <p:cNvSpPr/>
          <p:nvPr/>
        </p:nvSpPr>
        <p:spPr>
          <a:xfrm>
            <a:off x="288000" y="4716000"/>
            <a:ext cx="90000" cy="756000"/>
          </a:xfrm>
          <a:prstGeom prst="rect">
            <a:avLst/>
          </a:prstGeom>
          <a:solidFill>
            <a:srgbClr val="E05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H"/>
          <p:cNvSpPr/>
          <p:nvPr/>
        </p:nvSpPr>
        <p:spPr>
          <a:xfrm>
            <a:off x="503999" y="4752000"/>
            <a:ext cx="360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000" b="1" i="0" dirty="0">
                <a:solidFill>
                  <a:srgbClr val="E05C00"/>
                </a:solidFill>
              </a:rPr>
              <a:t>2-Jahon urushiga zamin</a:t>
            </a:r>
          </a:p>
        </p:txBody>
      </p:sp>
      <p:sp>
        <p:nvSpPr>
          <p:cNvPr id="32" name="B"/>
          <p:cNvSpPr/>
          <p:nvPr/>
        </p:nvSpPr>
        <p:spPr>
          <a:xfrm>
            <a:off x="503999" y="5040000"/>
            <a:ext cx="1062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700" b="0" i="0" dirty="0">
                <a:solidFill>
                  <a:srgbClr val="C9D1D9"/>
                </a:solidFill>
              </a:rPr>
              <a:t>Versal shartlari Gitlerizm uchun qulay sharoit yaratdi</a:t>
            </a:r>
          </a:p>
        </p:txBody>
      </p:sp>
      <p:sp>
        <p:nvSpPr>
          <p:cNvPr id="33" name="SNum"/>
          <p:cNvSpPr/>
          <p:nvPr/>
        </p:nvSpPr>
        <p:spPr>
          <a:xfrm>
            <a:off x="288000" y="594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"/>
          <p:cNvSpPr/>
          <p:nvPr/>
        </p:nvSpPr>
        <p:spPr>
          <a:xfrm>
            <a:off x="0" y="0"/>
            <a:ext cx="12193200" cy="648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BBar"/>
          <p:cNvSpPr/>
          <p:nvPr/>
        </p:nvSpPr>
        <p:spPr>
          <a:xfrm>
            <a:off x="0" y="6793200"/>
            <a:ext cx="12193200" cy="648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Deco"/>
          <p:cNvSpPr/>
          <p:nvPr/>
        </p:nvSpPr>
        <p:spPr>
          <a:xfrm>
            <a:off x="7560000" y="720000"/>
            <a:ext cx="4320000" cy="54000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Deco2"/>
          <p:cNvSpPr/>
          <p:nvPr/>
        </p:nvSpPr>
        <p:spPr>
          <a:xfrm>
            <a:off x="7560000" y="720000"/>
            <a:ext cx="180000" cy="5400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Title"/>
          <p:cNvSpPr/>
          <p:nvPr/>
        </p:nvSpPr>
        <p:spPr>
          <a:xfrm>
            <a:off x="288000" y="216000"/>
            <a:ext cx="684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4800" b="1" i="0" dirty="0">
                <a:solidFill>
                  <a:srgbClr val="FFFFFF"/>
                </a:solidFill>
              </a:rPr>
              <a:t>Xulosa</a:t>
            </a:r>
          </a:p>
        </p:txBody>
      </p:sp>
      <p:sp>
        <p:nvSpPr>
          <p:cNvPr id="14" name="Line"/>
          <p:cNvSpPr/>
          <p:nvPr/>
        </p:nvSpPr>
        <p:spPr>
          <a:xfrm>
            <a:off x="288000" y="972000"/>
            <a:ext cx="2160000" cy="288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QCard"/>
          <p:cNvSpPr/>
          <p:nvPr/>
        </p:nvSpPr>
        <p:spPr>
          <a:xfrm>
            <a:off x="288000" y="1260000"/>
            <a:ext cx="7020000" cy="1980000"/>
          </a:xfrm>
          <a:prstGeom prst="roundRect">
            <a:avLst>
              <a:gd name="adj" fmla="val 80000"/>
            </a:avLst>
          </a:prstGeom>
          <a:solidFill>
            <a:srgbClr val="161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QL"/>
          <p:cNvSpPr/>
          <p:nvPr/>
        </p:nvSpPr>
        <p:spPr>
          <a:xfrm>
            <a:off x="288000" y="1260000"/>
            <a:ext cx="108000" cy="1980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Q"/>
          <p:cNvSpPr/>
          <p:nvPr/>
        </p:nvSpPr>
        <p:spPr>
          <a:xfrm>
            <a:off x="540000" y="1332000"/>
            <a:ext cx="6660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2400" b="1" i="1" dirty="0">
                <a:solidFill>
                  <a:srgbClr val="FFFFFF"/>
                </a:solidFill>
              </a:rPr>
              <a:t>"Urush — bu insoniyatning</a:t>
            </a:r>
          </a:p>
          <a:p>
            <a:pPr algn="l"/>
            <a:r>
              <a:rPr lang="uz-UZ" sz="2400" b="1" i="1" dirty="0">
                <a:solidFill>
                  <a:srgbClr val="FFFFFF"/>
                </a:solidFill>
              </a:rPr>
              <a:t>eng katta muvaffaqiyatsizligidir."</a:t>
            </a:r>
          </a:p>
        </p:txBody>
      </p:sp>
      <p:sp>
        <p:nvSpPr>
          <p:cNvPr id="18" name="QA"/>
          <p:cNvSpPr/>
          <p:nvPr/>
        </p:nvSpPr>
        <p:spPr>
          <a:xfrm>
            <a:off x="540000" y="2808000"/>
            <a:ext cx="66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800" b="0" i="0" dirty="0">
                <a:solidFill>
                  <a:srgbClr val="F0A500"/>
                </a:solidFill>
              </a:rPr>
              <a:t>— Herbert Hoover</a:t>
            </a:r>
          </a:p>
        </p:txBody>
      </p:sp>
      <p:sp>
        <p:nvSpPr>
          <p:cNvPr id="19" name="Body"/>
          <p:cNvSpPr/>
          <p:nvPr/>
        </p:nvSpPr>
        <p:spPr>
          <a:xfrm>
            <a:off x="288000" y="3600000"/>
            <a:ext cx="7020000" cy="216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1-Jahon urushi butun bir avlodni yo'q qildi, imperiyalarni qulatdi</a:t>
            </a:r>
          </a:p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va jahon siyosiy xaritasini butunlay o'zgartirdi.</a:t>
            </a:r>
          </a:p>
          <a:p>
            <a:pPr algn="l"/>
            <a:r>
              <a:rPr lang="uz-UZ" sz="1900" b="0" i="0" dirty="0">
                <a:solidFill>
                  <a:srgbClr val="C9D1D9"/>
                </a:solidFill>
              </a:rPr>
              <a:t>Saboq: tinchlik va hamkorlik muqarrar zaruriyatdir.</a:t>
            </a:r>
          </a:p>
        </p:txBody>
      </p:sp>
      <p:sp>
        <p:nvSpPr>
          <p:cNvPr id="20" name="SNum"/>
          <p:cNvSpPr/>
          <p:nvPr/>
        </p:nvSpPr>
        <p:spPr>
          <a:xfrm>
            <a:off x="288000" y="5940000"/>
            <a:ext cx="18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50800" bIns="50800" autofit="1"/>
          <a:lstStyle/>
          <a:p>
            <a:pPr algn="l"/>
            <a:r>
              <a:rPr lang="uz-UZ" sz="1600" b="0" i="0" dirty="0">
                <a:solidFill>
                  <a:srgbClr val="8B949E"/>
                </a:solidFill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Boost">
  <a:themeElements>
    <a:clrScheme name="GBoost">
      <a:dk1>
        <a:srgbClr val="0D1117"/>
      </a:dk1>
      <a:lt1>
        <a:srgbClr val="FFFFFF"/>
      </a:lt1>
      <a:dk2>
        <a:srgbClr val="161B22"/>
      </a:dk2>
      <a:lt2>
        <a:srgbClr val="C9D1D9"/>
      </a:lt2>
      <a:accent1>
        <a:srgbClr val="F0A500"/>
      </a:accent1>
      <a:accent2>
        <a:srgbClr val="1F6FEB"/>
      </a:accent2>
      <a:accent3>
        <a:srgbClr val="DA3633"/>
      </a:accent3>
      <a:accent4>
        <a:srgbClr val="238636"/>
      </a:accent4>
      <a:accent5>
        <a:srgbClr val="9C27B0"/>
      </a:accent5>
      <a:accent6>
        <a:srgbClr val="00BCD4"/>
      </a:accent6>
      <a:hlink>
        <a:srgbClr val="1F6FEB"/>
      </a:hlink>
      <a:folHlink>
        <a:srgbClr val="8B949E"/>
      </a:folHlink>
    </a:clrScheme>
    <a:fontScheme name="GBoost">
      <a:majorFont>
        <a:latin typeface="Segoe UI" panose="020B0604020202020204"/>
        <a:ea typeface=""/>
        <a:cs typeface=""/>
      </a:majorFont>
      <a:minorFont>
        <a:latin typeface="Segoe UI" panose="020B0604020202020204"/>
        <a:ea typeface=""/>
        <a:cs typeface=""/>
      </a:minorFont>
    </a:fontScheme>
    <a:fmtScheme name="GBoos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