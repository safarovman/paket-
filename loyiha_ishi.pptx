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slideMasters/slideMaster1.xml"/>
  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  <Relationship Id="rId2"
    Type="http://schemas.openxmlformats.org/officeDocument/2006/relationships/theme"
   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uz-UZ" sz="3200" b="1"/>
      </a:lvl1pPr>
    </p:titleStyle>
    <p:bodyStyle>
      <a:lvl1pPr>
        <a:defRPr lang="uz-UZ" sz="1800"/>
      </a:lvl1pPr>
    </p:bodyStyle>
    <p:otherStyle>
      <a:defPPr>
        <a:defRPr lang="uz-UZ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2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0" y="0"/>
            <a:ext cx="12193200" cy="406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0" y="6451600"/>
            <a:ext cx="12193200" cy="406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0" y="406400"/>
            <a:ext cx="152400" cy="6045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25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26"/>
          <p:cNvSpPr/>
          <p:nvPr/>
        </p:nvSpPr>
        <p:spPr>
          <a:xfrm>
            <a:off x="648000" y="900000"/>
            <a:ext cx="7200000" cy="2880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27"/>
          <p:cNvSpPr/>
          <p:nvPr/>
        </p:nvSpPr>
        <p:spPr>
          <a:xfrm>
            <a:off x="648000" y="900000"/>
            <a:ext cx="180000" cy="288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28"/>
          <p:cNvSpPr/>
          <p:nvPr/>
        </p:nvSpPr>
        <p:spPr>
          <a:xfrm>
            <a:off x="648000" y="432000"/>
            <a:ext cx="2520000" cy="3600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29"/>
          <p:cNvSpPr/>
          <p:nvPr/>
        </p:nvSpPr>
        <p:spPr>
          <a:xfrm>
            <a:off x="684000" y="432000"/>
            <a:ext cx="2448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400" b="1" i="0" dirty="0">
                <a:solidFill>
                  <a:srgbClr val="FFFFFF"/>
                </a:solidFill>
              </a:rPr>
              <a:t>Pearson | BTEC  ·  Axborot Texnologiyalari</a:t>
            </a:r>
          </a:p>
        </p:txBody>
      </p:sp>
      <p:sp>
        <p:nvSpPr>
          <p:cNvPr id="30" name="t30"/>
          <p:cNvSpPr/>
          <p:nvPr/>
        </p:nvSpPr>
        <p:spPr>
          <a:xfrm>
            <a:off x="864000" y="1080000"/>
            <a:ext cx="6840000" cy="12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3800" b="1" i="0" dirty="0">
                <a:solidFill>
                  <a:srgbClr val="111827"/>
                </a:solidFill>
              </a:rPr>
              <a:t>KOMPYUTER TIZIMINI</a:t>
            </a:r>
          </a:p>
          <a:p>
            <a:pPr algn="l"/>
            <a:r>
              <a:rPr lang="uz-UZ" sz="3800" b="1" i="0" dirty="0">
                <a:solidFill>
                  <a:srgbClr val="111827"/>
                </a:solidFill>
              </a:rPr>
              <a:t>TO'G'RI TUSHUNTIRISH DASTURI</a:t>
            </a:r>
          </a:p>
        </p:txBody>
      </p:sp>
      <p:sp>
        <p:nvSpPr>
          <p:cNvPr id="31" name="t31"/>
          <p:cNvSpPr/>
          <p:nvPr/>
        </p:nvSpPr>
        <p:spPr>
          <a:xfrm>
            <a:off x="864000" y="2448000"/>
            <a:ext cx="684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0" i="0" dirty="0">
                <a:solidFill>
                  <a:srgbClr val="D97706"/>
                </a:solidFill>
              </a:rPr>
              <a:t>Loyiha Ishi  —  D Maqsad  (13 ball)</a:t>
            </a:r>
          </a:p>
        </p:txBody>
      </p:sp>
      <p:sp>
        <p:nvSpPr>
          <p:cNvPr id="32" name="r32"/>
          <p:cNvSpPr/>
          <p:nvPr/>
        </p:nvSpPr>
        <p:spPr>
          <a:xfrm>
            <a:off x="8280000" y="1260000"/>
            <a:ext cx="3600000" cy="5580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33"/>
          <p:cNvSpPr/>
          <p:nvPr/>
        </p:nvSpPr>
        <p:spPr>
          <a:xfrm>
            <a:off x="8280000" y="1260000"/>
            <a:ext cx="3600000" cy="228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34"/>
          <p:cNvSpPr/>
          <p:nvPr/>
        </p:nvSpPr>
        <p:spPr>
          <a:xfrm>
            <a:off x="8352000" y="1514000"/>
            <a:ext cx="162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500" b="1" i="0" dirty="0">
                <a:solidFill>
                  <a:srgbClr val="D97706"/>
                </a:solidFill>
              </a:rPr>
              <a:t>Topshiriq</a:t>
            </a:r>
          </a:p>
        </p:txBody>
      </p:sp>
      <p:sp>
        <p:nvSpPr>
          <p:cNvPr id="35" name="t35"/>
          <p:cNvSpPr/>
          <p:nvPr/>
        </p:nvSpPr>
        <p:spPr>
          <a:xfrm>
            <a:off x="10008000" y="1514000"/>
            <a:ext cx="1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500" b="0" i="0" dirty="0">
                <a:solidFill>
                  <a:srgbClr val="374151"/>
                </a:solidFill>
              </a:rPr>
              <a:t>Loyiha qanday o'tdi?</a:t>
            </a:r>
          </a:p>
        </p:txBody>
      </p:sp>
      <p:sp>
        <p:nvSpPr>
          <p:cNvPr id="36" name="r36"/>
          <p:cNvSpPr/>
          <p:nvPr/>
        </p:nvSpPr>
        <p:spPr>
          <a:xfrm>
            <a:off x="8280000" y="1872000"/>
            <a:ext cx="3600000" cy="5580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37"/>
          <p:cNvSpPr/>
          <p:nvPr/>
        </p:nvSpPr>
        <p:spPr>
          <a:xfrm>
            <a:off x="8280000" y="1872000"/>
            <a:ext cx="3600000" cy="228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38"/>
          <p:cNvSpPr/>
          <p:nvPr/>
        </p:nvSpPr>
        <p:spPr>
          <a:xfrm>
            <a:off x="8352000" y="2126000"/>
            <a:ext cx="162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500" b="1" i="0" dirty="0">
                <a:solidFill>
                  <a:srgbClr val="D97706"/>
                </a:solidFill>
              </a:rPr>
              <a:t>Modul</a:t>
            </a:r>
          </a:p>
        </p:txBody>
      </p:sp>
      <p:sp>
        <p:nvSpPr>
          <p:cNvPr id="39" name="t39"/>
          <p:cNvSpPr/>
          <p:nvPr/>
        </p:nvSpPr>
        <p:spPr>
          <a:xfrm>
            <a:off x="10008000" y="2126000"/>
            <a:ext cx="1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500" b="0" i="0" dirty="0">
                <a:solidFill>
                  <a:srgbClr val="374151"/>
                </a:solidFill>
              </a:rPr>
              <a:t>DD4 · D.M4 · DP8 · DP9</a:t>
            </a:r>
          </a:p>
        </p:txBody>
      </p:sp>
      <p:sp>
        <p:nvSpPr>
          <p:cNvPr id="40" name="r40"/>
          <p:cNvSpPr/>
          <p:nvPr/>
        </p:nvSpPr>
        <p:spPr>
          <a:xfrm>
            <a:off x="8280000" y="2484000"/>
            <a:ext cx="3600000" cy="5580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41"/>
          <p:cNvSpPr/>
          <p:nvPr/>
        </p:nvSpPr>
        <p:spPr>
          <a:xfrm>
            <a:off x="8280000" y="2484000"/>
            <a:ext cx="3600000" cy="228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42"/>
          <p:cNvSpPr/>
          <p:nvPr/>
        </p:nvSpPr>
        <p:spPr>
          <a:xfrm>
            <a:off x="8352000" y="2738000"/>
            <a:ext cx="162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500" b="1" i="0" dirty="0">
                <a:solidFill>
                  <a:srgbClr val="D97706"/>
                </a:solidFill>
              </a:rPr>
              <a:t>Dastur nomi</a:t>
            </a:r>
          </a:p>
        </p:txBody>
      </p:sp>
      <p:sp>
        <p:nvSpPr>
          <p:cNvPr id="43" name="t43"/>
          <p:cNvSpPr/>
          <p:nvPr/>
        </p:nvSpPr>
        <p:spPr>
          <a:xfrm>
            <a:off x="10008000" y="2738000"/>
            <a:ext cx="1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500" b="0" i="0" dirty="0">
                <a:solidFill>
                  <a:srgbClr val="374151"/>
                </a:solidFill>
              </a:rPr>
              <a:t>KTMD v1.0</a:t>
            </a:r>
          </a:p>
        </p:txBody>
      </p:sp>
      <p:sp>
        <p:nvSpPr>
          <p:cNvPr id="44" name="r44"/>
          <p:cNvSpPr/>
          <p:nvPr/>
        </p:nvSpPr>
        <p:spPr>
          <a:xfrm>
            <a:off x="8280000" y="3096000"/>
            <a:ext cx="3600000" cy="5580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45"/>
          <p:cNvSpPr/>
          <p:nvPr/>
        </p:nvSpPr>
        <p:spPr>
          <a:xfrm>
            <a:off x="8280000" y="3096000"/>
            <a:ext cx="3600000" cy="228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46"/>
          <p:cNvSpPr/>
          <p:nvPr/>
        </p:nvSpPr>
        <p:spPr>
          <a:xfrm>
            <a:off x="8352000" y="3350000"/>
            <a:ext cx="162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500" b="1" i="0" dirty="0">
                <a:solidFill>
                  <a:srgbClr val="D97706"/>
                </a:solidFill>
              </a:rPr>
              <a:t>Muddati</a:t>
            </a:r>
          </a:p>
        </p:txBody>
      </p:sp>
      <p:sp>
        <p:nvSpPr>
          <p:cNvPr id="47" name="t47"/>
          <p:cNvSpPr/>
          <p:nvPr/>
        </p:nvSpPr>
        <p:spPr>
          <a:xfrm>
            <a:off x="10008000" y="3350000"/>
            <a:ext cx="1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500" b="0" i="0" dirty="0">
                <a:solidFill>
                  <a:srgbClr val="374151"/>
                </a:solidFill>
              </a:rPr>
              <a:t>2024, Iyun</a:t>
            </a:r>
          </a:p>
        </p:txBody>
      </p:sp>
      <p:sp>
        <p:nvSpPr>
          <p:cNvPr id="48" name="t48"/>
          <p:cNvSpPr/>
          <p:nvPr/>
        </p:nvSpPr>
        <p:spPr>
          <a:xfrm>
            <a:off x="648000" y="6192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300" b="0" i="0" dirty="0">
                <a:solidFill>
                  <a:srgbClr val="6B7280"/>
                </a:solidFill>
              </a:rPr>
              <a:t>9-bo'lim LAD  ·  2-son  ·  2024 yil iyun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2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0" y="0"/>
            <a:ext cx="12193200" cy="406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0" y="6451600"/>
            <a:ext cx="12193200" cy="406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0" y="406400"/>
            <a:ext cx="152400" cy="6045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25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26"/>
          <p:cNvSpPr/>
          <p:nvPr/>
        </p:nvSpPr>
        <p:spPr>
          <a:xfrm>
            <a:off x="648000" y="288000"/>
            <a:ext cx="90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3200" b="1" i="0" dirty="0">
                <a:solidFill>
                  <a:srgbClr val="1E1B4B"/>
                </a:solidFill>
              </a:rPr>
              <a:t>MUNDARIJA</a:t>
            </a:r>
          </a:p>
        </p:txBody>
      </p:sp>
      <p:sp>
        <p:nvSpPr>
          <p:cNvPr id="27" name="r27"/>
          <p:cNvSpPr/>
          <p:nvPr/>
        </p:nvSpPr>
        <p:spPr>
          <a:xfrm>
            <a:off x="648000" y="864000"/>
            <a:ext cx="2880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28"/>
          <p:cNvSpPr/>
          <p:nvPr/>
        </p:nvSpPr>
        <p:spPr>
          <a:xfrm>
            <a:off x="648000" y="1080000"/>
            <a:ext cx="5220000" cy="684000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29"/>
          <p:cNvSpPr/>
          <p:nvPr/>
        </p:nvSpPr>
        <p:spPr>
          <a:xfrm>
            <a:off x="648000" y="1080000"/>
            <a:ext cx="125999" cy="68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30"/>
          <p:cNvSpPr/>
          <p:nvPr/>
        </p:nvSpPr>
        <p:spPr>
          <a:xfrm>
            <a:off x="864000" y="1098000"/>
            <a:ext cx="54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600" b="1" i="0" dirty="0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31" name="t31"/>
          <p:cNvSpPr/>
          <p:nvPr/>
        </p:nvSpPr>
        <p:spPr>
          <a:xfrm>
            <a:off x="1440000" y="1188000"/>
            <a:ext cx="432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0" i="0" dirty="0">
                <a:solidFill>
                  <a:srgbClr val="374151"/>
                </a:solidFill>
              </a:rPr>
              <a:t>Loyiha haqida umumiy ma'lumot</a:t>
            </a:r>
          </a:p>
        </p:txBody>
      </p:sp>
      <p:sp>
        <p:nvSpPr>
          <p:cNvPr id="32" name="r32"/>
          <p:cNvSpPr/>
          <p:nvPr/>
        </p:nvSpPr>
        <p:spPr>
          <a:xfrm>
            <a:off x="648000" y="1872000"/>
            <a:ext cx="5220000" cy="684000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33"/>
          <p:cNvSpPr/>
          <p:nvPr/>
        </p:nvSpPr>
        <p:spPr>
          <a:xfrm>
            <a:off x="648000" y="1872000"/>
            <a:ext cx="125999" cy="68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34"/>
          <p:cNvSpPr/>
          <p:nvPr/>
        </p:nvSpPr>
        <p:spPr>
          <a:xfrm>
            <a:off x="864000" y="1890000"/>
            <a:ext cx="54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600" b="1" i="0" dirty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35" name="t35"/>
          <p:cNvSpPr/>
          <p:nvPr/>
        </p:nvSpPr>
        <p:spPr>
          <a:xfrm>
            <a:off x="1440000" y="1980000"/>
            <a:ext cx="432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0" i="0" dirty="0">
                <a:solidFill>
                  <a:srgbClr val="374151"/>
                </a:solidFill>
              </a:rPr>
              <a:t>Dasturning ishlash mexanizmi</a:t>
            </a:r>
          </a:p>
        </p:txBody>
      </p:sp>
      <p:sp>
        <p:nvSpPr>
          <p:cNvPr id="36" name="r36"/>
          <p:cNvSpPr/>
          <p:nvPr/>
        </p:nvSpPr>
        <p:spPr>
          <a:xfrm>
            <a:off x="648000" y="2664000"/>
            <a:ext cx="5220000" cy="684000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37"/>
          <p:cNvSpPr/>
          <p:nvPr/>
        </p:nvSpPr>
        <p:spPr>
          <a:xfrm>
            <a:off x="648000" y="2664000"/>
            <a:ext cx="125999" cy="68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38"/>
          <p:cNvSpPr/>
          <p:nvPr/>
        </p:nvSpPr>
        <p:spPr>
          <a:xfrm>
            <a:off x="864000" y="2682000"/>
            <a:ext cx="54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600" b="1" i="0" dirty="0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39" name="t39"/>
          <p:cNvSpPr/>
          <p:nvPr/>
        </p:nvSpPr>
        <p:spPr>
          <a:xfrm>
            <a:off x="1440000" y="2772000"/>
            <a:ext cx="432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0" i="0" dirty="0">
                <a:solidFill>
                  <a:srgbClr val="374151"/>
                </a:solidFill>
              </a:rPr>
              <a:t>DD 4 — Texnik ko'nikmalarni qo'llash</a:t>
            </a:r>
          </a:p>
        </p:txBody>
      </p:sp>
      <p:sp>
        <p:nvSpPr>
          <p:cNvPr id="40" name="r40"/>
          <p:cNvSpPr/>
          <p:nvPr/>
        </p:nvSpPr>
        <p:spPr>
          <a:xfrm>
            <a:off x="648000" y="3456000"/>
            <a:ext cx="5220000" cy="684000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41"/>
          <p:cNvSpPr/>
          <p:nvPr/>
        </p:nvSpPr>
        <p:spPr>
          <a:xfrm>
            <a:off x="648000" y="3456000"/>
            <a:ext cx="125999" cy="68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42"/>
          <p:cNvSpPr/>
          <p:nvPr/>
        </p:nvSpPr>
        <p:spPr>
          <a:xfrm>
            <a:off x="864000" y="3474000"/>
            <a:ext cx="54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600" b="1" i="0" dirty="0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43" name="t43"/>
          <p:cNvSpPr/>
          <p:nvPr/>
        </p:nvSpPr>
        <p:spPr>
          <a:xfrm>
            <a:off x="1440000" y="3564000"/>
            <a:ext cx="432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0" i="0" dirty="0">
                <a:solidFill>
                  <a:srgbClr val="374151"/>
                </a:solidFill>
              </a:rPr>
              <a:t>D.M4 — Xatti-harakatlarni yaxshilash tavsiyalari</a:t>
            </a:r>
          </a:p>
        </p:txBody>
      </p:sp>
      <p:sp>
        <p:nvSpPr>
          <p:cNvPr id="44" name="r44"/>
          <p:cNvSpPr/>
          <p:nvPr/>
        </p:nvSpPr>
        <p:spPr>
          <a:xfrm>
            <a:off x="6408000" y="1080000"/>
            <a:ext cx="5220000" cy="684000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45"/>
          <p:cNvSpPr/>
          <p:nvPr/>
        </p:nvSpPr>
        <p:spPr>
          <a:xfrm>
            <a:off x="6408000" y="1080000"/>
            <a:ext cx="125999" cy="68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46"/>
          <p:cNvSpPr/>
          <p:nvPr/>
        </p:nvSpPr>
        <p:spPr>
          <a:xfrm>
            <a:off x="6624000" y="1098000"/>
            <a:ext cx="54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600" b="1" i="0" dirty="0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47" name="t47"/>
          <p:cNvSpPr/>
          <p:nvPr/>
        </p:nvSpPr>
        <p:spPr>
          <a:xfrm>
            <a:off x="7200000" y="1188000"/>
            <a:ext cx="432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0" i="0" dirty="0">
                <a:solidFill>
                  <a:srgbClr val="374151"/>
                </a:solidFill>
              </a:rPr>
              <a:t>DP 8 — Loyiha boshqarish ko'nikmalari</a:t>
            </a:r>
          </a:p>
        </p:txBody>
      </p:sp>
      <p:sp>
        <p:nvSpPr>
          <p:cNvPr id="48" name="r48"/>
          <p:cNvSpPr/>
          <p:nvPr/>
        </p:nvSpPr>
        <p:spPr>
          <a:xfrm>
            <a:off x="6408000" y="1872000"/>
            <a:ext cx="5220000" cy="684000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49"/>
          <p:cNvSpPr/>
          <p:nvPr/>
        </p:nvSpPr>
        <p:spPr>
          <a:xfrm>
            <a:off x="6408000" y="1872000"/>
            <a:ext cx="125999" cy="68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50"/>
          <p:cNvSpPr/>
          <p:nvPr/>
        </p:nvSpPr>
        <p:spPr>
          <a:xfrm>
            <a:off x="6624000" y="1890000"/>
            <a:ext cx="54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600" b="1" i="0" dirty="0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51" name="t51"/>
          <p:cNvSpPr/>
          <p:nvPr/>
        </p:nvSpPr>
        <p:spPr>
          <a:xfrm>
            <a:off x="7200000" y="1980000"/>
            <a:ext cx="432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0" i="0" dirty="0">
                <a:solidFill>
                  <a:srgbClr val="374151"/>
                </a:solidFill>
              </a:rPr>
              <a:t>DP 9 — Kasbiy xatti-harakatlar</a:t>
            </a:r>
          </a:p>
        </p:txBody>
      </p:sp>
      <p:sp>
        <p:nvSpPr>
          <p:cNvPr id="52" name="r52"/>
          <p:cNvSpPr/>
          <p:nvPr/>
        </p:nvSpPr>
        <p:spPr>
          <a:xfrm>
            <a:off x="6408000" y="2664000"/>
            <a:ext cx="5220000" cy="684000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53"/>
          <p:cNvSpPr/>
          <p:nvPr/>
        </p:nvSpPr>
        <p:spPr>
          <a:xfrm>
            <a:off x="6408000" y="2664000"/>
            <a:ext cx="125999" cy="684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t54"/>
          <p:cNvSpPr/>
          <p:nvPr/>
        </p:nvSpPr>
        <p:spPr>
          <a:xfrm>
            <a:off x="6624000" y="2682000"/>
            <a:ext cx="54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600" b="1" i="0" dirty="0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55" name="t55"/>
          <p:cNvSpPr/>
          <p:nvPr/>
        </p:nvSpPr>
        <p:spPr>
          <a:xfrm>
            <a:off x="7200000" y="2772000"/>
            <a:ext cx="432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0" i="0" dirty="0">
                <a:solidFill>
                  <a:srgbClr val="374151"/>
                </a:solidFill>
              </a:rPr>
              <a:t>Natijalar va xulosa</a:t>
            </a:r>
          </a:p>
        </p:txBody>
      </p:sp>
      <p:sp>
        <p:nvSpPr>
          <p:cNvPr id="56" name="t56"/>
          <p:cNvSpPr/>
          <p:nvPr/>
        </p:nvSpPr>
        <p:spPr>
          <a:xfrm>
            <a:off x="11340000" y="6408000"/>
            <a:ext cx="7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r"/>
            <a:r>
              <a:rPr lang="uz-UZ" sz="1400" b="0" i="0" dirty="0">
                <a:solidFill>
                  <a:srgbClr val="6B7280"/>
                </a:solidFill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2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0" y="0"/>
            <a:ext cx="12193200" cy="406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0" y="6451600"/>
            <a:ext cx="12193200" cy="406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0" y="406400"/>
            <a:ext cx="152400" cy="6045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25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26"/>
          <p:cNvSpPr/>
          <p:nvPr/>
        </p:nvSpPr>
        <p:spPr>
          <a:xfrm>
            <a:off x="648000" y="28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800" b="1" i="0" dirty="0">
                <a:solidFill>
                  <a:srgbClr val="1E1B4B"/>
                </a:solidFill>
              </a:rPr>
              <a:t>01  |  LOYIHA HAQIDA UMUMIY MA'LUMOT</a:t>
            </a:r>
          </a:p>
        </p:txBody>
      </p:sp>
      <p:sp>
        <p:nvSpPr>
          <p:cNvPr id="27" name="r27"/>
          <p:cNvSpPr/>
          <p:nvPr/>
        </p:nvSpPr>
        <p:spPr>
          <a:xfrm>
            <a:off x="648000" y="864000"/>
            <a:ext cx="28800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28"/>
          <p:cNvSpPr/>
          <p:nvPr/>
        </p:nvSpPr>
        <p:spPr>
          <a:xfrm>
            <a:off x="648000" y="1007999"/>
            <a:ext cx="7200000" cy="1440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29"/>
          <p:cNvSpPr/>
          <p:nvPr/>
        </p:nvSpPr>
        <p:spPr>
          <a:xfrm>
            <a:off x="648000" y="1007999"/>
            <a:ext cx="144000" cy="144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30"/>
          <p:cNvSpPr/>
          <p:nvPr/>
        </p:nvSpPr>
        <p:spPr>
          <a:xfrm>
            <a:off x="864000" y="1080000"/>
            <a:ext cx="6912000" cy="12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0" i="0" dirty="0">
                <a:solidFill>
                  <a:srgbClr val="374151"/>
                </a:solidFill>
              </a:rPr>
              <a:t>Yangi dasturiy ta'minot kompaniyasida IT mutaxassisi sifatida</a:t>
            </a:r>
          </a:p>
          <a:p>
            <a:pPr algn="l"/>
            <a:r>
              <a:rPr lang="uz-UZ" sz="1900" b="0" i="0" dirty="0">
                <a:solidFill>
                  <a:srgbClr val="374151"/>
                </a:solidFill>
              </a:rPr>
              <a:t>ishga qabul qilindim. Loyiha — Kompyuter Tizimi Monitor Dasturi</a:t>
            </a:r>
          </a:p>
          <a:p>
            <a:pPr algn="l"/>
            <a:r>
              <a:rPr lang="uz-UZ" sz="1900" b="0" i="0" dirty="0">
                <a:solidFill>
                  <a:srgbClr val="374151"/>
                </a:solidFill>
              </a:rPr>
              <a:t>(KTMD) — yakunlangandan so'ng ushbu hisobot tayyorlandi.</a:t>
            </a:r>
          </a:p>
        </p:txBody>
      </p:sp>
      <p:sp>
        <p:nvSpPr>
          <p:cNvPr id="31" name="r31"/>
          <p:cNvSpPr/>
          <p:nvPr/>
        </p:nvSpPr>
        <p:spPr>
          <a:xfrm>
            <a:off x="648000" y="2880000"/>
            <a:ext cx="2700000" cy="1980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32"/>
          <p:cNvSpPr/>
          <p:nvPr/>
        </p:nvSpPr>
        <p:spPr>
          <a:xfrm>
            <a:off x="648000" y="2880000"/>
            <a:ext cx="2700000" cy="203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33"/>
          <p:cNvSpPr/>
          <p:nvPr/>
        </p:nvSpPr>
        <p:spPr>
          <a:xfrm>
            <a:off x="648000" y="3240000"/>
            <a:ext cx="2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3400" b="1" i="0" dirty="0">
                <a:solidFill>
                  <a:srgbClr val="D97706"/>
                </a:solidFill>
              </a:rPr>
              <a:t>KTMD v1.0</a:t>
            </a:r>
          </a:p>
        </p:txBody>
      </p:sp>
      <p:sp>
        <p:nvSpPr>
          <p:cNvPr id="34" name="t34"/>
          <p:cNvSpPr/>
          <p:nvPr/>
        </p:nvSpPr>
        <p:spPr>
          <a:xfrm>
            <a:off x="648000" y="4068000"/>
            <a:ext cx="27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0" i="0" dirty="0">
                <a:solidFill>
                  <a:srgbClr val="374151"/>
                </a:solidFill>
              </a:rPr>
              <a:t>Dastur nomi</a:t>
            </a:r>
          </a:p>
        </p:txBody>
      </p:sp>
      <p:sp>
        <p:nvSpPr>
          <p:cNvPr id="35" name="r35"/>
          <p:cNvSpPr/>
          <p:nvPr/>
        </p:nvSpPr>
        <p:spPr>
          <a:xfrm>
            <a:off x="3528000" y="2880000"/>
            <a:ext cx="2700000" cy="1980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36"/>
          <p:cNvSpPr/>
          <p:nvPr/>
        </p:nvSpPr>
        <p:spPr>
          <a:xfrm>
            <a:off x="3528000" y="2880000"/>
            <a:ext cx="2700000" cy="20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37"/>
          <p:cNvSpPr/>
          <p:nvPr/>
        </p:nvSpPr>
        <p:spPr>
          <a:xfrm>
            <a:off x="3528000" y="3240000"/>
            <a:ext cx="2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3400" b="1" i="0" dirty="0">
                <a:solidFill>
                  <a:srgbClr val="2563EB"/>
                </a:solidFill>
              </a:rPr>
              <a:t>8 hafta</a:t>
            </a:r>
          </a:p>
        </p:txBody>
      </p:sp>
      <p:sp>
        <p:nvSpPr>
          <p:cNvPr id="38" name="t38"/>
          <p:cNvSpPr/>
          <p:nvPr/>
        </p:nvSpPr>
        <p:spPr>
          <a:xfrm>
            <a:off x="3528000" y="4068000"/>
            <a:ext cx="27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0" i="0" dirty="0">
                <a:solidFill>
                  <a:srgbClr val="374151"/>
                </a:solidFill>
              </a:rPr>
              <a:t>Loyiha muddati</a:t>
            </a:r>
          </a:p>
        </p:txBody>
      </p:sp>
      <p:sp>
        <p:nvSpPr>
          <p:cNvPr id="39" name="r39"/>
          <p:cNvSpPr/>
          <p:nvPr/>
        </p:nvSpPr>
        <p:spPr>
          <a:xfrm>
            <a:off x="6408000" y="2880000"/>
            <a:ext cx="2700000" cy="1980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40"/>
          <p:cNvSpPr/>
          <p:nvPr/>
        </p:nvSpPr>
        <p:spPr>
          <a:xfrm>
            <a:off x="6408000" y="2880000"/>
            <a:ext cx="2700000" cy="20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41"/>
          <p:cNvSpPr/>
          <p:nvPr/>
        </p:nvSpPr>
        <p:spPr>
          <a:xfrm>
            <a:off x="6408000" y="3240000"/>
            <a:ext cx="2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3400" b="1" i="0" dirty="0">
                <a:solidFill>
                  <a:srgbClr val="059669"/>
                </a:solidFill>
              </a:rPr>
              <a:t>13 ball</a:t>
            </a:r>
          </a:p>
        </p:txBody>
      </p:sp>
      <p:sp>
        <p:nvSpPr>
          <p:cNvPr id="42" name="t42"/>
          <p:cNvSpPr/>
          <p:nvPr/>
        </p:nvSpPr>
        <p:spPr>
          <a:xfrm>
            <a:off x="6408000" y="4068000"/>
            <a:ext cx="27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0" i="0" dirty="0">
                <a:solidFill>
                  <a:srgbClr val="374151"/>
                </a:solidFill>
              </a:rPr>
              <a:t>D maqsad</a:t>
            </a:r>
          </a:p>
        </p:txBody>
      </p:sp>
      <p:sp>
        <p:nvSpPr>
          <p:cNvPr id="43" name="r43"/>
          <p:cNvSpPr/>
          <p:nvPr/>
        </p:nvSpPr>
        <p:spPr>
          <a:xfrm>
            <a:off x="9288000" y="2880000"/>
            <a:ext cx="2700000" cy="1980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44"/>
          <p:cNvSpPr/>
          <p:nvPr/>
        </p:nvSpPr>
        <p:spPr>
          <a:xfrm>
            <a:off x="9288000" y="2880000"/>
            <a:ext cx="2700000" cy="2032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45"/>
          <p:cNvSpPr/>
          <p:nvPr/>
        </p:nvSpPr>
        <p:spPr>
          <a:xfrm>
            <a:off x="9288000" y="3240000"/>
            <a:ext cx="2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3400" b="1" i="0" dirty="0">
                <a:solidFill>
                  <a:srgbClr val="E11D48"/>
                </a:solidFill>
              </a:rPr>
              <a:t>6 modul</a:t>
            </a:r>
          </a:p>
        </p:txBody>
      </p:sp>
      <p:sp>
        <p:nvSpPr>
          <p:cNvPr id="46" name="t46"/>
          <p:cNvSpPr/>
          <p:nvPr/>
        </p:nvSpPr>
        <p:spPr>
          <a:xfrm>
            <a:off x="9288000" y="4068000"/>
            <a:ext cx="27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0" i="0" dirty="0">
                <a:solidFill>
                  <a:srgbClr val="374151"/>
                </a:solidFill>
              </a:rPr>
              <a:t>Tarkibiy qismlar</a:t>
            </a:r>
          </a:p>
        </p:txBody>
      </p:sp>
      <p:sp>
        <p:nvSpPr>
          <p:cNvPr id="47" name="t47"/>
          <p:cNvSpPr/>
          <p:nvPr/>
        </p:nvSpPr>
        <p:spPr>
          <a:xfrm>
            <a:off x="648000" y="522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6B7280"/>
                </a:solidFill>
              </a:rPr>
              <a:t>Kasbiy senariy: Siz yangi dasturiy ta'minot kompaniyasiga ishga olingan IT mutaxassisisiz.</a:t>
            </a:r>
          </a:p>
        </p:txBody>
      </p:sp>
      <p:sp>
        <p:nvSpPr>
          <p:cNvPr id="48" name="t48"/>
          <p:cNvSpPr/>
          <p:nvPr/>
        </p:nvSpPr>
        <p:spPr>
          <a:xfrm>
            <a:off x="11340000" y="6408000"/>
            <a:ext cx="7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r"/>
            <a:r>
              <a:rPr lang="uz-UZ" sz="1400" b="0" i="0" dirty="0">
                <a:solidFill>
                  <a:srgbClr val="6B7280"/>
                </a:solidFill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2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0" y="0"/>
            <a:ext cx="12193200" cy="406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0" y="6451600"/>
            <a:ext cx="12193200" cy="406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0" y="406400"/>
            <a:ext cx="152400" cy="6045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25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26"/>
          <p:cNvSpPr/>
          <p:nvPr/>
        </p:nvSpPr>
        <p:spPr>
          <a:xfrm>
            <a:off x="648000" y="28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800" b="1" i="0" dirty="0">
                <a:solidFill>
                  <a:srgbClr val="1E1B4B"/>
                </a:solidFill>
              </a:rPr>
              <a:t>02  |  DASTURNING ISHLASH MEXANIZMI</a:t>
            </a:r>
          </a:p>
        </p:txBody>
      </p:sp>
      <p:sp>
        <p:nvSpPr>
          <p:cNvPr id="27" name="r27"/>
          <p:cNvSpPr/>
          <p:nvPr/>
        </p:nvSpPr>
        <p:spPr>
          <a:xfrm>
            <a:off x="648000" y="864000"/>
            <a:ext cx="2880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28"/>
          <p:cNvSpPr/>
          <p:nvPr/>
        </p:nvSpPr>
        <p:spPr>
          <a:xfrm>
            <a:off x="648000" y="1007999"/>
            <a:ext cx="3420000" cy="2340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29"/>
          <p:cNvSpPr/>
          <p:nvPr/>
        </p:nvSpPr>
        <p:spPr>
          <a:xfrm>
            <a:off x="648000" y="1007999"/>
            <a:ext cx="3420000" cy="203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30"/>
          <p:cNvSpPr/>
          <p:nvPr/>
        </p:nvSpPr>
        <p:spPr>
          <a:xfrm>
            <a:off x="792000" y="1187999"/>
            <a:ext cx="503999" cy="503999"/>
          </a:xfrm>
          <a:prstGeom prst="roundRect">
            <a:avLst>
              <a:gd name="adj" fmla="val 400000"/>
            </a:avLst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31"/>
          <p:cNvSpPr/>
          <p:nvPr/>
        </p:nvSpPr>
        <p:spPr>
          <a:xfrm>
            <a:off x="792000" y="1187999"/>
            <a:ext cx="503999" cy="503999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2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t32"/>
          <p:cNvSpPr/>
          <p:nvPr/>
        </p:nvSpPr>
        <p:spPr>
          <a:xfrm>
            <a:off x="1440000" y="1223999"/>
            <a:ext cx="25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D97706"/>
                </a:solidFill>
              </a:rPr>
              <a:t>LOGIN</a:t>
            </a:r>
          </a:p>
        </p:txBody>
      </p:sp>
      <p:sp>
        <p:nvSpPr>
          <p:cNvPr id="33" name="t33"/>
          <p:cNvSpPr/>
          <p:nvPr/>
        </p:nvSpPr>
        <p:spPr>
          <a:xfrm>
            <a:off x="792000" y="1727999"/>
            <a:ext cx="3131999" cy="151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SHA-256 shifrlash bilan autentifikatsiya</a:t>
            </a:r>
          </a:p>
        </p:txBody>
      </p:sp>
      <p:sp>
        <p:nvSpPr>
          <p:cNvPr id="34" name="r34"/>
          <p:cNvSpPr/>
          <p:nvPr/>
        </p:nvSpPr>
        <p:spPr>
          <a:xfrm>
            <a:off x="4320000" y="1007999"/>
            <a:ext cx="3420000" cy="2340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35"/>
          <p:cNvSpPr/>
          <p:nvPr/>
        </p:nvSpPr>
        <p:spPr>
          <a:xfrm>
            <a:off x="4320000" y="1007999"/>
            <a:ext cx="3420000" cy="20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36"/>
          <p:cNvSpPr/>
          <p:nvPr/>
        </p:nvSpPr>
        <p:spPr>
          <a:xfrm>
            <a:off x="4464000" y="1187999"/>
            <a:ext cx="503999" cy="503999"/>
          </a:xfrm>
          <a:prstGeom prst="roundRect">
            <a:avLst>
              <a:gd name="adj" fmla="val 40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37"/>
          <p:cNvSpPr/>
          <p:nvPr/>
        </p:nvSpPr>
        <p:spPr>
          <a:xfrm>
            <a:off x="4464000" y="1187999"/>
            <a:ext cx="503999" cy="503999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2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t38"/>
          <p:cNvSpPr/>
          <p:nvPr/>
        </p:nvSpPr>
        <p:spPr>
          <a:xfrm>
            <a:off x="5112000" y="1223999"/>
            <a:ext cx="25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2563EB"/>
                </a:solidFill>
              </a:rPr>
              <a:t>SKANERLASH</a:t>
            </a:r>
          </a:p>
        </p:txBody>
      </p:sp>
      <p:sp>
        <p:nvSpPr>
          <p:cNvPr id="39" name="t39"/>
          <p:cNvSpPr/>
          <p:nvPr/>
        </p:nvSpPr>
        <p:spPr>
          <a:xfrm>
            <a:off x="4464000" y="1727999"/>
            <a:ext cx="3131999" cy="151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Tarmoqda IP manzillarni aniqlash (Nmap)</a:t>
            </a:r>
          </a:p>
        </p:txBody>
      </p:sp>
      <p:sp>
        <p:nvSpPr>
          <p:cNvPr id="40" name="r40"/>
          <p:cNvSpPr/>
          <p:nvPr/>
        </p:nvSpPr>
        <p:spPr>
          <a:xfrm>
            <a:off x="7992000" y="1007999"/>
            <a:ext cx="3420000" cy="2340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41"/>
          <p:cNvSpPr/>
          <p:nvPr/>
        </p:nvSpPr>
        <p:spPr>
          <a:xfrm>
            <a:off x="7992000" y="1007999"/>
            <a:ext cx="3420000" cy="20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42"/>
          <p:cNvSpPr/>
          <p:nvPr/>
        </p:nvSpPr>
        <p:spPr>
          <a:xfrm>
            <a:off x="8136000" y="1187999"/>
            <a:ext cx="503999" cy="503999"/>
          </a:xfrm>
          <a:prstGeom prst="roundRect">
            <a:avLst>
              <a:gd name="adj" fmla="val 400000"/>
            </a:avLst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43"/>
          <p:cNvSpPr/>
          <p:nvPr/>
        </p:nvSpPr>
        <p:spPr>
          <a:xfrm>
            <a:off x="8136000" y="1187999"/>
            <a:ext cx="503999" cy="503999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2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4" name="t44"/>
          <p:cNvSpPr/>
          <p:nvPr/>
        </p:nvSpPr>
        <p:spPr>
          <a:xfrm>
            <a:off x="8784000" y="1223999"/>
            <a:ext cx="25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059669"/>
                </a:solidFill>
              </a:rPr>
              <a:t>MONITORING</a:t>
            </a:r>
          </a:p>
        </p:txBody>
      </p:sp>
      <p:sp>
        <p:nvSpPr>
          <p:cNvPr id="45" name="t45"/>
          <p:cNvSpPr/>
          <p:nvPr/>
        </p:nvSpPr>
        <p:spPr>
          <a:xfrm>
            <a:off x="8136000" y="1727999"/>
            <a:ext cx="3131999" cy="151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CPU, RAM, Disk — har 5 soniyada o'lchash</a:t>
            </a:r>
          </a:p>
        </p:txBody>
      </p:sp>
      <p:sp>
        <p:nvSpPr>
          <p:cNvPr id="46" name="r46"/>
          <p:cNvSpPr/>
          <p:nvPr/>
        </p:nvSpPr>
        <p:spPr>
          <a:xfrm>
            <a:off x="648000" y="3600000"/>
            <a:ext cx="3420000" cy="2340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47"/>
          <p:cNvSpPr/>
          <p:nvPr/>
        </p:nvSpPr>
        <p:spPr>
          <a:xfrm>
            <a:off x="648000" y="3600000"/>
            <a:ext cx="3420000" cy="2032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48"/>
          <p:cNvSpPr/>
          <p:nvPr/>
        </p:nvSpPr>
        <p:spPr>
          <a:xfrm>
            <a:off x="792000" y="3780000"/>
            <a:ext cx="503999" cy="503999"/>
          </a:xfrm>
          <a:prstGeom prst="roundRect">
            <a:avLst>
              <a:gd name="adj" fmla="val 400000"/>
            </a:avLst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49"/>
          <p:cNvSpPr/>
          <p:nvPr/>
        </p:nvSpPr>
        <p:spPr>
          <a:xfrm>
            <a:off x="792000" y="3780000"/>
            <a:ext cx="503999" cy="503999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2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0" name="t50"/>
          <p:cNvSpPr/>
          <p:nvPr/>
        </p:nvSpPr>
        <p:spPr>
          <a:xfrm>
            <a:off x="1440000" y="3816000"/>
            <a:ext cx="25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E11D48"/>
                </a:solidFill>
              </a:rPr>
              <a:t>OGOHLANTIRISH</a:t>
            </a:r>
          </a:p>
        </p:txBody>
      </p:sp>
      <p:sp>
        <p:nvSpPr>
          <p:cNvPr id="51" name="t51"/>
          <p:cNvSpPr/>
          <p:nvPr/>
        </p:nvSpPr>
        <p:spPr>
          <a:xfrm>
            <a:off x="792000" y="4320000"/>
            <a:ext cx="3131999" cy="151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CPU&gt;90% yoki Disk&gt;95% da email yuborish</a:t>
            </a:r>
          </a:p>
        </p:txBody>
      </p:sp>
      <p:sp>
        <p:nvSpPr>
          <p:cNvPr id="52" name="r52"/>
          <p:cNvSpPr/>
          <p:nvPr/>
        </p:nvSpPr>
        <p:spPr>
          <a:xfrm>
            <a:off x="4320000" y="3600000"/>
            <a:ext cx="3420000" cy="2340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53"/>
          <p:cNvSpPr/>
          <p:nvPr/>
        </p:nvSpPr>
        <p:spPr>
          <a:xfrm>
            <a:off x="4320000" y="3600000"/>
            <a:ext cx="3420000" cy="203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54"/>
          <p:cNvSpPr/>
          <p:nvPr/>
        </p:nvSpPr>
        <p:spPr>
          <a:xfrm>
            <a:off x="4464000" y="3780000"/>
            <a:ext cx="503999" cy="503999"/>
          </a:xfrm>
          <a:prstGeom prst="roundRect">
            <a:avLst>
              <a:gd name="adj" fmla="val 400000"/>
            </a:avLst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55"/>
          <p:cNvSpPr/>
          <p:nvPr/>
        </p:nvSpPr>
        <p:spPr>
          <a:xfrm>
            <a:off x="4464000" y="3780000"/>
            <a:ext cx="503999" cy="503999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200" b="1" i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6" name="t56"/>
          <p:cNvSpPr/>
          <p:nvPr/>
        </p:nvSpPr>
        <p:spPr>
          <a:xfrm>
            <a:off x="5112000" y="3816000"/>
            <a:ext cx="25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A78BFA"/>
                </a:solidFill>
              </a:rPr>
              <a:t>SAQLASH</a:t>
            </a:r>
          </a:p>
        </p:txBody>
      </p:sp>
      <p:sp>
        <p:nvSpPr>
          <p:cNvPr id="57" name="t57"/>
          <p:cNvSpPr/>
          <p:nvPr/>
        </p:nvSpPr>
        <p:spPr>
          <a:xfrm>
            <a:off x="4464000" y="4320000"/>
            <a:ext cx="3131999" cy="151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Barcha ma'lumotlar SQLite bazasiga yoziladi</a:t>
            </a:r>
          </a:p>
        </p:txBody>
      </p:sp>
      <p:sp>
        <p:nvSpPr>
          <p:cNvPr id="58" name="r58"/>
          <p:cNvSpPr/>
          <p:nvPr/>
        </p:nvSpPr>
        <p:spPr>
          <a:xfrm>
            <a:off x="7992000" y="3600000"/>
            <a:ext cx="3420000" cy="2340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59"/>
          <p:cNvSpPr/>
          <p:nvPr/>
        </p:nvSpPr>
        <p:spPr>
          <a:xfrm>
            <a:off x="7992000" y="3600000"/>
            <a:ext cx="3420000" cy="203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60"/>
          <p:cNvSpPr/>
          <p:nvPr/>
        </p:nvSpPr>
        <p:spPr>
          <a:xfrm>
            <a:off x="8136000" y="3780000"/>
            <a:ext cx="503999" cy="503999"/>
          </a:xfrm>
          <a:prstGeom prst="roundRect">
            <a:avLst>
              <a:gd name="adj" fmla="val 400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61"/>
          <p:cNvSpPr/>
          <p:nvPr/>
        </p:nvSpPr>
        <p:spPr>
          <a:xfrm>
            <a:off x="8136000" y="3780000"/>
            <a:ext cx="503999" cy="503999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200" b="1" i="0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2" name="t62"/>
          <p:cNvSpPr/>
          <p:nvPr/>
        </p:nvSpPr>
        <p:spPr>
          <a:xfrm>
            <a:off x="8784000" y="3816000"/>
            <a:ext cx="25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34D399"/>
                </a:solidFill>
              </a:rPr>
              <a:t>HISOBOT</a:t>
            </a:r>
          </a:p>
        </p:txBody>
      </p:sp>
      <p:sp>
        <p:nvSpPr>
          <p:cNvPr id="63" name="t63"/>
          <p:cNvSpPr/>
          <p:nvPr/>
        </p:nvSpPr>
        <p:spPr>
          <a:xfrm>
            <a:off x="8136000" y="4320000"/>
            <a:ext cx="3131999" cy="151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PDF/Excel formatda avtomatik hisobot olish</a:t>
            </a:r>
          </a:p>
        </p:txBody>
      </p:sp>
      <p:sp>
        <p:nvSpPr>
          <p:cNvPr id="64" name="t64"/>
          <p:cNvSpPr/>
          <p:nvPr/>
        </p:nvSpPr>
        <p:spPr>
          <a:xfrm>
            <a:off x="11340000" y="6408000"/>
            <a:ext cx="7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r"/>
            <a:r>
              <a:rPr lang="uz-UZ" sz="1400" b="0" i="0" dirty="0">
                <a:solidFill>
                  <a:srgbClr val="6B7280"/>
                </a:solidFill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2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0" y="0"/>
            <a:ext cx="12193200" cy="406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0" y="6451600"/>
            <a:ext cx="12193200" cy="406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0" y="406400"/>
            <a:ext cx="152400" cy="6045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25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26"/>
          <p:cNvSpPr/>
          <p:nvPr/>
        </p:nvSpPr>
        <p:spPr>
          <a:xfrm>
            <a:off x="648000" y="28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800" b="1" i="0" dirty="0">
                <a:solidFill>
                  <a:srgbClr val="1E1B4B"/>
                </a:solidFill>
              </a:rPr>
              <a:t>02  |  DASTUR ARXITEKTURASI — MODULLAR</a:t>
            </a:r>
          </a:p>
        </p:txBody>
      </p:sp>
      <p:sp>
        <p:nvSpPr>
          <p:cNvPr id="27" name="r27"/>
          <p:cNvSpPr/>
          <p:nvPr/>
        </p:nvSpPr>
        <p:spPr>
          <a:xfrm>
            <a:off x="648000" y="864000"/>
            <a:ext cx="28800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28"/>
          <p:cNvSpPr/>
          <p:nvPr/>
        </p:nvSpPr>
        <p:spPr>
          <a:xfrm>
            <a:off x="648000" y="1152000"/>
            <a:ext cx="2753000" cy="43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29"/>
          <p:cNvSpPr/>
          <p:nvPr/>
        </p:nvSpPr>
        <p:spPr>
          <a:xfrm>
            <a:off x="902000" y="1152000"/>
            <a:ext cx="2499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1" i="0" dirty="0">
                <a:solidFill>
                  <a:srgbClr val="FFFFFF"/>
                </a:solidFill>
              </a:rPr>
              <a:t>Modul</a:t>
            </a:r>
          </a:p>
        </p:txBody>
      </p:sp>
      <p:sp>
        <p:nvSpPr>
          <p:cNvPr id="30" name="r30"/>
          <p:cNvSpPr/>
          <p:nvPr/>
        </p:nvSpPr>
        <p:spPr>
          <a:xfrm>
            <a:off x="3671999" y="1152000"/>
            <a:ext cx="5633000" cy="43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31"/>
          <p:cNvSpPr/>
          <p:nvPr/>
        </p:nvSpPr>
        <p:spPr>
          <a:xfrm>
            <a:off x="3925999" y="1152000"/>
            <a:ext cx="5379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1" i="0" dirty="0">
                <a:solidFill>
                  <a:srgbClr val="FFFFFF"/>
                </a:solidFill>
              </a:rPr>
              <a:t>Vazifasi</a:t>
            </a:r>
          </a:p>
        </p:txBody>
      </p:sp>
      <p:sp>
        <p:nvSpPr>
          <p:cNvPr id="32" name="r32"/>
          <p:cNvSpPr/>
          <p:nvPr/>
        </p:nvSpPr>
        <p:spPr>
          <a:xfrm>
            <a:off x="9576000" y="1152000"/>
            <a:ext cx="2753000" cy="43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33"/>
          <p:cNvSpPr/>
          <p:nvPr/>
        </p:nvSpPr>
        <p:spPr>
          <a:xfrm>
            <a:off x="9830000" y="1152000"/>
            <a:ext cx="2499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1" i="0" dirty="0">
                <a:solidFill>
                  <a:srgbClr val="FFFFFF"/>
                </a:solidFill>
              </a:rPr>
              <a:t>Texnologiya</a:t>
            </a:r>
          </a:p>
        </p:txBody>
      </p:sp>
      <p:sp>
        <p:nvSpPr>
          <p:cNvPr id="34" name="r34"/>
          <p:cNvSpPr/>
          <p:nvPr/>
        </p:nvSpPr>
        <p:spPr>
          <a:xfrm>
            <a:off x="648000" y="1620000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35"/>
          <p:cNvSpPr/>
          <p:nvPr/>
        </p:nvSpPr>
        <p:spPr>
          <a:xfrm>
            <a:off x="902000" y="1747000"/>
            <a:ext cx="249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D97706"/>
                </a:solidFill>
              </a:rPr>
              <a:t>GUI Moduli</a:t>
            </a:r>
          </a:p>
        </p:txBody>
      </p:sp>
      <p:sp>
        <p:nvSpPr>
          <p:cNvPr id="36" name="r36"/>
          <p:cNvSpPr/>
          <p:nvPr/>
        </p:nvSpPr>
        <p:spPr>
          <a:xfrm>
            <a:off x="3671999" y="1620000"/>
            <a:ext cx="563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37"/>
          <p:cNvSpPr/>
          <p:nvPr/>
        </p:nvSpPr>
        <p:spPr>
          <a:xfrm>
            <a:off x="3925999" y="1747000"/>
            <a:ext cx="537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Foydalanuvchi interfeysi, tugmalar, grafik</a:t>
            </a:r>
          </a:p>
        </p:txBody>
      </p:sp>
      <p:sp>
        <p:nvSpPr>
          <p:cNvPr id="38" name="r38"/>
          <p:cNvSpPr/>
          <p:nvPr/>
        </p:nvSpPr>
        <p:spPr>
          <a:xfrm>
            <a:off x="9576000" y="1620000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39"/>
          <p:cNvSpPr/>
          <p:nvPr/>
        </p:nvSpPr>
        <p:spPr>
          <a:xfrm>
            <a:off x="9830000" y="1747000"/>
            <a:ext cx="249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Python Tkinter</a:t>
            </a:r>
          </a:p>
        </p:txBody>
      </p:sp>
      <p:sp>
        <p:nvSpPr>
          <p:cNvPr id="40" name="r40"/>
          <p:cNvSpPr/>
          <p:nvPr/>
        </p:nvSpPr>
        <p:spPr>
          <a:xfrm>
            <a:off x="648000" y="2376000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41"/>
          <p:cNvSpPr/>
          <p:nvPr/>
        </p:nvSpPr>
        <p:spPr>
          <a:xfrm>
            <a:off x="902000" y="2503000"/>
            <a:ext cx="249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D97706"/>
                </a:solidFill>
              </a:rPr>
              <a:t>Tarmoq Skaneri</a:t>
            </a:r>
          </a:p>
        </p:txBody>
      </p:sp>
      <p:sp>
        <p:nvSpPr>
          <p:cNvPr id="42" name="r42"/>
          <p:cNvSpPr/>
          <p:nvPr/>
        </p:nvSpPr>
        <p:spPr>
          <a:xfrm>
            <a:off x="3671999" y="2376000"/>
            <a:ext cx="563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43"/>
          <p:cNvSpPr/>
          <p:nvPr/>
        </p:nvSpPr>
        <p:spPr>
          <a:xfrm>
            <a:off x="3925999" y="2503000"/>
            <a:ext cx="537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IP skanerlash, qurilmalarni aniqlash</a:t>
            </a:r>
          </a:p>
        </p:txBody>
      </p:sp>
      <p:sp>
        <p:nvSpPr>
          <p:cNvPr id="44" name="r44"/>
          <p:cNvSpPr/>
          <p:nvPr/>
        </p:nvSpPr>
        <p:spPr>
          <a:xfrm>
            <a:off x="9576000" y="2376000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45"/>
          <p:cNvSpPr/>
          <p:nvPr/>
        </p:nvSpPr>
        <p:spPr>
          <a:xfrm>
            <a:off x="9830000" y="2503000"/>
            <a:ext cx="249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socket / nmap</a:t>
            </a:r>
          </a:p>
        </p:txBody>
      </p:sp>
      <p:sp>
        <p:nvSpPr>
          <p:cNvPr id="46" name="r46"/>
          <p:cNvSpPr/>
          <p:nvPr/>
        </p:nvSpPr>
        <p:spPr>
          <a:xfrm>
            <a:off x="648000" y="3132000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47"/>
          <p:cNvSpPr/>
          <p:nvPr/>
        </p:nvSpPr>
        <p:spPr>
          <a:xfrm>
            <a:off x="902000" y="3259000"/>
            <a:ext cx="249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D97706"/>
                </a:solidFill>
              </a:rPr>
              <a:t>Monitor Moduli</a:t>
            </a:r>
          </a:p>
        </p:txBody>
      </p:sp>
      <p:sp>
        <p:nvSpPr>
          <p:cNvPr id="48" name="r48"/>
          <p:cNvSpPr/>
          <p:nvPr/>
        </p:nvSpPr>
        <p:spPr>
          <a:xfrm>
            <a:off x="3671999" y="3132000"/>
            <a:ext cx="563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49"/>
          <p:cNvSpPr/>
          <p:nvPr/>
        </p:nvSpPr>
        <p:spPr>
          <a:xfrm>
            <a:off x="3925999" y="3259000"/>
            <a:ext cx="537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CPU, RAM, Disk, Temperatura kuzatish</a:t>
            </a:r>
          </a:p>
        </p:txBody>
      </p:sp>
      <p:sp>
        <p:nvSpPr>
          <p:cNvPr id="50" name="r50"/>
          <p:cNvSpPr/>
          <p:nvPr/>
        </p:nvSpPr>
        <p:spPr>
          <a:xfrm>
            <a:off x="9576000" y="3132000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51"/>
          <p:cNvSpPr/>
          <p:nvPr/>
        </p:nvSpPr>
        <p:spPr>
          <a:xfrm>
            <a:off x="9830000" y="3259000"/>
            <a:ext cx="249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psutil</a:t>
            </a:r>
          </a:p>
        </p:txBody>
      </p:sp>
      <p:sp>
        <p:nvSpPr>
          <p:cNvPr id="52" name="r52"/>
          <p:cNvSpPr/>
          <p:nvPr/>
        </p:nvSpPr>
        <p:spPr>
          <a:xfrm>
            <a:off x="648000" y="3888000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53"/>
          <p:cNvSpPr/>
          <p:nvPr/>
        </p:nvSpPr>
        <p:spPr>
          <a:xfrm>
            <a:off x="902000" y="4015000"/>
            <a:ext cx="249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D97706"/>
                </a:solidFill>
              </a:rPr>
              <a:t>Ma'lumotlar Bazasi</a:t>
            </a:r>
          </a:p>
        </p:txBody>
      </p:sp>
      <p:sp>
        <p:nvSpPr>
          <p:cNvPr id="54" name="r54"/>
          <p:cNvSpPr/>
          <p:nvPr/>
        </p:nvSpPr>
        <p:spPr>
          <a:xfrm>
            <a:off x="3671999" y="3888000"/>
            <a:ext cx="563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55"/>
          <p:cNvSpPr/>
          <p:nvPr/>
        </p:nvSpPr>
        <p:spPr>
          <a:xfrm>
            <a:off x="3925999" y="4015000"/>
            <a:ext cx="537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Monitoring ma'lumotlarini saqlash</a:t>
            </a:r>
          </a:p>
        </p:txBody>
      </p:sp>
      <p:sp>
        <p:nvSpPr>
          <p:cNvPr id="56" name="r56"/>
          <p:cNvSpPr/>
          <p:nvPr/>
        </p:nvSpPr>
        <p:spPr>
          <a:xfrm>
            <a:off x="9576000" y="3888000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57"/>
          <p:cNvSpPr/>
          <p:nvPr/>
        </p:nvSpPr>
        <p:spPr>
          <a:xfrm>
            <a:off x="9830000" y="4015000"/>
            <a:ext cx="249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SQLite3</a:t>
            </a:r>
          </a:p>
        </p:txBody>
      </p:sp>
      <p:sp>
        <p:nvSpPr>
          <p:cNvPr id="58" name="r58"/>
          <p:cNvSpPr/>
          <p:nvPr/>
        </p:nvSpPr>
        <p:spPr>
          <a:xfrm>
            <a:off x="648000" y="4644000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59"/>
          <p:cNvSpPr/>
          <p:nvPr/>
        </p:nvSpPr>
        <p:spPr>
          <a:xfrm>
            <a:off x="902000" y="4771000"/>
            <a:ext cx="249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D97706"/>
                </a:solidFill>
              </a:rPr>
              <a:t>Hisobot Generator</a:t>
            </a:r>
          </a:p>
        </p:txBody>
      </p:sp>
      <p:sp>
        <p:nvSpPr>
          <p:cNvPr id="60" name="r60"/>
          <p:cNvSpPr/>
          <p:nvPr/>
        </p:nvSpPr>
        <p:spPr>
          <a:xfrm>
            <a:off x="3671999" y="4644000"/>
            <a:ext cx="563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61"/>
          <p:cNvSpPr/>
          <p:nvPr/>
        </p:nvSpPr>
        <p:spPr>
          <a:xfrm>
            <a:off x="3925999" y="4771000"/>
            <a:ext cx="537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PDF va Excel hisobotlar tayyorlash</a:t>
            </a:r>
          </a:p>
        </p:txBody>
      </p:sp>
      <p:sp>
        <p:nvSpPr>
          <p:cNvPr id="62" name="r62"/>
          <p:cNvSpPr/>
          <p:nvPr/>
        </p:nvSpPr>
        <p:spPr>
          <a:xfrm>
            <a:off x="9576000" y="4644000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63"/>
          <p:cNvSpPr/>
          <p:nvPr/>
        </p:nvSpPr>
        <p:spPr>
          <a:xfrm>
            <a:off x="9830000" y="4771000"/>
            <a:ext cx="249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ReportLab / openpyxl</a:t>
            </a:r>
          </a:p>
        </p:txBody>
      </p:sp>
      <p:sp>
        <p:nvSpPr>
          <p:cNvPr id="64" name="r64"/>
          <p:cNvSpPr/>
          <p:nvPr/>
        </p:nvSpPr>
        <p:spPr>
          <a:xfrm>
            <a:off x="648000" y="5400000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65"/>
          <p:cNvSpPr/>
          <p:nvPr/>
        </p:nvSpPr>
        <p:spPr>
          <a:xfrm>
            <a:off x="902000" y="5527000"/>
            <a:ext cx="249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D97706"/>
                </a:solidFill>
              </a:rPr>
              <a:t>Ogohlantirish</a:t>
            </a:r>
          </a:p>
        </p:txBody>
      </p:sp>
      <p:sp>
        <p:nvSpPr>
          <p:cNvPr id="66" name="r66"/>
          <p:cNvSpPr/>
          <p:nvPr/>
        </p:nvSpPr>
        <p:spPr>
          <a:xfrm>
            <a:off x="3671999" y="5400000"/>
            <a:ext cx="563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67"/>
          <p:cNvSpPr/>
          <p:nvPr/>
        </p:nvSpPr>
        <p:spPr>
          <a:xfrm>
            <a:off x="3925999" y="5527000"/>
            <a:ext cx="537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Kritik holatlarda email/SMS yuborish</a:t>
            </a:r>
          </a:p>
        </p:txBody>
      </p:sp>
      <p:sp>
        <p:nvSpPr>
          <p:cNvPr id="68" name="r68"/>
          <p:cNvSpPr/>
          <p:nvPr/>
        </p:nvSpPr>
        <p:spPr>
          <a:xfrm>
            <a:off x="9576000" y="5400000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t69"/>
          <p:cNvSpPr/>
          <p:nvPr/>
        </p:nvSpPr>
        <p:spPr>
          <a:xfrm>
            <a:off x="9830000" y="5527000"/>
            <a:ext cx="2499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smtplib / Twilio</a:t>
            </a:r>
          </a:p>
        </p:txBody>
      </p:sp>
      <p:sp>
        <p:nvSpPr>
          <p:cNvPr id="70" name="t70"/>
          <p:cNvSpPr/>
          <p:nvPr/>
        </p:nvSpPr>
        <p:spPr>
          <a:xfrm>
            <a:off x="11340000" y="6408000"/>
            <a:ext cx="7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r"/>
            <a:r>
              <a:rPr lang="uz-UZ" sz="1400" b="0" i="0" dirty="0">
                <a:solidFill>
                  <a:srgbClr val="6B7280"/>
                </a:solidFill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2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0" y="0"/>
            <a:ext cx="12193200" cy="406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0" y="6451600"/>
            <a:ext cx="12193200" cy="406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0" y="406400"/>
            <a:ext cx="152400" cy="6045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25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26"/>
          <p:cNvSpPr/>
          <p:nvPr/>
        </p:nvSpPr>
        <p:spPr>
          <a:xfrm>
            <a:off x="648000" y="180000"/>
            <a:ext cx="1260000" cy="360000"/>
          </a:xfrm>
          <a:prstGeom prst="roundRect">
            <a:avLst>
              <a:gd name="adj" fmla="val 40000"/>
            </a:avLst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27"/>
          <p:cNvSpPr/>
          <p:nvPr/>
        </p:nvSpPr>
        <p:spPr>
          <a:xfrm>
            <a:off x="684000" y="180000"/>
            <a:ext cx="1188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000" b="1" i="0" dirty="0">
                <a:solidFill>
                  <a:srgbClr val="FFFFFF"/>
                </a:solidFill>
              </a:rPr>
              <a:t>DD 4</a:t>
            </a:r>
          </a:p>
        </p:txBody>
      </p:sp>
      <p:sp>
        <p:nvSpPr>
          <p:cNvPr id="28" name="t28"/>
          <p:cNvSpPr/>
          <p:nvPr/>
        </p:nvSpPr>
        <p:spPr>
          <a:xfrm>
            <a:off x="2088000" y="288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200" b="1" i="0" dirty="0">
                <a:solidFill>
                  <a:srgbClr val="1E1B4B"/>
                </a:solidFill>
              </a:rPr>
              <a:t>Loyihani doimiy yaxshi texnik tushunish va ko'nikmalarni qo'llash</a:t>
            </a:r>
          </a:p>
        </p:txBody>
      </p:sp>
      <p:sp>
        <p:nvSpPr>
          <p:cNvPr id="29" name="r29"/>
          <p:cNvSpPr/>
          <p:nvPr/>
        </p:nvSpPr>
        <p:spPr>
          <a:xfrm>
            <a:off x="648000" y="684000"/>
            <a:ext cx="2880000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30"/>
          <p:cNvSpPr/>
          <p:nvPr/>
        </p:nvSpPr>
        <p:spPr>
          <a:xfrm>
            <a:off x="648000" y="900000"/>
            <a:ext cx="10980000" cy="1007999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31"/>
          <p:cNvSpPr/>
          <p:nvPr/>
        </p:nvSpPr>
        <p:spPr>
          <a:xfrm>
            <a:off x="648000" y="900000"/>
            <a:ext cx="144000" cy="100799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32"/>
          <p:cNvSpPr/>
          <p:nvPr/>
        </p:nvSpPr>
        <p:spPr>
          <a:xfrm>
            <a:off x="864000" y="954000"/>
            <a:ext cx="3960000" cy="396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059669"/>
                </a:solidFill>
              </a:rPr>
              <a:t>Tarmoq skanerlash</a:t>
            </a:r>
          </a:p>
        </p:txBody>
      </p:sp>
      <p:sp>
        <p:nvSpPr>
          <p:cNvPr id="33" name="t33"/>
          <p:cNvSpPr/>
          <p:nvPr/>
        </p:nvSpPr>
        <p:spPr>
          <a:xfrm>
            <a:off x="864000" y="1368000"/>
            <a:ext cx="648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Nmap bilan 150+ qurilmani aniqlash</a:t>
            </a:r>
          </a:p>
        </p:txBody>
      </p:sp>
      <p:sp>
        <p:nvSpPr>
          <p:cNvPr id="34" name="r34"/>
          <p:cNvSpPr/>
          <p:nvPr/>
        </p:nvSpPr>
        <p:spPr>
          <a:xfrm>
            <a:off x="9540000" y="1151999"/>
            <a:ext cx="1980000" cy="4320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35"/>
          <p:cNvSpPr/>
          <p:nvPr/>
        </p:nvSpPr>
        <p:spPr>
          <a:xfrm>
            <a:off x="9540000" y="1151999"/>
            <a:ext cx="198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500" b="1" i="0" dirty="0">
                <a:solidFill>
                  <a:srgbClr val="FFFFFF"/>
                </a:solidFill>
              </a:rPr>
              <a:t>100% aniqlik</a:t>
            </a:r>
          </a:p>
        </p:txBody>
      </p:sp>
      <p:sp>
        <p:nvSpPr>
          <p:cNvPr id="36" name="r36"/>
          <p:cNvSpPr/>
          <p:nvPr/>
        </p:nvSpPr>
        <p:spPr>
          <a:xfrm>
            <a:off x="648000" y="2052000"/>
            <a:ext cx="10980000" cy="1007999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37"/>
          <p:cNvSpPr/>
          <p:nvPr/>
        </p:nvSpPr>
        <p:spPr>
          <a:xfrm>
            <a:off x="648000" y="2052000"/>
            <a:ext cx="144000" cy="100799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38"/>
          <p:cNvSpPr/>
          <p:nvPr/>
        </p:nvSpPr>
        <p:spPr>
          <a:xfrm>
            <a:off x="864000" y="2106000"/>
            <a:ext cx="3960000" cy="396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D97706"/>
                </a:solidFill>
              </a:rPr>
              <a:t>Python dasturlash</a:t>
            </a:r>
          </a:p>
        </p:txBody>
      </p:sp>
      <p:sp>
        <p:nvSpPr>
          <p:cNvPr id="39" name="t39"/>
          <p:cNvSpPr/>
          <p:nvPr/>
        </p:nvSpPr>
        <p:spPr>
          <a:xfrm>
            <a:off x="864000" y="2520000"/>
            <a:ext cx="648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Monitor va hisobot modullarini yozish</a:t>
            </a:r>
          </a:p>
        </p:txBody>
      </p:sp>
      <p:sp>
        <p:nvSpPr>
          <p:cNvPr id="40" name="r40"/>
          <p:cNvSpPr/>
          <p:nvPr/>
        </p:nvSpPr>
        <p:spPr>
          <a:xfrm>
            <a:off x="9540000" y="2303999"/>
            <a:ext cx="1980000" cy="432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41"/>
          <p:cNvSpPr/>
          <p:nvPr/>
        </p:nvSpPr>
        <p:spPr>
          <a:xfrm>
            <a:off x="9540000" y="2303999"/>
            <a:ext cx="198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500" b="1" i="0" dirty="0">
                <a:solidFill>
                  <a:srgbClr val="FFFFFF"/>
                </a:solidFill>
              </a:rPr>
              <a:t>Avtomatik tizim</a:t>
            </a:r>
          </a:p>
        </p:txBody>
      </p:sp>
      <p:sp>
        <p:nvSpPr>
          <p:cNvPr id="42" name="r42"/>
          <p:cNvSpPr/>
          <p:nvPr/>
        </p:nvSpPr>
        <p:spPr>
          <a:xfrm>
            <a:off x="648000" y="3204000"/>
            <a:ext cx="10980000" cy="1007999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43"/>
          <p:cNvSpPr/>
          <p:nvPr/>
        </p:nvSpPr>
        <p:spPr>
          <a:xfrm>
            <a:off x="648000" y="3204000"/>
            <a:ext cx="144000" cy="100799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44"/>
          <p:cNvSpPr/>
          <p:nvPr/>
        </p:nvSpPr>
        <p:spPr>
          <a:xfrm>
            <a:off x="864000" y="3258000"/>
            <a:ext cx="3960000" cy="396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2563EB"/>
                </a:solidFill>
              </a:rPr>
              <a:t>SQL baza</a:t>
            </a:r>
          </a:p>
        </p:txBody>
      </p:sp>
      <p:sp>
        <p:nvSpPr>
          <p:cNvPr id="45" name="t45"/>
          <p:cNvSpPr/>
          <p:nvPr/>
        </p:nvSpPr>
        <p:spPr>
          <a:xfrm>
            <a:off x="864000" y="3672000"/>
            <a:ext cx="648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3 oylik monitoring ma'lumotlari</a:t>
            </a:r>
          </a:p>
        </p:txBody>
      </p:sp>
      <p:sp>
        <p:nvSpPr>
          <p:cNvPr id="46" name="r46"/>
          <p:cNvSpPr/>
          <p:nvPr/>
        </p:nvSpPr>
        <p:spPr>
          <a:xfrm>
            <a:off x="9540000" y="3455999"/>
            <a:ext cx="1980000" cy="432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47"/>
          <p:cNvSpPr/>
          <p:nvPr/>
        </p:nvSpPr>
        <p:spPr>
          <a:xfrm>
            <a:off x="9540000" y="3455999"/>
            <a:ext cx="198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500" b="1" i="0" dirty="0">
                <a:solidFill>
                  <a:srgbClr val="FFFFFF"/>
                </a:solidFill>
              </a:rPr>
              <a:t>Tezkor so'rovlar</a:t>
            </a:r>
          </a:p>
        </p:txBody>
      </p:sp>
      <p:sp>
        <p:nvSpPr>
          <p:cNvPr id="48" name="r48"/>
          <p:cNvSpPr/>
          <p:nvPr/>
        </p:nvSpPr>
        <p:spPr>
          <a:xfrm>
            <a:off x="648000" y="4356000"/>
            <a:ext cx="10980000" cy="1007999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49"/>
          <p:cNvSpPr/>
          <p:nvPr/>
        </p:nvSpPr>
        <p:spPr>
          <a:xfrm>
            <a:off x="648000" y="4356000"/>
            <a:ext cx="144000" cy="1007999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50"/>
          <p:cNvSpPr/>
          <p:nvPr/>
        </p:nvSpPr>
        <p:spPr>
          <a:xfrm>
            <a:off x="864000" y="4410000"/>
            <a:ext cx="3960000" cy="396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E11D48"/>
                </a:solidFill>
              </a:rPr>
              <a:t>Xavfsizlik</a:t>
            </a:r>
          </a:p>
        </p:txBody>
      </p:sp>
      <p:sp>
        <p:nvSpPr>
          <p:cNvPr id="51" name="t51"/>
          <p:cNvSpPr/>
          <p:nvPr/>
        </p:nvSpPr>
        <p:spPr>
          <a:xfrm>
            <a:off x="864000" y="4824000"/>
            <a:ext cx="648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SHA-256 shifrlash joriy etish</a:t>
            </a:r>
          </a:p>
        </p:txBody>
      </p:sp>
      <p:sp>
        <p:nvSpPr>
          <p:cNvPr id="52" name="r52"/>
          <p:cNvSpPr/>
          <p:nvPr/>
        </p:nvSpPr>
        <p:spPr>
          <a:xfrm>
            <a:off x="9540000" y="4607999"/>
            <a:ext cx="1980000" cy="4320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53"/>
          <p:cNvSpPr/>
          <p:nvPr/>
        </p:nvSpPr>
        <p:spPr>
          <a:xfrm>
            <a:off x="9540000" y="4607999"/>
            <a:ext cx="198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500" b="1" i="0" dirty="0">
                <a:solidFill>
                  <a:srgbClr val="FFFFFF"/>
                </a:solidFill>
              </a:rPr>
              <a:t>0 buzilish hodisasi</a:t>
            </a:r>
          </a:p>
        </p:txBody>
      </p:sp>
      <p:sp>
        <p:nvSpPr>
          <p:cNvPr id="54" name="r54"/>
          <p:cNvSpPr/>
          <p:nvPr/>
        </p:nvSpPr>
        <p:spPr>
          <a:xfrm>
            <a:off x="648000" y="5544000"/>
            <a:ext cx="10980000" cy="648000"/>
          </a:xfrm>
          <a:prstGeom prst="roundRect">
            <a:avLst>
              <a:gd name="adj" fmla="val 6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55"/>
          <p:cNvSpPr/>
          <p:nvPr/>
        </p:nvSpPr>
        <p:spPr>
          <a:xfrm>
            <a:off x="648000" y="5544000"/>
            <a:ext cx="144000" cy="64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56"/>
          <p:cNvSpPr/>
          <p:nvPr/>
        </p:nvSpPr>
        <p:spPr>
          <a:xfrm>
            <a:off x="864000" y="5580000"/>
            <a:ext cx="10800000" cy="576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D97706"/>
                </a:solidFill>
              </a:rPr>
              <a:t>Multithreading texnikasi: Skanerlash vaqti 12 daqiqadan 45 soniyaga tushirildi → 94% samaradorlik oshishi</a:t>
            </a:r>
          </a:p>
        </p:txBody>
      </p:sp>
      <p:sp>
        <p:nvSpPr>
          <p:cNvPr id="57" name="t57"/>
          <p:cNvSpPr/>
          <p:nvPr/>
        </p:nvSpPr>
        <p:spPr>
          <a:xfrm>
            <a:off x="11340000" y="6408000"/>
            <a:ext cx="7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r"/>
            <a:r>
              <a:rPr lang="uz-UZ" sz="1400" b="0" i="0" dirty="0">
                <a:solidFill>
                  <a:srgbClr val="6B7280"/>
                </a:solidFill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2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0" y="0"/>
            <a:ext cx="12193200" cy="406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0" y="6451600"/>
            <a:ext cx="12193200" cy="406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0" y="406400"/>
            <a:ext cx="152400" cy="6045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25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26"/>
          <p:cNvSpPr/>
          <p:nvPr/>
        </p:nvSpPr>
        <p:spPr>
          <a:xfrm>
            <a:off x="648000" y="180000"/>
            <a:ext cx="1368000" cy="360000"/>
          </a:xfrm>
          <a:prstGeom prst="roundRect">
            <a:avLst>
              <a:gd name="adj" fmla="val 40000"/>
            </a:avLst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27"/>
          <p:cNvSpPr/>
          <p:nvPr/>
        </p:nvSpPr>
        <p:spPr>
          <a:xfrm>
            <a:off x="684000" y="180000"/>
            <a:ext cx="1296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000" b="1" i="0" dirty="0">
                <a:solidFill>
                  <a:srgbClr val="FFFFFF"/>
                </a:solidFill>
              </a:rPr>
              <a:t>D.M4</a:t>
            </a:r>
          </a:p>
        </p:txBody>
      </p:sp>
      <p:sp>
        <p:nvSpPr>
          <p:cNvPr id="28" name="t28"/>
          <p:cNvSpPr/>
          <p:nvPr/>
        </p:nvSpPr>
        <p:spPr>
          <a:xfrm>
            <a:off x="2160000" y="288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200" b="1" i="0" dirty="0">
                <a:solidFill>
                  <a:srgbClr val="1E1B4B"/>
                </a:solidFill>
              </a:rPr>
              <a:t>AT loyihasi davomida xatti-harakatlarni yaxshilashni tavsiya etish</a:t>
            </a:r>
          </a:p>
        </p:txBody>
      </p:sp>
      <p:sp>
        <p:nvSpPr>
          <p:cNvPr id="29" name="r29"/>
          <p:cNvSpPr/>
          <p:nvPr/>
        </p:nvSpPr>
        <p:spPr>
          <a:xfrm>
            <a:off x="648000" y="684000"/>
            <a:ext cx="2880000" cy="76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30"/>
          <p:cNvSpPr/>
          <p:nvPr/>
        </p:nvSpPr>
        <p:spPr>
          <a:xfrm>
            <a:off x="648000" y="1007999"/>
            <a:ext cx="4860000" cy="2088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31"/>
          <p:cNvSpPr/>
          <p:nvPr/>
        </p:nvSpPr>
        <p:spPr>
          <a:xfrm>
            <a:off x="648000" y="1007999"/>
            <a:ext cx="4860000" cy="203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32"/>
          <p:cNvSpPr/>
          <p:nvPr/>
        </p:nvSpPr>
        <p:spPr>
          <a:xfrm>
            <a:off x="792000" y="1151999"/>
            <a:ext cx="457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1" i="0" dirty="0">
                <a:solidFill>
                  <a:srgbClr val="D97706"/>
                </a:solidFill>
              </a:rPr>
              <a:t>📋 Sprint Planning</a:t>
            </a:r>
          </a:p>
        </p:txBody>
      </p:sp>
      <p:sp>
        <p:nvSpPr>
          <p:cNvPr id="33" name="t33"/>
          <p:cNvSpPr/>
          <p:nvPr/>
        </p:nvSpPr>
        <p:spPr>
          <a:xfrm>
            <a:off x="792000" y="1655999"/>
            <a:ext cx="4572000" cy="13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650" b="0" i="0" dirty="0">
                <a:solidFill>
                  <a:srgbClr val="374151"/>
                </a:solidFill>
              </a:rPr>
              <a:t>Har sprint boshida 2 soatlik talablar sessiyasi — kechikishni 70% kamaytiradi</a:t>
            </a:r>
          </a:p>
        </p:txBody>
      </p:sp>
      <p:sp>
        <p:nvSpPr>
          <p:cNvPr id="34" name="r34"/>
          <p:cNvSpPr/>
          <p:nvPr/>
        </p:nvSpPr>
        <p:spPr>
          <a:xfrm>
            <a:off x="5940000" y="1007999"/>
            <a:ext cx="4860000" cy="2088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35"/>
          <p:cNvSpPr/>
          <p:nvPr/>
        </p:nvSpPr>
        <p:spPr>
          <a:xfrm>
            <a:off x="5940000" y="1007999"/>
            <a:ext cx="4860000" cy="20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36"/>
          <p:cNvSpPr/>
          <p:nvPr/>
        </p:nvSpPr>
        <p:spPr>
          <a:xfrm>
            <a:off x="6084000" y="1151999"/>
            <a:ext cx="457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1" i="0" dirty="0">
                <a:solidFill>
                  <a:srgbClr val="2563EB"/>
                </a:solidFill>
              </a:rPr>
              <a:t>🧪 CI/CD Pipeline</a:t>
            </a:r>
          </a:p>
        </p:txBody>
      </p:sp>
      <p:sp>
        <p:nvSpPr>
          <p:cNvPr id="37" name="t37"/>
          <p:cNvSpPr/>
          <p:nvPr/>
        </p:nvSpPr>
        <p:spPr>
          <a:xfrm>
            <a:off x="6084000" y="1655999"/>
            <a:ext cx="4572000" cy="13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650" b="0" i="0" dirty="0">
                <a:solidFill>
                  <a:srgbClr val="374151"/>
                </a:solidFill>
              </a:rPr>
              <a:t>GitHub Actions bilan avtomatik test va deploy — nosoz kod oldini oladi</a:t>
            </a:r>
          </a:p>
        </p:txBody>
      </p:sp>
      <p:sp>
        <p:nvSpPr>
          <p:cNvPr id="38" name="r38"/>
          <p:cNvSpPr/>
          <p:nvPr/>
        </p:nvSpPr>
        <p:spPr>
          <a:xfrm>
            <a:off x="648000" y="3420000"/>
            <a:ext cx="3420000" cy="2088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39"/>
          <p:cNvSpPr/>
          <p:nvPr/>
        </p:nvSpPr>
        <p:spPr>
          <a:xfrm>
            <a:off x="648000" y="3420000"/>
            <a:ext cx="3420000" cy="203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40"/>
          <p:cNvSpPr/>
          <p:nvPr/>
        </p:nvSpPr>
        <p:spPr>
          <a:xfrm>
            <a:off x="792000" y="3564000"/>
            <a:ext cx="31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1" i="0" dirty="0">
                <a:solidFill>
                  <a:srgbClr val="34D399"/>
                </a:solidFill>
              </a:rPr>
              <a:t>💾 Avtomatik Backup</a:t>
            </a:r>
          </a:p>
        </p:txBody>
      </p:sp>
      <p:sp>
        <p:nvSpPr>
          <p:cNvPr id="41" name="t41"/>
          <p:cNvSpPr/>
          <p:nvPr/>
        </p:nvSpPr>
        <p:spPr>
          <a:xfrm>
            <a:off x="792000" y="4068000"/>
            <a:ext cx="3132000" cy="13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650" b="0" i="0" dirty="0">
                <a:solidFill>
                  <a:srgbClr val="374151"/>
                </a:solidFill>
              </a:rPr>
              <a:t>Har kecha 02:00 da bulutga backup — ma'lumot yo'qolish xavfi nol</a:t>
            </a:r>
          </a:p>
        </p:txBody>
      </p:sp>
      <p:sp>
        <p:nvSpPr>
          <p:cNvPr id="42" name="r42"/>
          <p:cNvSpPr/>
          <p:nvPr/>
        </p:nvSpPr>
        <p:spPr>
          <a:xfrm>
            <a:off x="4320000" y="3420000"/>
            <a:ext cx="3420000" cy="2088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43"/>
          <p:cNvSpPr/>
          <p:nvPr/>
        </p:nvSpPr>
        <p:spPr>
          <a:xfrm>
            <a:off x="4320000" y="3420000"/>
            <a:ext cx="3420000" cy="2032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44"/>
          <p:cNvSpPr/>
          <p:nvPr/>
        </p:nvSpPr>
        <p:spPr>
          <a:xfrm>
            <a:off x="4464000" y="3564000"/>
            <a:ext cx="31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1" i="0" dirty="0">
                <a:solidFill>
                  <a:srgbClr val="E11D48"/>
                </a:solidFill>
              </a:rPr>
              <a:t>📚 Lunch &amp; Learn</a:t>
            </a:r>
          </a:p>
        </p:txBody>
      </p:sp>
      <p:sp>
        <p:nvSpPr>
          <p:cNvPr id="45" name="t45"/>
          <p:cNvSpPr/>
          <p:nvPr/>
        </p:nvSpPr>
        <p:spPr>
          <a:xfrm>
            <a:off x="4464000" y="4068000"/>
            <a:ext cx="3132000" cy="13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650" b="0" i="0" dirty="0">
                <a:solidFill>
                  <a:srgbClr val="374151"/>
                </a:solidFill>
              </a:rPr>
              <a:t>Har 2 haftada texnik bilim almashish — jamoa darajasini oshiradi</a:t>
            </a:r>
          </a:p>
        </p:txBody>
      </p:sp>
      <p:sp>
        <p:nvSpPr>
          <p:cNvPr id="46" name="r46"/>
          <p:cNvSpPr/>
          <p:nvPr/>
        </p:nvSpPr>
        <p:spPr>
          <a:xfrm>
            <a:off x="7992000" y="3420000"/>
            <a:ext cx="3420000" cy="2088000"/>
          </a:xfrm>
          <a:prstGeom prst="roundRect">
            <a:avLst>
              <a:gd name="adj" fmla="val 8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47"/>
          <p:cNvSpPr/>
          <p:nvPr/>
        </p:nvSpPr>
        <p:spPr>
          <a:xfrm>
            <a:off x="7992000" y="3420000"/>
            <a:ext cx="3420000" cy="203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t48"/>
          <p:cNvSpPr/>
          <p:nvPr/>
        </p:nvSpPr>
        <p:spPr>
          <a:xfrm>
            <a:off x="8136000" y="3564000"/>
            <a:ext cx="31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1" i="0" dirty="0">
                <a:solidFill>
                  <a:srgbClr val="A78BFA"/>
                </a:solidFill>
              </a:rPr>
              <a:t>📝 Doimiy Dokumentatsiya</a:t>
            </a:r>
          </a:p>
        </p:txBody>
      </p:sp>
      <p:sp>
        <p:nvSpPr>
          <p:cNvPr id="49" name="t49"/>
          <p:cNvSpPr/>
          <p:nvPr/>
        </p:nvSpPr>
        <p:spPr>
          <a:xfrm>
            <a:off x="8136000" y="4068000"/>
            <a:ext cx="3132000" cy="13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650" b="0" i="0" dirty="0">
                <a:solidFill>
                  <a:srgbClr val="374151"/>
                </a:solidFill>
              </a:rPr>
              <a:t>Confluence/Notion da real vaqt yangilanish — bus factor kamayadi</a:t>
            </a:r>
          </a:p>
        </p:txBody>
      </p:sp>
      <p:sp>
        <p:nvSpPr>
          <p:cNvPr id="50" name="t50"/>
          <p:cNvSpPr/>
          <p:nvPr/>
        </p:nvSpPr>
        <p:spPr>
          <a:xfrm>
            <a:off x="11340000" y="6408000"/>
            <a:ext cx="7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r"/>
            <a:r>
              <a:rPr lang="uz-UZ" sz="1400" b="0" i="0" dirty="0">
                <a:solidFill>
                  <a:srgbClr val="6B7280"/>
                </a:solidFill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2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0" y="0"/>
            <a:ext cx="12193200" cy="406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0" y="6451600"/>
            <a:ext cx="12193200" cy="406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0" y="406400"/>
            <a:ext cx="152400" cy="6045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25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26"/>
          <p:cNvSpPr/>
          <p:nvPr/>
        </p:nvSpPr>
        <p:spPr>
          <a:xfrm>
            <a:off x="648000" y="180000"/>
            <a:ext cx="1260000" cy="3600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27"/>
          <p:cNvSpPr/>
          <p:nvPr/>
        </p:nvSpPr>
        <p:spPr>
          <a:xfrm>
            <a:off x="684000" y="180000"/>
            <a:ext cx="1188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000" b="1" i="0" dirty="0">
                <a:solidFill>
                  <a:srgbClr val="FFFFFF"/>
                </a:solidFill>
              </a:rPr>
              <a:t>DP 8</a:t>
            </a:r>
          </a:p>
        </p:txBody>
      </p:sp>
      <p:sp>
        <p:nvSpPr>
          <p:cNvPr id="28" name="t28"/>
          <p:cNvSpPr/>
          <p:nvPr/>
        </p:nvSpPr>
        <p:spPr>
          <a:xfrm>
            <a:off x="2088000" y="288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200" b="1" i="0" dirty="0">
                <a:solidFill>
                  <a:srgbClr val="1E1B4B"/>
                </a:solidFill>
              </a:rPr>
              <a:t>Loyiha boshqarish ko'nikmalaridan foydalanganligini tushuntirish</a:t>
            </a:r>
          </a:p>
        </p:txBody>
      </p:sp>
      <p:sp>
        <p:nvSpPr>
          <p:cNvPr id="29" name="r29"/>
          <p:cNvSpPr/>
          <p:nvPr/>
        </p:nvSpPr>
        <p:spPr>
          <a:xfrm>
            <a:off x="648000" y="684000"/>
            <a:ext cx="2880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30"/>
          <p:cNvSpPr/>
          <p:nvPr/>
        </p:nvSpPr>
        <p:spPr>
          <a:xfrm>
            <a:off x="648000" y="3060000"/>
            <a:ext cx="10980000" cy="1016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31"/>
          <p:cNvSpPr/>
          <p:nvPr/>
        </p:nvSpPr>
        <p:spPr>
          <a:xfrm>
            <a:off x="648000" y="1080000"/>
            <a:ext cx="1728000" cy="1872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32"/>
          <p:cNvSpPr/>
          <p:nvPr/>
        </p:nvSpPr>
        <p:spPr>
          <a:xfrm>
            <a:off x="648000" y="1080000"/>
            <a:ext cx="1728000" cy="203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33"/>
          <p:cNvSpPr/>
          <p:nvPr/>
        </p:nvSpPr>
        <p:spPr>
          <a:xfrm>
            <a:off x="648000" y="1152000"/>
            <a:ext cx="1728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1" i="0" dirty="0">
                <a:solidFill>
                  <a:srgbClr val="D97706"/>
                </a:solidFill>
              </a:rPr>
              <a:t>1-hafta</a:t>
            </a:r>
          </a:p>
        </p:txBody>
      </p:sp>
      <p:sp>
        <p:nvSpPr>
          <p:cNvPr id="34" name="t34"/>
          <p:cNvSpPr/>
          <p:nvPr/>
        </p:nvSpPr>
        <p:spPr>
          <a:xfrm>
            <a:off x="648000" y="1584000"/>
            <a:ext cx="1728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000" b="1" i="0" dirty="0">
                <a:solidFill>
                  <a:srgbClr val="1E1B4B"/>
                </a:solidFill>
              </a:rPr>
              <a:t>Tahlil</a:t>
            </a:r>
          </a:p>
        </p:txBody>
      </p:sp>
      <p:sp>
        <p:nvSpPr>
          <p:cNvPr id="35" name="t35"/>
          <p:cNvSpPr/>
          <p:nvPr/>
        </p:nvSpPr>
        <p:spPr>
          <a:xfrm>
            <a:off x="648000" y="2088000"/>
            <a:ext cx="1728000" cy="79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500" b="0" i="0" dirty="0">
                <a:solidFill>
                  <a:srgbClr val="374151"/>
                </a:solidFill>
              </a:rPr>
              <a:t>TOR hujjati tayyorlandi</a:t>
            </a:r>
          </a:p>
        </p:txBody>
      </p:sp>
      <p:sp>
        <p:nvSpPr>
          <p:cNvPr id="36" name="r36"/>
          <p:cNvSpPr/>
          <p:nvPr/>
        </p:nvSpPr>
        <p:spPr>
          <a:xfrm>
            <a:off x="1296000" y="2951999"/>
            <a:ext cx="432000" cy="432000"/>
          </a:xfrm>
          <a:prstGeom prst="roundRect">
            <a:avLst>
              <a:gd name="adj" fmla="val 400000"/>
            </a:avLst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37"/>
          <p:cNvSpPr/>
          <p:nvPr/>
        </p:nvSpPr>
        <p:spPr>
          <a:xfrm>
            <a:off x="2520000" y="1080000"/>
            <a:ext cx="1728000" cy="1872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38"/>
          <p:cNvSpPr/>
          <p:nvPr/>
        </p:nvSpPr>
        <p:spPr>
          <a:xfrm>
            <a:off x="2520000" y="1080000"/>
            <a:ext cx="1728000" cy="20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39"/>
          <p:cNvSpPr/>
          <p:nvPr/>
        </p:nvSpPr>
        <p:spPr>
          <a:xfrm>
            <a:off x="2520000" y="1152000"/>
            <a:ext cx="1728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1" i="0" dirty="0">
                <a:solidFill>
                  <a:srgbClr val="2563EB"/>
                </a:solidFill>
              </a:rPr>
              <a:t>3-5 kun</a:t>
            </a:r>
          </a:p>
        </p:txBody>
      </p:sp>
      <p:sp>
        <p:nvSpPr>
          <p:cNvPr id="40" name="t40"/>
          <p:cNvSpPr/>
          <p:nvPr/>
        </p:nvSpPr>
        <p:spPr>
          <a:xfrm>
            <a:off x="2520000" y="1584000"/>
            <a:ext cx="1728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000" b="1" i="0" dirty="0">
                <a:solidFill>
                  <a:srgbClr val="1E1B4B"/>
                </a:solidFill>
              </a:rPr>
              <a:t>Arxitektura</a:t>
            </a:r>
          </a:p>
        </p:txBody>
      </p:sp>
      <p:sp>
        <p:nvSpPr>
          <p:cNvPr id="41" name="t41"/>
          <p:cNvSpPr/>
          <p:nvPr/>
        </p:nvSpPr>
        <p:spPr>
          <a:xfrm>
            <a:off x="2520000" y="2088000"/>
            <a:ext cx="1728000" cy="79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500" b="0" i="0" dirty="0">
                <a:solidFill>
                  <a:srgbClr val="374151"/>
                </a:solidFill>
              </a:rPr>
              <a:t>UML diagrammalar yaratildi</a:t>
            </a:r>
          </a:p>
        </p:txBody>
      </p:sp>
      <p:sp>
        <p:nvSpPr>
          <p:cNvPr id="42" name="r42"/>
          <p:cNvSpPr/>
          <p:nvPr/>
        </p:nvSpPr>
        <p:spPr>
          <a:xfrm>
            <a:off x="3168000" y="2951999"/>
            <a:ext cx="432000" cy="432000"/>
          </a:xfrm>
          <a:prstGeom prst="roundRect">
            <a:avLst>
              <a:gd name="adj" fmla="val 40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43"/>
          <p:cNvSpPr/>
          <p:nvPr/>
        </p:nvSpPr>
        <p:spPr>
          <a:xfrm>
            <a:off x="4392000" y="1080000"/>
            <a:ext cx="1728000" cy="1872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44"/>
          <p:cNvSpPr/>
          <p:nvPr/>
        </p:nvSpPr>
        <p:spPr>
          <a:xfrm>
            <a:off x="4392000" y="1080000"/>
            <a:ext cx="1728000" cy="20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45"/>
          <p:cNvSpPr/>
          <p:nvPr/>
        </p:nvSpPr>
        <p:spPr>
          <a:xfrm>
            <a:off x="4392000" y="1152000"/>
            <a:ext cx="1728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1" i="0" dirty="0">
                <a:solidFill>
                  <a:srgbClr val="059669"/>
                </a:solidFill>
              </a:rPr>
              <a:t>3-hafta</a:t>
            </a:r>
          </a:p>
        </p:txBody>
      </p:sp>
      <p:sp>
        <p:nvSpPr>
          <p:cNvPr id="46" name="t46"/>
          <p:cNvSpPr/>
          <p:nvPr/>
        </p:nvSpPr>
        <p:spPr>
          <a:xfrm>
            <a:off x="4392000" y="1584000"/>
            <a:ext cx="1728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000" b="1" i="0" dirty="0">
                <a:solidFill>
                  <a:srgbClr val="1E1B4B"/>
                </a:solidFill>
              </a:rPr>
              <a:t>Backend</a:t>
            </a:r>
          </a:p>
        </p:txBody>
      </p:sp>
      <p:sp>
        <p:nvSpPr>
          <p:cNvPr id="47" name="t47"/>
          <p:cNvSpPr/>
          <p:nvPr/>
        </p:nvSpPr>
        <p:spPr>
          <a:xfrm>
            <a:off x="4392000" y="2088000"/>
            <a:ext cx="1728000" cy="79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500" b="0" i="0" dirty="0">
                <a:solidFill>
                  <a:srgbClr val="374151"/>
                </a:solidFill>
              </a:rPr>
              <a:t>Monitor + DB modullari</a:t>
            </a:r>
          </a:p>
        </p:txBody>
      </p:sp>
      <p:sp>
        <p:nvSpPr>
          <p:cNvPr id="48" name="r48"/>
          <p:cNvSpPr/>
          <p:nvPr/>
        </p:nvSpPr>
        <p:spPr>
          <a:xfrm>
            <a:off x="5040000" y="2951999"/>
            <a:ext cx="432000" cy="432000"/>
          </a:xfrm>
          <a:prstGeom prst="roundRect">
            <a:avLst>
              <a:gd name="adj" fmla="val 400000"/>
            </a:avLst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49"/>
          <p:cNvSpPr/>
          <p:nvPr/>
        </p:nvSpPr>
        <p:spPr>
          <a:xfrm>
            <a:off x="6264000" y="1080000"/>
            <a:ext cx="1728000" cy="1872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50"/>
          <p:cNvSpPr/>
          <p:nvPr/>
        </p:nvSpPr>
        <p:spPr>
          <a:xfrm>
            <a:off x="6264000" y="1080000"/>
            <a:ext cx="1728000" cy="203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51"/>
          <p:cNvSpPr/>
          <p:nvPr/>
        </p:nvSpPr>
        <p:spPr>
          <a:xfrm>
            <a:off x="6264000" y="1152000"/>
            <a:ext cx="1728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1" i="0" dirty="0">
                <a:solidFill>
                  <a:srgbClr val="A78BFA"/>
                </a:solidFill>
              </a:rPr>
              <a:t>1-hafta</a:t>
            </a:r>
          </a:p>
        </p:txBody>
      </p:sp>
      <p:sp>
        <p:nvSpPr>
          <p:cNvPr id="52" name="t52"/>
          <p:cNvSpPr/>
          <p:nvPr/>
        </p:nvSpPr>
        <p:spPr>
          <a:xfrm>
            <a:off x="6264000" y="1584000"/>
            <a:ext cx="1728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000" b="1" i="0" dirty="0">
                <a:solidFill>
                  <a:srgbClr val="1E1B4B"/>
                </a:solidFill>
              </a:rPr>
              <a:t>GUI</a:t>
            </a:r>
          </a:p>
        </p:txBody>
      </p:sp>
      <p:sp>
        <p:nvSpPr>
          <p:cNvPr id="53" name="t53"/>
          <p:cNvSpPr/>
          <p:nvPr/>
        </p:nvSpPr>
        <p:spPr>
          <a:xfrm>
            <a:off x="6264000" y="2088000"/>
            <a:ext cx="1728000" cy="79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500" b="0" i="0" dirty="0">
                <a:solidFill>
                  <a:srgbClr val="374151"/>
                </a:solidFill>
              </a:rPr>
              <a:t>Tkinter interfeysi</a:t>
            </a:r>
          </a:p>
        </p:txBody>
      </p:sp>
      <p:sp>
        <p:nvSpPr>
          <p:cNvPr id="54" name="r54"/>
          <p:cNvSpPr/>
          <p:nvPr/>
        </p:nvSpPr>
        <p:spPr>
          <a:xfrm>
            <a:off x="6912000" y="2951999"/>
            <a:ext cx="432000" cy="432000"/>
          </a:xfrm>
          <a:prstGeom prst="roundRect">
            <a:avLst>
              <a:gd name="adj" fmla="val 400000"/>
            </a:avLst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55"/>
          <p:cNvSpPr/>
          <p:nvPr/>
        </p:nvSpPr>
        <p:spPr>
          <a:xfrm>
            <a:off x="8136000" y="1080000"/>
            <a:ext cx="1728000" cy="1872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56"/>
          <p:cNvSpPr/>
          <p:nvPr/>
        </p:nvSpPr>
        <p:spPr>
          <a:xfrm>
            <a:off x="8136000" y="1080000"/>
            <a:ext cx="1728000" cy="203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57"/>
          <p:cNvSpPr/>
          <p:nvPr/>
        </p:nvSpPr>
        <p:spPr>
          <a:xfrm>
            <a:off x="8136000" y="1152000"/>
            <a:ext cx="1728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1" i="0" dirty="0">
                <a:solidFill>
                  <a:srgbClr val="34D399"/>
                </a:solidFill>
              </a:rPr>
              <a:t>1-hafta</a:t>
            </a:r>
          </a:p>
        </p:txBody>
      </p:sp>
      <p:sp>
        <p:nvSpPr>
          <p:cNvPr id="58" name="t58"/>
          <p:cNvSpPr/>
          <p:nvPr/>
        </p:nvSpPr>
        <p:spPr>
          <a:xfrm>
            <a:off x="8136000" y="1584000"/>
            <a:ext cx="1728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000" b="1" i="0" dirty="0">
                <a:solidFill>
                  <a:srgbClr val="1E1B4B"/>
                </a:solidFill>
              </a:rPr>
              <a:t>Test</a:t>
            </a:r>
          </a:p>
        </p:txBody>
      </p:sp>
      <p:sp>
        <p:nvSpPr>
          <p:cNvPr id="59" name="t59"/>
          <p:cNvSpPr/>
          <p:nvPr/>
        </p:nvSpPr>
        <p:spPr>
          <a:xfrm>
            <a:off x="8136000" y="2088000"/>
            <a:ext cx="1728000" cy="79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500" b="0" i="0" dirty="0">
                <a:solidFill>
                  <a:srgbClr val="374151"/>
                </a:solidFill>
              </a:rPr>
              <a:t>0 kritik xato</a:t>
            </a:r>
          </a:p>
        </p:txBody>
      </p:sp>
      <p:sp>
        <p:nvSpPr>
          <p:cNvPr id="60" name="r60"/>
          <p:cNvSpPr/>
          <p:nvPr/>
        </p:nvSpPr>
        <p:spPr>
          <a:xfrm>
            <a:off x="8784000" y="2951999"/>
            <a:ext cx="432000" cy="432000"/>
          </a:xfrm>
          <a:prstGeom prst="roundRect">
            <a:avLst>
              <a:gd name="adj" fmla="val 400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61"/>
          <p:cNvSpPr/>
          <p:nvPr/>
        </p:nvSpPr>
        <p:spPr>
          <a:xfrm>
            <a:off x="10008000" y="1080000"/>
            <a:ext cx="1728000" cy="1872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62"/>
          <p:cNvSpPr/>
          <p:nvPr/>
        </p:nvSpPr>
        <p:spPr>
          <a:xfrm>
            <a:off x="10008000" y="1080000"/>
            <a:ext cx="1728000" cy="2032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63"/>
          <p:cNvSpPr/>
          <p:nvPr/>
        </p:nvSpPr>
        <p:spPr>
          <a:xfrm>
            <a:off x="10008000" y="1152000"/>
            <a:ext cx="1728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1" i="0" dirty="0">
                <a:solidFill>
                  <a:srgbClr val="E11D48"/>
                </a:solidFill>
              </a:rPr>
              <a:t>2-kun</a:t>
            </a:r>
          </a:p>
        </p:txBody>
      </p:sp>
      <p:sp>
        <p:nvSpPr>
          <p:cNvPr id="64" name="t64"/>
          <p:cNvSpPr/>
          <p:nvPr/>
        </p:nvSpPr>
        <p:spPr>
          <a:xfrm>
            <a:off x="10008000" y="1584000"/>
            <a:ext cx="1728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000" b="1" i="0" dirty="0">
                <a:solidFill>
                  <a:srgbClr val="1E1B4B"/>
                </a:solidFill>
              </a:rPr>
              <a:t>Deploy</a:t>
            </a:r>
          </a:p>
        </p:txBody>
      </p:sp>
      <p:sp>
        <p:nvSpPr>
          <p:cNvPr id="65" name="t65"/>
          <p:cNvSpPr/>
          <p:nvPr/>
        </p:nvSpPr>
        <p:spPr>
          <a:xfrm>
            <a:off x="10008000" y="2088000"/>
            <a:ext cx="1728000" cy="79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500" b="0" i="0" dirty="0">
                <a:solidFill>
                  <a:srgbClr val="374151"/>
                </a:solidFill>
              </a:rPr>
              <a:t>Ishlab chiqarishga chiqarildi</a:t>
            </a:r>
          </a:p>
        </p:txBody>
      </p:sp>
      <p:sp>
        <p:nvSpPr>
          <p:cNvPr id="66" name="r66"/>
          <p:cNvSpPr/>
          <p:nvPr/>
        </p:nvSpPr>
        <p:spPr>
          <a:xfrm>
            <a:off x="10656000" y="2951999"/>
            <a:ext cx="432000" cy="432000"/>
          </a:xfrm>
          <a:prstGeom prst="roundRect">
            <a:avLst>
              <a:gd name="adj" fmla="val 400000"/>
            </a:avLst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67"/>
          <p:cNvSpPr/>
          <p:nvPr/>
        </p:nvSpPr>
        <p:spPr>
          <a:xfrm>
            <a:off x="648000" y="3671999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D97706"/>
                </a:solidFill>
              </a:rPr>
              <a:t>RISK BOSHQARUVI</a:t>
            </a:r>
          </a:p>
        </p:txBody>
      </p:sp>
      <p:sp>
        <p:nvSpPr>
          <p:cNvPr id="68" name="r68"/>
          <p:cNvSpPr/>
          <p:nvPr/>
        </p:nvSpPr>
        <p:spPr>
          <a:xfrm>
            <a:off x="648000" y="4104000"/>
            <a:ext cx="10980000" cy="6480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69"/>
          <p:cNvSpPr/>
          <p:nvPr/>
        </p:nvSpPr>
        <p:spPr>
          <a:xfrm>
            <a:off x="648000" y="4104000"/>
            <a:ext cx="203200" cy="64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t70"/>
          <p:cNvSpPr/>
          <p:nvPr/>
        </p:nvSpPr>
        <p:spPr>
          <a:xfrm>
            <a:off x="792000" y="4176000"/>
            <a:ext cx="324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1E1B4B"/>
                </a:solidFill>
              </a:rPr>
              <a:t>Ma'lumot yo'qolishi</a:t>
            </a:r>
          </a:p>
        </p:txBody>
      </p:sp>
      <p:sp>
        <p:nvSpPr>
          <p:cNvPr id="71" name="r71"/>
          <p:cNvSpPr/>
          <p:nvPr/>
        </p:nvSpPr>
        <p:spPr>
          <a:xfrm>
            <a:off x="4140000" y="4212000"/>
            <a:ext cx="900000" cy="36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t72"/>
          <p:cNvSpPr/>
          <p:nvPr/>
        </p:nvSpPr>
        <p:spPr>
          <a:xfrm>
            <a:off x="4140000" y="4212000"/>
            <a:ext cx="9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500" b="1" i="0" dirty="0">
                <a:solidFill>
                  <a:srgbClr val="FFFFFF"/>
                </a:solidFill>
              </a:rPr>
              <a:t>O'rta</a:t>
            </a:r>
          </a:p>
        </p:txBody>
      </p:sp>
      <p:sp>
        <p:nvSpPr>
          <p:cNvPr id="73" name="t73"/>
          <p:cNvSpPr/>
          <p:nvPr/>
        </p:nvSpPr>
        <p:spPr>
          <a:xfrm>
            <a:off x="5220000" y="4176000"/>
            <a:ext cx="648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Kunlik avtomatik backup</a:t>
            </a:r>
          </a:p>
        </p:txBody>
      </p:sp>
      <p:sp>
        <p:nvSpPr>
          <p:cNvPr id="74" name="r74"/>
          <p:cNvSpPr/>
          <p:nvPr/>
        </p:nvSpPr>
        <p:spPr>
          <a:xfrm>
            <a:off x="648000" y="4824000"/>
            <a:ext cx="10980000" cy="6480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75"/>
          <p:cNvSpPr/>
          <p:nvPr/>
        </p:nvSpPr>
        <p:spPr>
          <a:xfrm>
            <a:off x="648000" y="4824000"/>
            <a:ext cx="203200" cy="64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t76"/>
          <p:cNvSpPr/>
          <p:nvPr/>
        </p:nvSpPr>
        <p:spPr>
          <a:xfrm>
            <a:off x="792000" y="4896000"/>
            <a:ext cx="324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1E1B4B"/>
                </a:solidFill>
              </a:rPr>
              <a:t>Server nosozligi</a:t>
            </a:r>
          </a:p>
        </p:txBody>
      </p:sp>
      <p:sp>
        <p:nvSpPr>
          <p:cNvPr id="77" name="r77"/>
          <p:cNvSpPr/>
          <p:nvPr/>
        </p:nvSpPr>
        <p:spPr>
          <a:xfrm>
            <a:off x="4140000" y="4932000"/>
            <a:ext cx="900000" cy="3600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t78"/>
          <p:cNvSpPr/>
          <p:nvPr/>
        </p:nvSpPr>
        <p:spPr>
          <a:xfrm>
            <a:off x="4140000" y="4932000"/>
            <a:ext cx="9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500" b="1" i="0" dirty="0">
                <a:solidFill>
                  <a:srgbClr val="FFFFFF"/>
                </a:solidFill>
              </a:rPr>
              <a:t>Past</a:t>
            </a:r>
          </a:p>
        </p:txBody>
      </p:sp>
      <p:sp>
        <p:nvSpPr>
          <p:cNvPr id="79" name="t79"/>
          <p:cNvSpPr/>
          <p:nvPr/>
        </p:nvSpPr>
        <p:spPr>
          <a:xfrm>
            <a:off x="5220000" y="4896000"/>
            <a:ext cx="648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Redundant server konfiguratsiya</a:t>
            </a:r>
          </a:p>
        </p:txBody>
      </p:sp>
      <p:sp>
        <p:nvSpPr>
          <p:cNvPr id="80" name="r80"/>
          <p:cNvSpPr/>
          <p:nvPr/>
        </p:nvSpPr>
        <p:spPr>
          <a:xfrm>
            <a:off x="648000" y="5544000"/>
            <a:ext cx="10980000" cy="64800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81"/>
          <p:cNvSpPr/>
          <p:nvPr/>
        </p:nvSpPr>
        <p:spPr>
          <a:xfrm>
            <a:off x="648000" y="5544000"/>
            <a:ext cx="203200" cy="64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t82"/>
          <p:cNvSpPr/>
          <p:nvPr/>
        </p:nvSpPr>
        <p:spPr>
          <a:xfrm>
            <a:off x="792000" y="5616000"/>
            <a:ext cx="324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1E1B4B"/>
                </a:solidFill>
              </a:rPr>
              <a:t>Xavfsizlik buzilishi</a:t>
            </a:r>
          </a:p>
        </p:txBody>
      </p:sp>
      <p:sp>
        <p:nvSpPr>
          <p:cNvPr id="83" name="r83"/>
          <p:cNvSpPr/>
          <p:nvPr/>
        </p:nvSpPr>
        <p:spPr>
          <a:xfrm>
            <a:off x="4140000" y="5652000"/>
            <a:ext cx="900000" cy="3600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t84"/>
          <p:cNvSpPr/>
          <p:nvPr/>
        </p:nvSpPr>
        <p:spPr>
          <a:xfrm>
            <a:off x="4140000" y="5652000"/>
            <a:ext cx="9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500" b="1" i="0" dirty="0">
                <a:solidFill>
                  <a:srgbClr val="FFFFFF"/>
                </a:solidFill>
              </a:rPr>
              <a:t>O'rta</a:t>
            </a:r>
          </a:p>
        </p:txBody>
      </p:sp>
      <p:sp>
        <p:nvSpPr>
          <p:cNvPr id="85" name="t85"/>
          <p:cNvSpPr/>
          <p:nvPr/>
        </p:nvSpPr>
        <p:spPr>
          <a:xfrm>
            <a:off x="5220000" y="5616000"/>
            <a:ext cx="648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Penetration test va shifrlash</a:t>
            </a:r>
          </a:p>
        </p:txBody>
      </p:sp>
      <p:sp>
        <p:nvSpPr>
          <p:cNvPr id="86" name="t86"/>
          <p:cNvSpPr/>
          <p:nvPr/>
        </p:nvSpPr>
        <p:spPr>
          <a:xfrm>
            <a:off x="11340000" y="6408000"/>
            <a:ext cx="7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r"/>
            <a:r>
              <a:rPr lang="uz-UZ" sz="1400" b="0" i="0" dirty="0">
                <a:solidFill>
                  <a:srgbClr val="6B7280"/>
                </a:solidFill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2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0" y="0"/>
            <a:ext cx="12193200" cy="406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0" y="6451600"/>
            <a:ext cx="12193200" cy="4064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0" y="406400"/>
            <a:ext cx="152400" cy="60452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25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26"/>
          <p:cNvSpPr/>
          <p:nvPr/>
        </p:nvSpPr>
        <p:spPr>
          <a:xfrm>
            <a:off x="648000" y="180000"/>
            <a:ext cx="1260000" cy="360000"/>
          </a:xfrm>
          <a:prstGeom prst="roundRect">
            <a:avLst>
              <a:gd name="adj" fmla="val 40000"/>
            </a:avLst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27"/>
          <p:cNvSpPr/>
          <p:nvPr/>
        </p:nvSpPr>
        <p:spPr>
          <a:xfrm>
            <a:off x="684000" y="180000"/>
            <a:ext cx="1188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000" b="1" i="0" dirty="0">
                <a:solidFill>
                  <a:srgbClr val="FFFFFF"/>
                </a:solidFill>
              </a:rPr>
              <a:t>DP 9</a:t>
            </a:r>
          </a:p>
        </p:txBody>
      </p:sp>
      <p:sp>
        <p:nvSpPr>
          <p:cNvPr id="28" name="t28"/>
          <p:cNvSpPr/>
          <p:nvPr/>
        </p:nvSpPr>
        <p:spPr>
          <a:xfrm>
            <a:off x="2088000" y="288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200" b="1" i="0" dirty="0">
                <a:solidFill>
                  <a:srgbClr val="1E1B4B"/>
                </a:solidFill>
              </a:rPr>
              <a:t>AT loyihasini boshqarishda tegishli xatti-harakatlarni qo'llash</a:t>
            </a:r>
          </a:p>
        </p:txBody>
      </p:sp>
      <p:sp>
        <p:nvSpPr>
          <p:cNvPr id="29" name="r29"/>
          <p:cNvSpPr/>
          <p:nvPr/>
        </p:nvSpPr>
        <p:spPr>
          <a:xfrm>
            <a:off x="648000" y="684000"/>
            <a:ext cx="2880000" cy="762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30"/>
          <p:cNvSpPr/>
          <p:nvPr/>
        </p:nvSpPr>
        <p:spPr>
          <a:xfrm>
            <a:off x="648000" y="1007999"/>
            <a:ext cx="10980000" cy="1152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31"/>
          <p:cNvSpPr/>
          <p:nvPr/>
        </p:nvSpPr>
        <p:spPr>
          <a:xfrm>
            <a:off x="648000" y="1007999"/>
            <a:ext cx="144000" cy="1152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32"/>
          <p:cNvSpPr/>
          <p:nvPr/>
        </p:nvSpPr>
        <p:spPr>
          <a:xfrm>
            <a:off x="864000" y="1079999"/>
            <a:ext cx="79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E11D48"/>
                </a:solidFill>
              </a:rPr>
              <a:t>🔐 Ma'lumotlar Maxfiyligi</a:t>
            </a:r>
          </a:p>
        </p:txBody>
      </p:sp>
      <p:sp>
        <p:nvSpPr>
          <p:cNvPr id="33" name="t33"/>
          <p:cNvSpPr/>
          <p:nvPr/>
        </p:nvSpPr>
        <p:spPr>
          <a:xfrm>
            <a:off x="864000" y="1475999"/>
            <a:ext cx="10080000" cy="61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Monitoring ma'lumotlari faqat tizim ma'muri ko'radi. Har bir foydalanuvchi Privacy Policy bilan tanishtirildi.</a:t>
            </a:r>
          </a:p>
        </p:txBody>
      </p:sp>
      <p:sp>
        <p:nvSpPr>
          <p:cNvPr id="34" name="r34"/>
          <p:cNvSpPr/>
          <p:nvPr/>
        </p:nvSpPr>
        <p:spPr>
          <a:xfrm>
            <a:off x="648000" y="2303999"/>
            <a:ext cx="10980000" cy="1152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35"/>
          <p:cNvSpPr/>
          <p:nvPr/>
        </p:nvSpPr>
        <p:spPr>
          <a:xfrm>
            <a:off x="648000" y="2303999"/>
            <a:ext cx="144000" cy="115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36"/>
          <p:cNvSpPr/>
          <p:nvPr/>
        </p:nvSpPr>
        <p:spPr>
          <a:xfrm>
            <a:off x="864000" y="2375999"/>
            <a:ext cx="79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D97706"/>
                </a:solidFill>
              </a:rPr>
              <a:t>🤝 Kasbiy Munosabatlar</a:t>
            </a:r>
          </a:p>
        </p:txBody>
      </p:sp>
      <p:sp>
        <p:nvSpPr>
          <p:cNvPr id="37" name="t37"/>
          <p:cNvSpPr/>
          <p:nvPr/>
        </p:nvSpPr>
        <p:spPr>
          <a:xfrm>
            <a:off x="864000" y="2771999"/>
            <a:ext cx="10080000" cy="61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Yangi hamkasblarga mentorliq qildim. Jamoa ichida ishonch muhiti shakllantirildi.</a:t>
            </a:r>
          </a:p>
        </p:txBody>
      </p:sp>
      <p:sp>
        <p:nvSpPr>
          <p:cNvPr id="38" name="r38"/>
          <p:cNvSpPr/>
          <p:nvPr/>
        </p:nvSpPr>
        <p:spPr>
          <a:xfrm>
            <a:off x="648000" y="3599999"/>
            <a:ext cx="10980000" cy="1152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39"/>
          <p:cNvSpPr/>
          <p:nvPr/>
        </p:nvSpPr>
        <p:spPr>
          <a:xfrm>
            <a:off x="648000" y="3599999"/>
            <a:ext cx="144000" cy="115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40"/>
          <p:cNvSpPr/>
          <p:nvPr/>
        </p:nvSpPr>
        <p:spPr>
          <a:xfrm>
            <a:off x="864000" y="3671999"/>
            <a:ext cx="79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2563EB"/>
                </a:solidFill>
              </a:rPr>
              <a:t>📚 Doimiy O'rganish</a:t>
            </a:r>
          </a:p>
        </p:txBody>
      </p:sp>
      <p:sp>
        <p:nvSpPr>
          <p:cNvPr id="41" name="t41"/>
          <p:cNvSpPr/>
          <p:nvPr/>
        </p:nvSpPr>
        <p:spPr>
          <a:xfrm>
            <a:off x="864000" y="4067999"/>
            <a:ext cx="10080000" cy="61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Docker, Grafana, REST API — loyiha davomida mustaqil o'rganildi va amaliyotda qo'llanildi.</a:t>
            </a:r>
          </a:p>
        </p:txBody>
      </p:sp>
      <p:sp>
        <p:nvSpPr>
          <p:cNvPr id="42" name="r42"/>
          <p:cNvSpPr/>
          <p:nvPr/>
        </p:nvSpPr>
        <p:spPr>
          <a:xfrm>
            <a:off x="648000" y="4895999"/>
            <a:ext cx="10980000" cy="1152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43"/>
          <p:cNvSpPr/>
          <p:nvPr/>
        </p:nvSpPr>
        <p:spPr>
          <a:xfrm>
            <a:off x="648000" y="4895999"/>
            <a:ext cx="144000" cy="1152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44"/>
          <p:cNvSpPr/>
          <p:nvPr/>
        </p:nvSpPr>
        <p:spPr>
          <a:xfrm>
            <a:off x="864000" y="4967999"/>
            <a:ext cx="79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059669"/>
                </a:solidFill>
              </a:rPr>
              <a:t>⚖️ Litsenziya va Etika</a:t>
            </a:r>
          </a:p>
        </p:txBody>
      </p:sp>
      <p:sp>
        <p:nvSpPr>
          <p:cNvPr id="45" name="t45"/>
          <p:cNvSpPr/>
          <p:nvPr/>
        </p:nvSpPr>
        <p:spPr>
          <a:xfrm>
            <a:off x="864000" y="5363999"/>
            <a:ext cx="10080000" cy="61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Barcha open-source kutubxonalar litsenziyalari tekshirildi. Intellektual mulk qoidalari to'liq bajarildi.</a:t>
            </a:r>
          </a:p>
        </p:txBody>
      </p:sp>
      <p:sp>
        <p:nvSpPr>
          <p:cNvPr id="46" name="t46"/>
          <p:cNvSpPr/>
          <p:nvPr/>
        </p:nvSpPr>
        <p:spPr>
          <a:xfrm>
            <a:off x="11340000" y="6408000"/>
            <a:ext cx="7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r"/>
            <a:r>
              <a:rPr lang="uz-UZ" sz="1400" b="0" i="0" dirty="0">
                <a:solidFill>
                  <a:srgbClr val="6B7280"/>
                </a:solidFill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2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0" y="0"/>
            <a:ext cx="12193200" cy="406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0" y="6451600"/>
            <a:ext cx="12193200" cy="406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0" y="406400"/>
            <a:ext cx="152400" cy="6045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25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26"/>
          <p:cNvSpPr/>
          <p:nvPr/>
        </p:nvSpPr>
        <p:spPr>
          <a:xfrm>
            <a:off x="648000" y="28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800" b="1" i="0" dirty="0">
                <a:solidFill>
                  <a:srgbClr val="1E1B4B"/>
                </a:solidFill>
              </a:rPr>
              <a:t>DP 9  |  MUAMMO HAL ETISH — 5 BOSQICH METODI</a:t>
            </a:r>
          </a:p>
        </p:txBody>
      </p:sp>
      <p:sp>
        <p:nvSpPr>
          <p:cNvPr id="27" name="r27"/>
          <p:cNvSpPr/>
          <p:nvPr/>
        </p:nvSpPr>
        <p:spPr>
          <a:xfrm>
            <a:off x="648000" y="864000"/>
            <a:ext cx="2880000" cy="76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28"/>
          <p:cNvSpPr/>
          <p:nvPr/>
        </p:nvSpPr>
        <p:spPr>
          <a:xfrm>
            <a:off x="648000" y="1007999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800" b="0" i="0" dirty="0">
                <a:solidFill>
                  <a:srgbClr val="D97706"/>
                </a:solidFill>
              </a:rPr>
              <a:t>Holat: Tarmoq skanerlash 150 ta qurilmadan 3-5 tasini o'tkazib yuborardi</a:t>
            </a:r>
          </a:p>
        </p:txBody>
      </p:sp>
      <p:sp>
        <p:nvSpPr>
          <p:cNvPr id="29" name="r29"/>
          <p:cNvSpPr/>
          <p:nvPr/>
        </p:nvSpPr>
        <p:spPr>
          <a:xfrm>
            <a:off x="648000" y="1620000"/>
            <a:ext cx="10980000" cy="827999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30"/>
          <p:cNvSpPr/>
          <p:nvPr/>
        </p:nvSpPr>
        <p:spPr>
          <a:xfrm>
            <a:off x="648000" y="1620000"/>
            <a:ext cx="144000" cy="827999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31"/>
          <p:cNvSpPr/>
          <p:nvPr/>
        </p:nvSpPr>
        <p:spPr>
          <a:xfrm>
            <a:off x="864000" y="1764000"/>
            <a:ext cx="540000" cy="540000"/>
          </a:xfrm>
          <a:prstGeom prst="roundRect">
            <a:avLst>
              <a:gd name="adj" fmla="val 400000"/>
            </a:avLst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32"/>
          <p:cNvSpPr/>
          <p:nvPr/>
        </p:nvSpPr>
        <p:spPr>
          <a:xfrm>
            <a:off x="864000" y="1764000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2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t33"/>
          <p:cNvSpPr/>
          <p:nvPr/>
        </p:nvSpPr>
        <p:spPr>
          <a:xfrm>
            <a:off x="1584000" y="1692000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1" i="0" dirty="0">
                <a:solidFill>
                  <a:srgbClr val="34D399"/>
                </a:solidFill>
              </a:rPr>
              <a:t>1  ANIQLASH</a:t>
            </a:r>
          </a:p>
        </p:txBody>
      </p:sp>
      <p:sp>
        <p:nvSpPr>
          <p:cNvPr id="34" name="t34"/>
          <p:cNvSpPr/>
          <p:nvPr/>
        </p:nvSpPr>
        <p:spPr>
          <a:xfrm>
            <a:off x="1584000" y="2052000"/>
            <a:ext cx="97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Log fayllar tahlili → qaysi IP manzillar o'tkazib yuborilmoqda?</a:t>
            </a:r>
          </a:p>
        </p:txBody>
      </p:sp>
      <p:sp>
        <p:nvSpPr>
          <p:cNvPr id="35" name="r35"/>
          <p:cNvSpPr/>
          <p:nvPr/>
        </p:nvSpPr>
        <p:spPr>
          <a:xfrm>
            <a:off x="648000" y="2556000"/>
            <a:ext cx="10980000" cy="827999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36"/>
          <p:cNvSpPr/>
          <p:nvPr/>
        </p:nvSpPr>
        <p:spPr>
          <a:xfrm>
            <a:off x="648000" y="2556000"/>
            <a:ext cx="144000" cy="82799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37"/>
          <p:cNvSpPr/>
          <p:nvPr/>
        </p:nvSpPr>
        <p:spPr>
          <a:xfrm>
            <a:off x="864000" y="2700000"/>
            <a:ext cx="540000" cy="540000"/>
          </a:xfrm>
          <a:prstGeom prst="roundRect">
            <a:avLst>
              <a:gd name="adj" fmla="val 400000"/>
            </a:avLst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38"/>
          <p:cNvSpPr/>
          <p:nvPr/>
        </p:nvSpPr>
        <p:spPr>
          <a:xfrm>
            <a:off x="864000" y="2700000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2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39"/>
          <p:cNvSpPr/>
          <p:nvPr/>
        </p:nvSpPr>
        <p:spPr>
          <a:xfrm>
            <a:off x="1584000" y="2628000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1" i="0" dirty="0">
                <a:solidFill>
                  <a:srgbClr val="D97706"/>
                </a:solidFill>
              </a:rPr>
              <a:t>2  SABAB</a:t>
            </a:r>
          </a:p>
        </p:txBody>
      </p:sp>
      <p:sp>
        <p:nvSpPr>
          <p:cNvPr id="40" name="t40"/>
          <p:cNvSpPr/>
          <p:nvPr/>
        </p:nvSpPr>
        <p:spPr>
          <a:xfrm>
            <a:off x="1584000" y="2988000"/>
            <a:ext cx="97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Timeout = 0.5 sek (juda qisqa). Ba'zi qurilmalar sekin javob qaytaradi.</a:t>
            </a:r>
          </a:p>
        </p:txBody>
      </p:sp>
      <p:sp>
        <p:nvSpPr>
          <p:cNvPr id="41" name="r41"/>
          <p:cNvSpPr/>
          <p:nvPr/>
        </p:nvSpPr>
        <p:spPr>
          <a:xfrm>
            <a:off x="648000" y="3492000"/>
            <a:ext cx="10980000" cy="827999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42"/>
          <p:cNvSpPr/>
          <p:nvPr/>
        </p:nvSpPr>
        <p:spPr>
          <a:xfrm>
            <a:off x="648000" y="3492000"/>
            <a:ext cx="144000" cy="82799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43"/>
          <p:cNvSpPr/>
          <p:nvPr/>
        </p:nvSpPr>
        <p:spPr>
          <a:xfrm>
            <a:off x="864000" y="3636000"/>
            <a:ext cx="540000" cy="540000"/>
          </a:xfrm>
          <a:prstGeom prst="roundRect">
            <a:avLst>
              <a:gd name="adj" fmla="val 40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t44"/>
          <p:cNvSpPr/>
          <p:nvPr/>
        </p:nvSpPr>
        <p:spPr>
          <a:xfrm>
            <a:off x="864000" y="3636000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2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t45"/>
          <p:cNvSpPr/>
          <p:nvPr/>
        </p:nvSpPr>
        <p:spPr>
          <a:xfrm>
            <a:off x="1584000" y="3564000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1" i="0" dirty="0">
                <a:solidFill>
                  <a:srgbClr val="2563EB"/>
                </a:solidFill>
              </a:rPr>
              <a:t>3  YECHIM</a:t>
            </a:r>
          </a:p>
        </p:txBody>
      </p:sp>
      <p:sp>
        <p:nvSpPr>
          <p:cNvPr id="46" name="t46"/>
          <p:cNvSpPr/>
          <p:nvPr/>
        </p:nvSpPr>
        <p:spPr>
          <a:xfrm>
            <a:off x="1584000" y="3924000"/>
            <a:ext cx="97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Adaptive timeout algoritmi: qurilma turi va kechikishiga qarab avto-moslash</a:t>
            </a:r>
          </a:p>
        </p:txBody>
      </p:sp>
      <p:sp>
        <p:nvSpPr>
          <p:cNvPr id="47" name="r47"/>
          <p:cNvSpPr/>
          <p:nvPr/>
        </p:nvSpPr>
        <p:spPr>
          <a:xfrm>
            <a:off x="648000" y="4428000"/>
            <a:ext cx="10980000" cy="827999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48"/>
          <p:cNvSpPr/>
          <p:nvPr/>
        </p:nvSpPr>
        <p:spPr>
          <a:xfrm>
            <a:off x="648000" y="4428000"/>
            <a:ext cx="144000" cy="827999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49"/>
          <p:cNvSpPr/>
          <p:nvPr/>
        </p:nvSpPr>
        <p:spPr>
          <a:xfrm>
            <a:off x="864000" y="4572000"/>
            <a:ext cx="540000" cy="540000"/>
          </a:xfrm>
          <a:prstGeom prst="roundRect">
            <a:avLst>
              <a:gd name="adj" fmla="val 400000"/>
            </a:avLst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t50"/>
          <p:cNvSpPr/>
          <p:nvPr/>
        </p:nvSpPr>
        <p:spPr>
          <a:xfrm>
            <a:off x="864000" y="4572000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2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1" name="t51"/>
          <p:cNvSpPr/>
          <p:nvPr/>
        </p:nvSpPr>
        <p:spPr>
          <a:xfrm>
            <a:off x="1584000" y="4500000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1" i="0" dirty="0">
                <a:solidFill>
                  <a:srgbClr val="A78BFA"/>
                </a:solidFill>
              </a:rPr>
              <a:t>4  TEST</a:t>
            </a:r>
          </a:p>
        </p:txBody>
      </p:sp>
      <p:sp>
        <p:nvSpPr>
          <p:cNvPr id="52" name="t52"/>
          <p:cNvSpPr/>
          <p:nvPr/>
        </p:nvSpPr>
        <p:spPr>
          <a:xfrm>
            <a:off x="1584000" y="4860000"/>
            <a:ext cx="97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3 marta to'liq skanerlash: 150/150 qurilma aniqlandi → 100% aniqlik</a:t>
            </a:r>
          </a:p>
        </p:txBody>
      </p:sp>
      <p:sp>
        <p:nvSpPr>
          <p:cNvPr id="53" name="r53"/>
          <p:cNvSpPr/>
          <p:nvPr/>
        </p:nvSpPr>
        <p:spPr>
          <a:xfrm>
            <a:off x="648000" y="5364000"/>
            <a:ext cx="10980000" cy="827999"/>
          </a:xfrm>
          <a:prstGeom prst="roundRect">
            <a:avLst>
              <a:gd name="adj" fmla="val 6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54"/>
          <p:cNvSpPr/>
          <p:nvPr/>
        </p:nvSpPr>
        <p:spPr>
          <a:xfrm>
            <a:off x="648000" y="5364000"/>
            <a:ext cx="144000" cy="827999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55"/>
          <p:cNvSpPr/>
          <p:nvPr/>
        </p:nvSpPr>
        <p:spPr>
          <a:xfrm>
            <a:off x="864000" y="5508000"/>
            <a:ext cx="540000" cy="540000"/>
          </a:xfrm>
          <a:prstGeom prst="roundRect">
            <a:avLst>
              <a:gd name="adj" fmla="val 400000"/>
            </a:avLst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t56"/>
          <p:cNvSpPr/>
          <p:nvPr/>
        </p:nvSpPr>
        <p:spPr>
          <a:xfrm>
            <a:off x="864000" y="5508000"/>
            <a:ext cx="54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200" b="1" i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7" name="t57"/>
          <p:cNvSpPr/>
          <p:nvPr/>
        </p:nvSpPr>
        <p:spPr>
          <a:xfrm>
            <a:off x="1584000" y="5436000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900" b="1" i="0" dirty="0">
                <a:solidFill>
                  <a:srgbClr val="E11D48"/>
                </a:solidFill>
              </a:rPr>
              <a:t>5  HUJJATLASHTIRISH</a:t>
            </a:r>
          </a:p>
        </p:txBody>
      </p:sp>
      <p:sp>
        <p:nvSpPr>
          <p:cNvPr id="58" name="t58"/>
          <p:cNvSpPr/>
          <p:nvPr/>
        </p:nvSpPr>
        <p:spPr>
          <a:xfrm>
            <a:off x="1584000" y="5796000"/>
            <a:ext cx="97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Muammo + yechim + saboq texnik hujjatga yozildi → kelajak loyihalar uchun</a:t>
            </a:r>
          </a:p>
        </p:txBody>
      </p:sp>
      <p:sp>
        <p:nvSpPr>
          <p:cNvPr id="59" name="t59"/>
          <p:cNvSpPr/>
          <p:nvPr/>
        </p:nvSpPr>
        <p:spPr>
          <a:xfrm>
            <a:off x="11340000" y="6408000"/>
            <a:ext cx="7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r"/>
            <a:r>
              <a:rPr lang="uz-UZ" sz="1400" b="0" i="0" dirty="0">
                <a:solidFill>
                  <a:srgbClr val="6B7280"/>
                </a:solidFill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2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0" y="0"/>
            <a:ext cx="12193200" cy="406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0" y="6451600"/>
            <a:ext cx="12193200" cy="406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0" y="406400"/>
            <a:ext cx="152400" cy="6045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25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26"/>
          <p:cNvSpPr/>
          <p:nvPr/>
        </p:nvSpPr>
        <p:spPr>
          <a:xfrm>
            <a:off x="648000" y="28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800" b="1" i="0" dirty="0">
                <a:solidFill>
                  <a:srgbClr val="1E1B4B"/>
                </a:solidFill>
              </a:rPr>
              <a:t>LOYIHA NATIJALARI — KPI JADVAL</a:t>
            </a:r>
          </a:p>
        </p:txBody>
      </p:sp>
      <p:sp>
        <p:nvSpPr>
          <p:cNvPr id="27" name="r27"/>
          <p:cNvSpPr/>
          <p:nvPr/>
        </p:nvSpPr>
        <p:spPr>
          <a:xfrm>
            <a:off x="648000" y="864000"/>
            <a:ext cx="28800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28"/>
          <p:cNvSpPr/>
          <p:nvPr/>
        </p:nvSpPr>
        <p:spPr>
          <a:xfrm>
            <a:off x="648000" y="1152000"/>
            <a:ext cx="3833000" cy="46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29"/>
          <p:cNvSpPr/>
          <p:nvPr/>
        </p:nvSpPr>
        <p:spPr>
          <a:xfrm>
            <a:off x="902000" y="1152000"/>
            <a:ext cx="3579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900" b="1" i="0" dirty="0">
                <a:solidFill>
                  <a:srgbClr val="FFFFFF"/>
                </a:solidFill>
              </a:rPr>
              <a:t>Ko'rsatkich</a:t>
            </a:r>
          </a:p>
        </p:txBody>
      </p:sp>
      <p:sp>
        <p:nvSpPr>
          <p:cNvPr id="30" name="r30"/>
          <p:cNvSpPr/>
          <p:nvPr/>
        </p:nvSpPr>
        <p:spPr>
          <a:xfrm>
            <a:off x="4752000" y="1152000"/>
            <a:ext cx="1853000" cy="46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31"/>
          <p:cNvSpPr/>
          <p:nvPr/>
        </p:nvSpPr>
        <p:spPr>
          <a:xfrm>
            <a:off x="5006000" y="1152000"/>
            <a:ext cx="1599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900" b="1" i="0" dirty="0">
                <a:solidFill>
                  <a:srgbClr val="FFFFFF"/>
                </a:solidFill>
              </a:rPr>
              <a:t>Maqsad</a:t>
            </a:r>
          </a:p>
        </p:txBody>
      </p:sp>
      <p:sp>
        <p:nvSpPr>
          <p:cNvPr id="32" name="r32"/>
          <p:cNvSpPr/>
          <p:nvPr/>
        </p:nvSpPr>
        <p:spPr>
          <a:xfrm>
            <a:off x="6876000" y="1152000"/>
            <a:ext cx="1853000" cy="46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t33"/>
          <p:cNvSpPr/>
          <p:nvPr/>
        </p:nvSpPr>
        <p:spPr>
          <a:xfrm>
            <a:off x="7130000" y="1152000"/>
            <a:ext cx="1599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900" b="1" i="0" dirty="0">
                <a:solidFill>
                  <a:srgbClr val="FFFFFF"/>
                </a:solidFill>
              </a:rPr>
              <a:t>Natija</a:t>
            </a:r>
          </a:p>
        </p:txBody>
      </p:sp>
      <p:sp>
        <p:nvSpPr>
          <p:cNvPr id="34" name="r34"/>
          <p:cNvSpPr/>
          <p:nvPr/>
        </p:nvSpPr>
        <p:spPr>
          <a:xfrm>
            <a:off x="9000000" y="1152000"/>
            <a:ext cx="2753000" cy="46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35"/>
          <p:cNvSpPr/>
          <p:nvPr/>
        </p:nvSpPr>
        <p:spPr>
          <a:xfrm>
            <a:off x="9254000" y="1152000"/>
            <a:ext cx="2499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900" b="1" i="0" dirty="0">
                <a:solidFill>
                  <a:srgbClr val="FFFFFF"/>
                </a:solidFill>
              </a:rPr>
              <a:t>Holat</a:t>
            </a:r>
          </a:p>
        </p:txBody>
      </p:sp>
      <p:sp>
        <p:nvSpPr>
          <p:cNvPr id="36" name="r36"/>
          <p:cNvSpPr/>
          <p:nvPr/>
        </p:nvSpPr>
        <p:spPr>
          <a:xfrm>
            <a:off x="648000" y="1655999"/>
            <a:ext cx="383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t37"/>
          <p:cNvSpPr/>
          <p:nvPr/>
        </p:nvSpPr>
        <p:spPr>
          <a:xfrm>
            <a:off x="902000" y="1782999"/>
            <a:ext cx="357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D97706"/>
                </a:solidFill>
              </a:rPr>
              <a:t>Qurilma aniqlash aniqligi</a:t>
            </a:r>
          </a:p>
        </p:txBody>
      </p:sp>
      <p:sp>
        <p:nvSpPr>
          <p:cNvPr id="38" name="r38"/>
          <p:cNvSpPr/>
          <p:nvPr/>
        </p:nvSpPr>
        <p:spPr>
          <a:xfrm>
            <a:off x="4752000" y="1655999"/>
            <a:ext cx="18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39"/>
          <p:cNvSpPr/>
          <p:nvPr/>
        </p:nvSpPr>
        <p:spPr>
          <a:xfrm>
            <a:off x="5006000" y="1782999"/>
            <a:ext cx="15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95%</a:t>
            </a:r>
          </a:p>
        </p:txBody>
      </p:sp>
      <p:sp>
        <p:nvSpPr>
          <p:cNvPr id="40" name="r40"/>
          <p:cNvSpPr/>
          <p:nvPr/>
        </p:nvSpPr>
        <p:spPr>
          <a:xfrm>
            <a:off x="6876000" y="1655999"/>
            <a:ext cx="18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41"/>
          <p:cNvSpPr/>
          <p:nvPr/>
        </p:nvSpPr>
        <p:spPr>
          <a:xfrm>
            <a:off x="7130000" y="1782999"/>
            <a:ext cx="15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700" b="0" i="0" dirty="0">
                <a:solidFill>
                  <a:srgbClr val="374151"/>
                </a:solidFill>
              </a:rPr>
              <a:t>100%</a:t>
            </a:r>
          </a:p>
        </p:txBody>
      </p:sp>
      <p:sp>
        <p:nvSpPr>
          <p:cNvPr id="42" name="r42"/>
          <p:cNvSpPr/>
          <p:nvPr/>
        </p:nvSpPr>
        <p:spPr>
          <a:xfrm>
            <a:off x="9000000" y="1655999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43"/>
          <p:cNvSpPr/>
          <p:nvPr/>
        </p:nvSpPr>
        <p:spPr>
          <a:xfrm>
            <a:off x="9254000" y="1782999"/>
            <a:ext cx="24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700" b="1" i="0" dirty="0">
                <a:solidFill>
                  <a:srgbClr val="059669"/>
                </a:solidFill>
              </a:rPr>
              <a:t>✅ Oshirib bajarildi</a:t>
            </a:r>
          </a:p>
        </p:txBody>
      </p:sp>
      <p:sp>
        <p:nvSpPr>
          <p:cNvPr id="44" name="r44"/>
          <p:cNvSpPr/>
          <p:nvPr/>
        </p:nvSpPr>
        <p:spPr>
          <a:xfrm>
            <a:off x="648000" y="2411999"/>
            <a:ext cx="383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t45"/>
          <p:cNvSpPr/>
          <p:nvPr/>
        </p:nvSpPr>
        <p:spPr>
          <a:xfrm>
            <a:off x="902000" y="2538999"/>
            <a:ext cx="357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D97706"/>
                </a:solidFill>
              </a:rPr>
              <a:t>Skanerlash vaqti (150 ta)</a:t>
            </a:r>
          </a:p>
        </p:txBody>
      </p:sp>
      <p:sp>
        <p:nvSpPr>
          <p:cNvPr id="46" name="r46"/>
          <p:cNvSpPr/>
          <p:nvPr/>
        </p:nvSpPr>
        <p:spPr>
          <a:xfrm>
            <a:off x="4752000" y="2411999"/>
            <a:ext cx="18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47"/>
          <p:cNvSpPr/>
          <p:nvPr/>
        </p:nvSpPr>
        <p:spPr>
          <a:xfrm>
            <a:off x="5006000" y="2538999"/>
            <a:ext cx="15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2 daqiqa</a:t>
            </a:r>
          </a:p>
        </p:txBody>
      </p:sp>
      <p:sp>
        <p:nvSpPr>
          <p:cNvPr id="48" name="r48"/>
          <p:cNvSpPr/>
          <p:nvPr/>
        </p:nvSpPr>
        <p:spPr>
          <a:xfrm>
            <a:off x="6876000" y="2411999"/>
            <a:ext cx="18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49"/>
          <p:cNvSpPr/>
          <p:nvPr/>
        </p:nvSpPr>
        <p:spPr>
          <a:xfrm>
            <a:off x="7130000" y="2538999"/>
            <a:ext cx="15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700" b="0" i="0" dirty="0">
                <a:solidFill>
                  <a:srgbClr val="374151"/>
                </a:solidFill>
              </a:rPr>
              <a:t>45 soniya</a:t>
            </a:r>
          </a:p>
        </p:txBody>
      </p:sp>
      <p:sp>
        <p:nvSpPr>
          <p:cNvPr id="50" name="r50"/>
          <p:cNvSpPr/>
          <p:nvPr/>
        </p:nvSpPr>
        <p:spPr>
          <a:xfrm>
            <a:off x="9000000" y="2411999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51"/>
          <p:cNvSpPr/>
          <p:nvPr/>
        </p:nvSpPr>
        <p:spPr>
          <a:xfrm>
            <a:off x="9254000" y="2538999"/>
            <a:ext cx="24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700" b="1" i="0" dirty="0">
                <a:solidFill>
                  <a:srgbClr val="059669"/>
                </a:solidFill>
              </a:rPr>
              <a:t>✅ Oshirib bajarildi</a:t>
            </a:r>
          </a:p>
        </p:txBody>
      </p:sp>
      <p:sp>
        <p:nvSpPr>
          <p:cNvPr id="52" name="r52"/>
          <p:cNvSpPr/>
          <p:nvPr/>
        </p:nvSpPr>
        <p:spPr>
          <a:xfrm>
            <a:off x="648000" y="3167999"/>
            <a:ext cx="383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t53"/>
          <p:cNvSpPr/>
          <p:nvPr/>
        </p:nvSpPr>
        <p:spPr>
          <a:xfrm>
            <a:off x="902000" y="3294999"/>
            <a:ext cx="357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D97706"/>
                </a:solidFill>
              </a:rPr>
              <a:t>Tizim ishlamay qolishi</a:t>
            </a:r>
          </a:p>
        </p:txBody>
      </p:sp>
      <p:sp>
        <p:nvSpPr>
          <p:cNvPr id="54" name="r54"/>
          <p:cNvSpPr/>
          <p:nvPr/>
        </p:nvSpPr>
        <p:spPr>
          <a:xfrm>
            <a:off x="4752000" y="3167999"/>
            <a:ext cx="18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55"/>
          <p:cNvSpPr/>
          <p:nvPr/>
        </p:nvSpPr>
        <p:spPr>
          <a:xfrm>
            <a:off x="5006000" y="3294999"/>
            <a:ext cx="15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&lt; 1 soat/oy</a:t>
            </a:r>
          </a:p>
        </p:txBody>
      </p:sp>
      <p:sp>
        <p:nvSpPr>
          <p:cNvPr id="56" name="r56"/>
          <p:cNvSpPr/>
          <p:nvPr/>
        </p:nvSpPr>
        <p:spPr>
          <a:xfrm>
            <a:off x="6876000" y="3167999"/>
            <a:ext cx="18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t57"/>
          <p:cNvSpPr/>
          <p:nvPr/>
        </p:nvSpPr>
        <p:spPr>
          <a:xfrm>
            <a:off x="7130000" y="3294999"/>
            <a:ext cx="15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700" b="0" i="0" dirty="0">
                <a:solidFill>
                  <a:srgbClr val="374151"/>
                </a:solidFill>
              </a:rPr>
              <a:t>0 daqiqa</a:t>
            </a:r>
          </a:p>
        </p:txBody>
      </p:sp>
      <p:sp>
        <p:nvSpPr>
          <p:cNvPr id="58" name="r58"/>
          <p:cNvSpPr/>
          <p:nvPr/>
        </p:nvSpPr>
        <p:spPr>
          <a:xfrm>
            <a:off x="9000000" y="3167999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59"/>
          <p:cNvSpPr/>
          <p:nvPr/>
        </p:nvSpPr>
        <p:spPr>
          <a:xfrm>
            <a:off x="9254000" y="3294999"/>
            <a:ext cx="24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700" b="1" i="0" dirty="0">
                <a:solidFill>
                  <a:srgbClr val="059669"/>
                </a:solidFill>
              </a:rPr>
              <a:t>✅ Bajarildi</a:t>
            </a:r>
          </a:p>
        </p:txBody>
      </p:sp>
      <p:sp>
        <p:nvSpPr>
          <p:cNvPr id="60" name="r60"/>
          <p:cNvSpPr/>
          <p:nvPr/>
        </p:nvSpPr>
        <p:spPr>
          <a:xfrm>
            <a:off x="648000" y="3923999"/>
            <a:ext cx="383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t61"/>
          <p:cNvSpPr/>
          <p:nvPr/>
        </p:nvSpPr>
        <p:spPr>
          <a:xfrm>
            <a:off x="902000" y="4050999"/>
            <a:ext cx="357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D97706"/>
                </a:solidFill>
              </a:rPr>
              <a:t>Hisobot tayyorlash vaqti</a:t>
            </a:r>
          </a:p>
        </p:txBody>
      </p:sp>
      <p:sp>
        <p:nvSpPr>
          <p:cNvPr id="62" name="r62"/>
          <p:cNvSpPr/>
          <p:nvPr/>
        </p:nvSpPr>
        <p:spPr>
          <a:xfrm>
            <a:off x="4752000" y="3923999"/>
            <a:ext cx="18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63"/>
          <p:cNvSpPr/>
          <p:nvPr/>
        </p:nvSpPr>
        <p:spPr>
          <a:xfrm>
            <a:off x="5006000" y="4050999"/>
            <a:ext cx="15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30 daqiqa</a:t>
            </a:r>
          </a:p>
        </p:txBody>
      </p:sp>
      <p:sp>
        <p:nvSpPr>
          <p:cNvPr id="64" name="r64"/>
          <p:cNvSpPr/>
          <p:nvPr/>
        </p:nvSpPr>
        <p:spPr>
          <a:xfrm>
            <a:off x="6876000" y="3923999"/>
            <a:ext cx="18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t65"/>
          <p:cNvSpPr/>
          <p:nvPr/>
        </p:nvSpPr>
        <p:spPr>
          <a:xfrm>
            <a:off x="7130000" y="4050999"/>
            <a:ext cx="15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700" b="0" i="0" dirty="0">
                <a:solidFill>
                  <a:srgbClr val="374151"/>
                </a:solidFill>
              </a:rPr>
              <a:t>2 daqiqa</a:t>
            </a:r>
          </a:p>
        </p:txBody>
      </p:sp>
      <p:sp>
        <p:nvSpPr>
          <p:cNvPr id="66" name="r66"/>
          <p:cNvSpPr/>
          <p:nvPr/>
        </p:nvSpPr>
        <p:spPr>
          <a:xfrm>
            <a:off x="9000000" y="3923999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t67"/>
          <p:cNvSpPr/>
          <p:nvPr/>
        </p:nvSpPr>
        <p:spPr>
          <a:xfrm>
            <a:off x="9254000" y="4050999"/>
            <a:ext cx="24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700" b="1" i="0" dirty="0">
                <a:solidFill>
                  <a:srgbClr val="059669"/>
                </a:solidFill>
              </a:rPr>
              <a:t>✅ Avtomatlashtirildi</a:t>
            </a:r>
          </a:p>
        </p:txBody>
      </p:sp>
      <p:sp>
        <p:nvSpPr>
          <p:cNvPr id="68" name="r68"/>
          <p:cNvSpPr/>
          <p:nvPr/>
        </p:nvSpPr>
        <p:spPr>
          <a:xfrm>
            <a:off x="648000" y="4679999"/>
            <a:ext cx="383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t69"/>
          <p:cNvSpPr/>
          <p:nvPr/>
        </p:nvSpPr>
        <p:spPr>
          <a:xfrm>
            <a:off x="902000" y="4806999"/>
            <a:ext cx="357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D97706"/>
                </a:solidFill>
              </a:rPr>
              <a:t>Xavfsizlik hodisalari</a:t>
            </a:r>
          </a:p>
        </p:txBody>
      </p:sp>
      <p:sp>
        <p:nvSpPr>
          <p:cNvPr id="70" name="r70"/>
          <p:cNvSpPr/>
          <p:nvPr/>
        </p:nvSpPr>
        <p:spPr>
          <a:xfrm>
            <a:off x="4752000" y="4679999"/>
            <a:ext cx="18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t71"/>
          <p:cNvSpPr/>
          <p:nvPr/>
        </p:nvSpPr>
        <p:spPr>
          <a:xfrm>
            <a:off x="5006000" y="4806999"/>
            <a:ext cx="15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0</a:t>
            </a:r>
          </a:p>
        </p:txBody>
      </p:sp>
      <p:sp>
        <p:nvSpPr>
          <p:cNvPr id="72" name="r72"/>
          <p:cNvSpPr/>
          <p:nvPr/>
        </p:nvSpPr>
        <p:spPr>
          <a:xfrm>
            <a:off x="6876000" y="4679999"/>
            <a:ext cx="18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t73"/>
          <p:cNvSpPr/>
          <p:nvPr/>
        </p:nvSpPr>
        <p:spPr>
          <a:xfrm>
            <a:off x="7130000" y="4806999"/>
            <a:ext cx="15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700" b="0" i="0" dirty="0">
                <a:solidFill>
                  <a:srgbClr val="374151"/>
                </a:solidFill>
              </a:rPr>
              <a:t>0</a:t>
            </a:r>
          </a:p>
        </p:txBody>
      </p:sp>
      <p:sp>
        <p:nvSpPr>
          <p:cNvPr id="74" name="r74"/>
          <p:cNvSpPr/>
          <p:nvPr/>
        </p:nvSpPr>
        <p:spPr>
          <a:xfrm>
            <a:off x="9000000" y="4679999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t75"/>
          <p:cNvSpPr/>
          <p:nvPr/>
        </p:nvSpPr>
        <p:spPr>
          <a:xfrm>
            <a:off x="9254000" y="4806999"/>
            <a:ext cx="24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700" b="1" i="0" dirty="0">
                <a:solidFill>
                  <a:srgbClr val="059669"/>
                </a:solidFill>
              </a:rPr>
              <a:t>✅ Bajarildi</a:t>
            </a:r>
          </a:p>
        </p:txBody>
      </p:sp>
      <p:sp>
        <p:nvSpPr>
          <p:cNvPr id="76" name="r76"/>
          <p:cNvSpPr/>
          <p:nvPr/>
        </p:nvSpPr>
        <p:spPr>
          <a:xfrm>
            <a:off x="648000" y="5435999"/>
            <a:ext cx="383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t77"/>
          <p:cNvSpPr/>
          <p:nvPr/>
        </p:nvSpPr>
        <p:spPr>
          <a:xfrm>
            <a:off x="902000" y="5562999"/>
            <a:ext cx="357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1" i="0" dirty="0">
                <a:solidFill>
                  <a:srgbClr val="D97706"/>
                </a:solidFill>
              </a:rPr>
              <a:t>Loyiha muddati</a:t>
            </a:r>
          </a:p>
        </p:txBody>
      </p:sp>
      <p:sp>
        <p:nvSpPr>
          <p:cNvPr id="78" name="r78"/>
          <p:cNvSpPr/>
          <p:nvPr/>
        </p:nvSpPr>
        <p:spPr>
          <a:xfrm>
            <a:off x="4752000" y="5435999"/>
            <a:ext cx="18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t79"/>
          <p:cNvSpPr/>
          <p:nvPr/>
        </p:nvSpPr>
        <p:spPr>
          <a:xfrm>
            <a:off x="5006000" y="5562999"/>
            <a:ext cx="15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00" b="0" i="0" dirty="0">
                <a:solidFill>
                  <a:srgbClr val="374151"/>
                </a:solidFill>
              </a:rPr>
              <a:t>8 hafta</a:t>
            </a:r>
          </a:p>
        </p:txBody>
      </p:sp>
      <p:sp>
        <p:nvSpPr>
          <p:cNvPr id="80" name="r80"/>
          <p:cNvSpPr/>
          <p:nvPr/>
        </p:nvSpPr>
        <p:spPr>
          <a:xfrm>
            <a:off x="6876000" y="5435999"/>
            <a:ext cx="18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t81"/>
          <p:cNvSpPr/>
          <p:nvPr/>
        </p:nvSpPr>
        <p:spPr>
          <a:xfrm>
            <a:off x="7130000" y="5562999"/>
            <a:ext cx="15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700" b="0" i="0" dirty="0">
                <a:solidFill>
                  <a:srgbClr val="374151"/>
                </a:solidFill>
              </a:rPr>
              <a:t>7.5 hafta</a:t>
            </a:r>
          </a:p>
        </p:txBody>
      </p:sp>
      <p:sp>
        <p:nvSpPr>
          <p:cNvPr id="82" name="r82"/>
          <p:cNvSpPr/>
          <p:nvPr/>
        </p:nvSpPr>
        <p:spPr>
          <a:xfrm>
            <a:off x="9000000" y="5435999"/>
            <a:ext cx="2753000" cy="720000"/>
          </a:xfrm>
          <a:prstGeom prst="roundRect">
            <a:avLst>
              <a:gd name="adj" fmla="val 40000"/>
            </a:avLst>
          </a:prstGeom>
          <a:solidFill>
            <a:srgbClr val="FEF9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t83"/>
          <p:cNvSpPr/>
          <p:nvPr/>
        </p:nvSpPr>
        <p:spPr>
          <a:xfrm>
            <a:off x="9254000" y="5562999"/>
            <a:ext cx="2499000" cy="68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700" b="1" i="0" dirty="0">
                <a:solidFill>
                  <a:srgbClr val="059669"/>
                </a:solidFill>
              </a:rPr>
              <a:t>✅ Muddatdan oldin</a:t>
            </a:r>
          </a:p>
        </p:txBody>
      </p:sp>
      <p:sp>
        <p:nvSpPr>
          <p:cNvPr id="84" name="t84"/>
          <p:cNvSpPr/>
          <p:nvPr/>
        </p:nvSpPr>
        <p:spPr>
          <a:xfrm>
            <a:off x="11340000" y="6408000"/>
            <a:ext cx="7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r"/>
            <a:r>
              <a:rPr lang="uz-UZ" sz="1400" b="0" i="0" dirty="0">
                <a:solidFill>
                  <a:srgbClr val="6B7280"/>
                </a:solidFill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2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0" y="0"/>
            <a:ext cx="12193200" cy="406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0" y="6451600"/>
            <a:ext cx="12193200" cy="406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0" y="406400"/>
            <a:ext cx="152400" cy="6045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25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26"/>
          <p:cNvSpPr/>
          <p:nvPr/>
        </p:nvSpPr>
        <p:spPr>
          <a:xfrm>
            <a:off x="648000" y="28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800" b="1" i="0" dirty="0">
                <a:solidFill>
                  <a:srgbClr val="1E1B4B"/>
                </a:solidFill>
              </a:rPr>
              <a:t>XULOSA VA SHAXSIY RIVOJLANISH</a:t>
            </a:r>
          </a:p>
        </p:txBody>
      </p:sp>
      <p:sp>
        <p:nvSpPr>
          <p:cNvPr id="27" name="r27"/>
          <p:cNvSpPr/>
          <p:nvPr/>
        </p:nvSpPr>
        <p:spPr>
          <a:xfrm>
            <a:off x="648000" y="864000"/>
            <a:ext cx="2880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28"/>
          <p:cNvSpPr/>
          <p:nvPr/>
        </p:nvSpPr>
        <p:spPr>
          <a:xfrm>
            <a:off x="648000" y="1080000"/>
            <a:ext cx="10980000" cy="1080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29"/>
          <p:cNvSpPr/>
          <p:nvPr/>
        </p:nvSpPr>
        <p:spPr>
          <a:xfrm>
            <a:off x="648000" y="1080000"/>
            <a:ext cx="144000" cy="108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30"/>
          <p:cNvSpPr/>
          <p:nvPr/>
        </p:nvSpPr>
        <p:spPr>
          <a:xfrm>
            <a:off x="864000" y="1134000"/>
            <a:ext cx="7920000" cy="396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D97706"/>
                </a:solidFill>
              </a:rPr>
              <a:t>Texnik Ko'nikmalar</a:t>
            </a:r>
          </a:p>
        </p:txBody>
      </p:sp>
      <p:sp>
        <p:nvSpPr>
          <p:cNvPr id="31" name="t31"/>
          <p:cNvSpPr/>
          <p:nvPr/>
        </p:nvSpPr>
        <p:spPr>
          <a:xfrm>
            <a:off x="864000" y="1548000"/>
            <a:ext cx="1008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50" b="0" i="0" dirty="0">
                <a:solidFill>
                  <a:srgbClr val="374151"/>
                </a:solidFill>
              </a:rPr>
              <a:t>Python multithreading, Docker, REST API, Grafana — barchasi amaliyotda o'rganildi</a:t>
            </a:r>
          </a:p>
        </p:txBody>
      </p:sp>
      <p:sp>
        <p:nvSpPr>
          <p:cNvPr id="32" name="r32"/>
          <p:cNvSpPr/>
          <p:nvPr/>
        </p:nvSpPr>
        <p:spPr>
          <a:xfrm>
            <a:off x="648000" y="2304000"/>
            <a:ext cx="10980000" cy="1080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33"/>
          <p:cNvSpPr/>
          <p:nvPr/>
        </p:nvSpPr>
        <p:spPr>
          <a:xfrm>
            <a:off x="648000" y="2304000"/>
            <a:ext cx="144000" cy="10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34"/>
          <p:cNvSpPr/>
          <p:nvPr/>
        </p:nvSpPr>
        <p:spPr>
          <a:xfrm>
            <a:off x="864000" y="2358000"/>
            <a:ext cx="7920000" cy="396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2563EB"/>
                </a:solidFill>
              </a:rPr>
              <a:t>Loyiha Boshqaruvi</a:t>
            </a:r>
          </a:p>
        </p:txBody>
      </p:sp>
      <p:sp>
        <p:nvSpPr>
          <p:cNvPr id="35" name="t35"/>
          <p:cNvSpPr/>
          <p:nvPr/>
        </p:nvSpPr>
        <p:spPr>
          <a:xfrm>
            <a:off x="864000" y="2772000"/>
            <a:ext cx="1008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50" b="0" i="0" dirty="0">
                <a:solidFill>
                  <a:srgbClr val="374151"/>
                </a:solidFill>
              </a:rPr>
              <a:t>Agile/Scrum real loyihada qo'llandi; risk va muloqot boshqaruvi puxta o'zlashtirildi</a:t>
            </a:r>
          </a:p>
        </p:txBody>
      </p:sp>
      <p:sp>
        <p:nvSpPr>
          <p:cNvPr id="36" name="r36"/>
          <p:cNvSpPr/>
          <p:nvPr/>
        </p:nvSpPr>
        <p:spPr>
          <a:xfrm>
            <a:off x="648000" y="3528000"/>
            <a:ext cx="10980000" cy="1080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37"/>
          <p:cNvSpPr/>
          <p:nvPr/>
        </p:nvSpPr>
        <p:spPr>
          <a:xfrm>
            <a:off x="648000" y="3528000"/>
            <a:ext cx="144000" cy="1080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38"/>
          <p:cNvSpPr/>
          <p:nvPr/>
        </p:nvSpPr>
        <p:spPr>
          <a:xfrm>
            <a:off x="864000" y="3582000"/>
            <a:ext cx="7920000" cy="396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34D399"/>
                </a:solidFill>
              </a:rPr>
              <a:t>Kasbiy Xatti-harakat</a:t>
            </a:r>
          </a:p>
        </p:txBody>
      </p:sp>
      <p:sp>
        <p:nvSpPr>
          <p:cNvPr id="39" name="t39"/>
          <p:cNvSpPr/>
          <p:nvPr/>
        </p:nvSpPr>
        <p:spPr>
          <a:xfrm>
            <a:off x="864000" y="3996000"/>
            <a:ext cx="1008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50" b="0" i="0" dirty="0">
                <a:solidFill>
                  <a:srgbClr val="374151"/>
                </a:solidFill>
              </a:rPr>
              <a:t>Mas'uliyatlilik, shaffoflik, doimiy o'rganish va etika — IT mutaxassisining asosi</a:t>
            </a:r>
          </a:p>
        </p:txBody>
      </p:sp>
      <p:sp>
        <p:nvSpPr>
          <p:cNvPr id="40" name="r40"/>
          <p:cNvSpPr/>
          <p:nvPr/>
        </p:nvSpPr>
        <p:spPr>
          <a:xfrm>
            <a:off x="648000" y="4752000"/>
            <a:ext cx="10980000" cy="1080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41"/>
          <p:cNvSpPr/>
          <p:nvPr/>
        </p:nvSpPr>
        <p:spPr>
          <a:xfrm>
            <a:off x="648000" y="4752000"/>
            <a:ext cx="144000" cy="1080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42"/>
          <p:cNvSpPr/>
          <p:nvPr/>
        </p:nvSpPr>
        <p:spPr>
          <a:xfrm>
            <a:off x="864000" y="4806000"/>
            <a:ext cx="7920000" cy="396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000" b="1" i="0" dirty="0">
                <a:solidFill>
                  <a:srgbClr val="A78BFA"/>
                </a:solidFill>
              </a:rPr>
              <a:t>Muammo Hal Etish</a:t>
            </a:r>
          </a:p>
        </p:txBody>
      </p:sp>
      <p:sp>
        <p:nvSpPr>
          <p:cNvPr id="43" name="t43"/>
          <p:cNvSpPr/>
          <p:nvPr/>
        </p:nvSpPr>
        <p:spPr>
          <a:xfrm>
            <a:off x="864000" y="5220000"/>
            <a:ext cx="1008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50" b="0" i="0" dirty="0">
                <a:solidFill>
                  <a:srgbClr val="374151"/>
                </a:solidFill>
              </a:rPr>
              <a:t>Tizimli 5 bosqich metodi murakkab texnik muammolarni samarali hal etishda ishladi</a:t>
            </a:r>
          </a:p>
        </p:txBody>
      </p:sp>
      <p:sp>
        <p:nvSpPr>
          <p:cNvPr id="44" name="r44"/>
          <p:cNvSpPr/>
          <p:nvPr/>
        </p:nvSpPr>
        <p:spPr>
          <a:xfrm>
            <a:off x="648000" y="5760000"/>
            <a:ext cx="10980000" cy="503999"/>
          </a:xfrm>
          <a:prstGeom prst="roundRect">
            <a:avLst>
              <a:gd name="adj" fmla="val 60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45"/>
          <p:cNvSpPr/>
          <p:nvPr/>
        </p:nvSpPr>
        <p:spPr>
          <a:xfrm>
            <a:off x="648000" y="5760000"/>
            <a:ext cx="144000" cy="50399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t46"/>
          <p:cNvSpPr/>
          <p:nvPr/>
        </p:nvSpPr>
        <p:spPr>
          <a:xfrm>
            <a:off x="864000" y="5796000"/>
            <a:ext cx="1044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800" b="1" i="0" dirty="0">
                <a:solidFill>
                  <a:srgbClr val="059669"/>
                </a:solidFill>
              </a:rPr>
              <a:t>Ushbu loyiha menga texnik va kasbiy sifatda sezilarli o'sish imkonini berdi.</a:t>
            </a:r>
          </a:p>
        </p:txBody>
      </p:sp>
      <p:sp>
        <p:nvSpPr>
          <p:cNvPr id="47" name="t47"/>
          <p:cNvSpPr/>
          <p:nvPr/>
        </p:nvSpPr>
        <p:spPr>
          <a:xfrm>
            <a:off x="11340000" y="6408000"/>
            <a:ext cx="7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r"/>
            <a:r>
              <a:rPr lang="uz-UZ" sz="1400" b="0" i="0" dirty="0">
                <a:solidFill>
                  <a:srgbClr val="6B7280"/>
                </a:solidFill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2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22"/>
          <p:cNvSpPr/>
          <p:nvPr/>
        </p:nvSpPr>
        <p:spPr>
          <a:xfrm>
            <a:off x="0" y="0"/>
            <a:ext cx="12193200" cy="406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23"/>
          <p:cNvSpPr/>
          <p:nvPr/>
        </p:nvSpPr>
        <p:spPr>
          <a:xfrm>
            <a:off x="0" y="6451600"/>
            <a:ext cx="12193200" cy="406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24"/>
          <p:cNvSpPr/>
          <p:nvPr/>
        </p:nvSpPr>
        <p:spPr>
          <a:xfrm>
            <a:off x="0" y="406400"/>
            <a:ext cx="152400" cy="6045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25"/>
          <p:cNvSpPr/>
          <p:nvPr/>
        </p:nvSpPr>
        <p:spPr>
          <a:xfrm>
            <a:off x="0" y="0"/>
            <a:ext cx="4320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26"/>
          <p:cNvSpPr/>
          <p:nvPr/>
        </p:nvSpPr>
        <p:spPr>
          <a:xfrm>
            <a:off x="648000" y="288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2800" b="1" i="0" dirty="0">
                <a:solidFill>
                  <a:srgbClr val="1E1B4B"/>
                </a:solidFill>
              </a:rPr>
              <a:t>BAHOLASH MEZONLARI — D MAQSAD (13 BALL)</a:t>
            </a:r>
          </a:p>
        </p:txBody>
      </p:sp>
      <p:sp>
        <p:nvSpPr>
          <p:cNvPr id="27" name="r27"/>
          <p:cNvSpPr/>
          <p:nvPr/>
        </p:nvSpPr>
        <p:spPr>
          <a:xfrm>
            <a:off x="648000" y="864000"/>
            <a:ext cx="28800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28"/>
          <p:cNvSpPr/>
          <p:nvPr/>
        </p:nvSpPr>
        <p:spPr>
          <a:xfrm>
            <a:off x="648000" y="1152000"/>
            <a:ext cx="10980000" cy="1152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29"/>
          <p:cNvSpPr/>
          <p:nvPr/>
        </p:nvSpPr>
        <p:spPr>
          <a:xfrm>
            <a:off x="648000" y="1152000"/>
            <a:ext cx="144000" cy="1152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30"/>
          <p:cNvSpPr/>
          <p:nvPr/>
        </p:nvSpPr>
        <p:spPr>
          <a:xfrm>
            <a:off x="827999" y="1368000"/>
            <a:ext cx="1007999" cy="6480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31"/>
          <p:cNvSpPr/>
          <p:nvPr/>
        </p:nvSpPr>
        <p:spPr>
          <a:xfrm>
            <a:off x="827999" y="1368000"/>
            <a:ext cx="1007999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400" b="1" i="0" dirty="0">
                <a:solidFill>
                  <a:srgbClr val="FFFFFF"/>
                </a:solidFill>
              </a:rPr>
              <a:t>DD 4</a:t>
            </a:r>
          </a:p>
        </p:txBody>
      </p:sp>
      <p:sp>
        <p:nvSpPr>
          <p:cNvPr id="32" name="t32"/>
          <p:cNvSpPr/>
          <p:nvPr/>
        </p:nvSpPr>
        <p:spPr>
          <a:xfrm>
            <a:off x="1980000" y="1206000"/>
            <a:ext cx="6840000" cy="1007999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50" b="0" i="0" dirty="0">
                <a:solidFill>
                  <a:srgbClr val="374151"/>
                </a:solidFill>
              </a:rPr>
              <a:t>Loyihani doimiy yaxshi texnik tushunish</a:t>
            </a:r>
          </a:p>
          <a:p>
            <a:pPr algn="l"/>
            <a:r>
              <a:rPr lang="uz-UZ" sz="1750" b="0" i="0" dirty="0">
                <a:solidFill>
                  <a:srgbClr val="374151"/>
                </a:solidFill>
              </a:rPr>
              <a:t>va ko'nikmalarni samarali qo'llash</a:t>
            </a:r>
          </a:p>
        </p:txBody>
      </p:sp>
      <p:sp>
        <p:nvSpPr>
          <p:cNvPr id="33" name="t33"/>
          <p:cNvSpPr/>
          <p:nvPr/>
        </p:nvSpPr>
        <p:spPr>
          <a:xfrm>
            <a:off x="8820000" y="1332000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0" i="0" dirty="0">
                <a:solidFill>
                  <a:srgbClr val="6B7280"/>
                </a:solidFill>
              </a:rPr>
              <a:t>Bo'lim 3 &amp; 5</a:t>
            </a:r>
          </a:p>
        </p:txBody>
      </p:sp>
      <p:sp>
        <p:nvSpPr>
          <p:cNvPr id="34" name="r34"/>
          <p:cNvSpPr/>
          <p:nvPr/>
        </p:nvSpPr>
        <p:spPr>
          <a:xfrm>
            <a:off x="9900000" y="1440000"/>
            <a:ext cx="1620000" cy="503999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35"/>
          <p:cNvSpPr/>
          <p:nvPr/>
        </p:nvSpPr>
        <p:spPr>
          <a:xfrm>
            <a:off x="9900000" y="1440000"/>
            <a:ext cx="1620000" cy="503999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1" i="0" dirty="0">
                <a:solidFill>
                  <a:srgbClr val="059669"/>
                </a:solidFill>
              </a:rPr>
              <a:t>✅ BAJARILDI</a:t>
            </a:r>
          </a:p>
        </p:txBody>
      </p:sp>
      <p:sp>
        <p:nvSpPr>
          <p:cNvPr id="36" name="r36"/>
          <p:cNvSpPr/>
          <p:nvPr/>
        </p:nvSpPr>
        <p:spPr>
          <a:xfrm>
            <a:off x="648000" y="2412000"/>
            <a:ext cx="10980000" cy="1152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37"/>
          <p:cNvSpPr/>
          <p:nvPr/>
        </p:nvSpPr>
        <p:spPr>
          <a:xfrm>
            <a:off x="648000" y="2412000"/>
            <a:ext cx="144000" cy="115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38"/>
          <p:cNvSpPr/>
          <p:nvPr/>
        </p:nvSpPr>
        <p:spPr>
          <a:xfrm>
            <a:off x="827999" y="2628000"/>
            <a:ext cx="1007999" cy="648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t39"/>
          <p:cNvSpPr/>
          <p:nvPr/>
        </p:nvSpPr>
        <p:spPr>
          <a:xfrm>
            <a:off x="827999" y="2628000"/>
            <a:ext cx="1007999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400" b="1" i="0" dirty="0">
                <a:solidFill>
                  <a:srgbClr val="FFFFFF"/>
                </a:solidFill>
              </a:rPr>
              <a:t>D.M4</a:t>
            </a:r>
          </a:p>
        </p:txBody>
      </p:sp>
      <p:sp>
        <p:nvSpPr>
          <p:cNvPr id="40" name="t40"/>
          <p:cNvSpPr/>
          <p:nvPr/>
        </p:nvSpPr>
        <p:spPr>
          <a:xfrm>
            <a:off x="1980000" y="2466000"/>
            <a:ext cx="6840000" cy="1007999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50" b="0" i="0" dirty="0">
                <a:solidFill>
                  <a:srgbClr val="374151"/>
                </a:solidFill>
              </a:rPr>
              <a:t>AT loyihasi davomida qo'llaniladigan</a:t>
            </a:r>
          </a:p>
          <a:p>
            <a:pPr algn="l"/>
            <a:r>
              <a:rPr lang="uz-UZ" sz="1750" b="0" i="0" dirty="0">
                <a:solidFill>
                  <a:srgbClr val="374151"/>
                </a:solidFill>
              </a:rPr>
              <a:t>xatti-harakatlarni yaxshilashni tavsiya</a:t>
            </a:r>
          </a:p>
        </p:txBody>
      </p:sp>
      <p:sp>
        <p:nvSpPr>
          <p:cNvPr id="41" name="t41"/>
          <p:cNvSpPr/>
          <p:nvPr/>
        </p:nvSpPr>
        <p:spPr>
          <a:xfrm>
            <a:off x="8820000" y="2592000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0" i="0" dirty="0">
                <a:solidFill>
                  <a:srgbClr val="6B7280"/>
                </a:solidFill>
              </a:rPr>
              <a:t>Bo'lim 4</a:t>
            </a:r>
          </a:p>
        </p:txBody>
      </p:sp>
      <p:sp>
        <p:nvSpPr>
          <p:cNvPr id="42" name="r42"/>
          <p:cNvSpPr/>
          <p:nvPr/>
        </p:nvSpPr>
        <p:spPr>
          <a:xfrm>
            <a:off x="9900000" y="2700000"/>
            <a:ext cx="1620000" cy="503999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t43"/>
          <p:cNvSpPr/>
          <p:nvPr/>
        </p:nvSpPr>
        <p:spPr>
          <a:xfrm>
            <a:off x="9900000" y="2700000"/>
            <a:ext cx="1620000" cy="503999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1" i="0" dirty="0">
                <a:solidFill>
                  <a:srgbClr val="059669"/>
                </a:solidFill>
              </a:rPr>
              <a:t>✅ BAJARILDI</a:t>
            </a:r>
          </a:p>
        </p:txBody>
      </p:sp>
      <p:sp>
        <p:nvSpPr>
          <p:cNvPr id="44" name="r44"/>
          <p:cNvSpPr/>
          <p:nvPr/>
        </p:nvSpPr>
        <p:spPr>
          <a:xfrm>
            <a:off x="648000" y="3672000"/>
            <a:ext cx="10980000" cy="1152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45"/>
          <p:cNvSpPr/>
          <p:nvPr/>
        </p:nvSpPr>
        <p:spPr>
          <a:xfrm>
            <a:off x="648000" y="3672000"/>
            <a:ext cx="144000" cy="1152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46"/>
          <p:cNvSpPr/>
          <p:nvPr/>
        </p:nvSpPr>
        <p:spPr>
          <a:xfrm>
            <a:off x="827999" y="3888000"/>
            <a:ext cx="1007999" cy="6480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t47"/>
          <p:cNvSpPr/>
          <p:nvPr/>
        </p:nvSpPr>
        <p:spPr>
          <a:xfrm>
            <a:off x="827999" y="3888000"/>
            <a:ext cx="1007999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400" b="1" i="0" dirty="0">
                <a:solidFill>
                  <a:srgbClr val="FFFFFF"/>
                </a:solidFill>
              </a:rPr>
              <a:t>DP 8</a:t>
            </a:r>
          </a:p>
        </p:txBody>
      </p:sp>
      <p:sp>
        <p:nvSpPr>
          <p:cNvPr id="48" name="t48"/>
          <p:cNvSpPr/>
          <p:nvPr/>
        </p:nvSpPr>
        <p:spPr>
          <a:xfrm>
            <a:off x="1980000" y="3726000"/>
            <a:ext cx="6840000" cy="1007999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50" b="0" i="0" dirty="0">
                <a:solidFill>
                  <a:srgbClr val="374151"/>
                </a:solidFill>
              </a:rPr>
              <a:t>Loyiha boshqarish ko'nikmalaridan</a:t>
            </a:r>
          </a:p>
          <a:p>
            <a:pPr algn="l"/>
            <a:r>
              <a:rPr lang="uz-UZ" sz="1750" b="0" i="0" dirty="0">
                <a:solidFill>
                  <a:srgbClr val="374151"/>
                </a:solidFill>
              </a:rPr>
              <a:t>AT loyihasida foydalanganligini tushuntirish</a:t>
            </a:r>
          </a:p>
        </p:txBody>
      </p:sp>
      <p:sp>
        <p:nvSpPr>
          <p:cNvPr id="49" name="t49"/>
          <p:cNvSpPr/>
          <p:nvPr/>
        </p:nvSpPr>
        <p:spPr>
          <a:xfrm>
            <a:off x="8820000" y="3852000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0" i="0" dirty="0">
                <a:solidFill>
                  <a:srgbClr val="6B7280"/>
                </a:solidFill>
              </a:rPr>
              <a:t>Bo'lim 6</a:t>
            </a:r>
          </a:p>
        </p:txBody>
      </p:sp>
      <p:sp>
        <p:nvSpPr>
          <p:cNvPr id="50" name="r50"/>
          <p:cNvSpPr/>
          <p:nvPr/>
        </p:nvSpPr>
        <p:spPr>
          <a:xfrm>
            <a:off x="9900000" y="3960000"/>
            <a:ext cx="1620000" cy="503999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t51"/>
          <p:cNvSpPr/>
          <p:nvPr/>
        </p:nvSpPr>
        <p:spPr>
          <a:xfrm>
            <a:off x="9900000" y="3960000"/>
            <a:ext cx="1620000" cy="503999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1" i="0" dirty="0">
                <a:solidFill>
                  <a:srgbClr val="059669"/>
                </a:solidFill>
              </a:rPr>
              <a:t>✅ BAJARILDI</a:t>
            </a:r>
          </a:p>
        </p:txBody>
      </p:sp>
      <p:sp>
        <p:nvSpPr>
          <p:cNvPr id="52" name="r52"/>
          <p:cNvSpPr/>
          <p:nvPr/>
        </p:nvSpPr>
        <p:spPr>
          <a:xfrm>
            <a:off x="648000" y="4932000"/>
            <a:ext cx="10980000" cy="1152000"/>
          </a:xfrm>
          <a:prstGeom prst="roundRect">
            <a:avLst>
              <a:gd name="adj" fmla="val 70000"/>
            </a:avLst>
          </a:prstGeom>
          <a:solidFill>
            <a:srgbClr val="E0E7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53"/>
          <p:cNvSpPr/>
          <p:nvPr/>
        </p:nvSpPr>
        <p:spPr>
          <a:xfrm>
            <a:off x="648000" y="4932000"/>
            <a:ext cx="144000" cy="1152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54"/>
          <p:cNvSpPr/>
          <p:nvPr/>
        </p:nvSpPr>
        <p:spPr>
          <a:xfrm>
            <a:off x="827999" y="5148000"/>
            <a:ext cx="1007999" cy="6480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t55"/>
          <p:cNvSpPr/>
          <p:nvPr/>
        </p:nvSpPr>
        <p:spPr>
          <a:xfrm>
            <a:off x="827999" y="5148000"/>
            <a:ext cx="1007999" cy="64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2400" b="1" i="0" dirty="0">
                <a:solidFill>
                  <a:srgbClr val="FFFFFF"/>
                </a:solidFill>
              </a:rPr>
              <a:t>DP 9</a:t>
            </a:r>
          </a:p>
        </p:txBody>
      </p:sp>
      <p:sp>
        <p:nvSpPr>
          <p:cNvPr id="56" name="t56"/>
          <p:cNvSpPr/>
          <p:nvPr/>
        </p:nvSpPr>
        <p:spPr>
          <a:xfrm>
            <a:off x="1980000" y="4986000"/>
            <a:ext cx="6840000" cy="1007999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l"/>
            <a:r>
              <a:rPr lang="uz-UZ" sz="1750" b="0" i="0" dirty="0">
                <a:solidFill>
                  <a:srgbClr val="374151"/>
                </a:solidFill>
              </a:rPr>
              <a:t>AT loyihasini boshqarishda tegishli</a:t>
            </a:r>
          </a:p>
          <a:p>
            <a:pPr algn="l"/>
            <a:r>
              <a:rPr lang="uz-UZ" sz="1750" b="0" i="0" dirty="0">
                <a:solidFill>
                  <a:srgbClr val="374151"/>
                </a:solidFill>
              </a:rPr>
              <a:t>xatti-harakatlarni qo'llanganligini ko'rsatish</a:t>
            </a:r>
          </a:p>
        </p:txBody>
      </p:sp>
      <p:sp>
        <p:nvSpPr>
          <p:cNvPr id="57" name="t57"/>
          <p:cNvSpPr/>
          <p:nvPr/>
        </p:nvSpPr>
        <p:spPr>
          <a:xfrm>
            <a:off x="8820000" y="5112000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0" i="0" dirty="0">
                <a:solidFill>
                  <a:srgbClr val="6B7280"/>
                </a:solidFill>
              </a:rPr>
              <a:t>Bo'lim 7</a:t>
            </a:r>
          </a:p>
        </p:txBody>
      </p:sp>
      <p:sp>
        <p:nvSpPr>
          <p:cNvPr id="58" name="r58"/>
          <p:cNvSpPr/>
          <p:nvPr/>
        </p:nvSpPr>
        <p:spPr>
          <a:xfrm>
            <a:off x="9900000" y="5220000"/>
            <a:ext cx="1620000" cy="503999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t59"/>
          <p:cNvSpPr/>
          <p:nvPr/>
        </p:nvSpPr>
        <p:spPr>
          <a:xfrm>
            <a:off x="9900000" y="5220000"/>
            <a:ext cx="1620000" cy="503999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1" i="0" dirty="0">
                <a:solidFill>
                  <a:srgbClr val="059669"/>
                </a:solidFill>
              </a:rPr>
              <a:t>✅ BAJARILDI</a:t>
            </a:r>
          </a:p>
        </p:txBody>
      </p:sp>
      <p:sp>
        <p:nvSpPr>
          <p:cNvPr id="60" name="r60"/>
          <p:cNvSpPr/>
          <p:nvPr/>
        </p:nvSpPr>
        <p:spPr>
          <a:xfrm>
            <a:off x="648000" y="6120000"/>
            <a:ext cx="10980000" cy="540000"/>
          </a:xfrm>
          <a:prstGeom prst="roundRect">
            <a:avLst>
              <a:gd name="adj" fmla="val 60000"/>
            </a:avLst>
          </a:prstGeom>
          <a:solidFill>
            <a:srgbClr val="FEF3C7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61"/>
          <p:cNvSpPr/>
          <p:nvPr/>
        </p:nvSpPr>
        <p:spPr>
          <a:xfrm>
            <a:off x="648000" y="6120000"/>
            <a:ext cx="10980000" cy="203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t62"/>
          <p:cNvSpPr/>
          <p:nvPr/>
        </p:nvSpPr>
        <p:spPr>
          <a:xfrm>
            <a:off x="2880000" y="6156000"/>
            <a:ext cx="720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ctr"/>
            <a:r>
              <a:rPr lang="uz-UZ" sz="1600" b="0" i="0" dirty="0">
                <a:solidFill>
                  <a:srgbClr val="D97706"/>
                </a:solidFill>
              </a:rPr>
              <a:t>Pearson | BTEC  ·  9-bo'lim LAD  ·  2-son  ·  2024 yil iyun  ·  D maqsad — 13 ball</a:t>
            </a:r>
          </a:p>
        </p:txBody>
      </p:sp>
      <p:sp>
        <p:nvSpPr>
          <p:cNvPr id="63" name="t63"/>
          <p:cNvSpPr/>
          <p:nvPr/>
        </p:nvSpPr>
        <p:spPr>
          <a:xfrm>
            <a:off x="11340000" y="6408000"/>
            <a:ext cx="720000" cy="3240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38100" bIns="38100" autofit="1"/>
          <a:lstStyle/>
          <a:p>
            <a:pPr algn="r"/>
            <a:r>
              <a:rPr lang="uz-UZ" sz="1400" b="0" i="0" dirty="0">
                <a:solidFill>
                  <a:srgbClr val="6B7280"/>
                </a:solidFill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TEC">
  <a:themeElements>
    <a:clrScheme name="BTEC">
      <a:dk1>
        <a:srgbClr val="1E1B4B"/>
      </a:dk1>
      <a:lt1>
        <a:srgbClr val="F8F9FF"/>
      </a:lt1>
      <a:dk2>
        <a:srgbClr val="374151"/>
      </a:dk2>
      <a:lt2>
        <a:srgbClr val="EEF2FF"/>
      </a:lt2>
      <a:accent1>
        <a:srgbClr val="D97706"/>
      </a:accent1>
      <a:accent2>
        <a:srgbClr val="2563EB"/>
      </a:accent2>
      <a:accent3>
        <a:srgbClr val="E11D48"/>
      </a:accent3>
      <a:accent4>
        <a:srgbClr val="059669"/>
      </a:accent4>
      <a:accent5>
        <a:srgbClr val="7C3AED"/>
      </a:accent5>
      <a:accent6>
        <a:srgbClr val="0891B2"/>
      </a:accent6>
      <a:hlink>
        <a:srgbClr val="2563EB"/>
      </a:hlink>
      <a:folHlink>
        <a:srgbClr val="6B7280"/>
      </a:folHlink>
    </a:clrScheme>
    <a:fontScheme name="BTEC">
      <a:majorFont>
        <a:latin typeface="Segoe UI" panose="020B0604020202020204"/>
        <a:ea typeface=""/>
        <a:cs typeface=""/>
      </a:majorFont>
      <a:minorFont>
        <a:latin typeface="Segoe UI" panose="020B0604020202020204"/>
        <a:ea typeface=""/>
        <a:cs typeface=""/>
      </a:minorFont>
    </a:fontScheme>
    <a:fmtScheme name="BTE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