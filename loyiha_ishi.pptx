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slideMasters/slideMaster1.xml"/>
  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  <Relationship Id="rId2"
    Type="http://schemas.openxmlformats.org/officeDocument/2006/relationships/theme"
   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lang="uz-UZ" sz="3200" b="1"/>
      </a:lvl1pPr>
    </p:titleStyle>
    <p:bodyStyle>
      <a:lvl1pPr>
        <a:defRPr lang="uz-UZ" sz="1800"/>
      </a:lvl1pPr>
    </p:bodyStyle>
    <p:otherStyle>
      <a:defPPr>
        <a:defRPr lang="uz-UZ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900000"/>
            <a:ext cx="7200000" cy="288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900000"/>
            <a:ext cx="180000" cy="2880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432000"/>
            <a:ext cx="2520000" cy="360000"/>
          </a:xfrm>
          <a:prstGeom prst="roundRect">
            <a:avLst>
              <a:gd name="adj" fmla="val 4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684000" y="432000"/>
            <a:ext cx="244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400" b="1" i="0" dirty="0">
                <a:solidFill>
                  <a:srgbClr val="FFFFFF"/>
                </a:solidFill>
              </a:rPr>
              <a:t>Pearson | BTEC  ·  Axborot Texnologiyalari</a:t>
            </a:r>
          </a:p>
        </p:txBody>
      </p:sp>
      <p:sp>
        <p:nvSpPr>
          <p:cNvPr id="30" name="t30"/>
          <p:cNvSpPr/>
          <p:nvPr/>
        </p:nvSpPr>
        <p:spPr>
          <a:xfrm>
            <a:off x="864000" y="1080000"/>
            <a:ext cx="6840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3800" b="1" i="0" dirty="0">
                <a:solidFill>
                  <a:srgbClr val="111827"/>
                </a:solidFill>
              </a:rPr>
              <a:t>KOMPYUTER TIZIMINI</a:t>
            </a:r>
          </a:p>
          <a:p>
            <a:pPr algn="l"/>
            <a:r>
              <a:rPr lang="uz-UZ" sz="3800" b="1" i="0" dirty="0">
                <a:solidFill>
                  <a:srgbClr val="111827"/>
                </a:solidFill>
              </a:rPr>
              <a:t>TO'G'RI TUSHUNTIRISH DASTURI</a:t>
            </a:r>
          </a:p>
        </p:txBody>
      </p:sp>
      <p:sp>
        <p:nvSpPr>
          <p:cNvPr id="31" name="t31"/>
          <p:cNvSpPr/>
          <p:nvPr/>
        </p:nvSpPr>
        <p:spPr>
          <a:xfrm>
            <a:off x="864000" y="2448000"/>
            <a:ext cx="68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0" i="0" dirty="0">
                <a:solidFill>
                  <a:srgbClr val="B8860B"/>
                </a:solidFill>
              </a:rPr>
              <a:t>Loyiha Ishi  —  D Maqsad  (13 ball)</a:t>
            </a:r>
          </a:p>
        </p:txBody>
      </p:sp>
      <p:sp>
        <p:nvSpPr>
          <p:cNvPr id="32" name="r32"/>
          <p:cNvSpPr/>
          <p:nvPr/>
        </p:nvSpPr>
        <p:spPr>
          <a:xfrm>
            <a:off x="8280000" y="1260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r33"/>
          <p:cNvSpPr/>
          <p:nvPr/>
        </p:nvSpPr>
        <p:spPr>
          <a:xfrm>
            <a:off x="8280000" y="1260000"/>
            <a:ext cx="3600000" cy="228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8352000" y="1514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B8860B"/>
                </a:solidFill>
              </a:rPr>
              <a:t>Topshiriq</a:t>
            </a:r>
          </a:p>
        </p:txBody>
      </p:sp>
      <p:sp>
        <p:nvSpPr>
          <p:cNvPr id="35" name="t35"/>
          <p:cNvSpPr/>
          <p:nvPr/>
        </p:nvSpPr>
        <p:spPr>
          <a:xfrm>
            <a:off x="10008000" y="1514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374151"/>
                </a:solidFill>
              </a:rPr>
              <a:t>Loyiha qanday o'tdi?</a:t>
            </a:r>
          </a:p>
        </p:txBody>
      </p:sp>
      <p:sp>
        <p:nvSpPr>
          <p:cNvPr id="36" name="r36"/>
          <p:cNvSpPr/>
          <p:nvPr/>
        </p:nvSpPr>
        <p:spPr>
          <a:xfrm>
            <a:off x="8280000" y="1872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8280000" y="1872000"/>
            <a:ext cx="3600000" cy="228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352000" y="2126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B8860B"/>
                </a:solidFill>
              </a:rPr>
              <a:t>Modul</a:t>
            </a:r>
          </a:p>
        </p:txBody>
      </p:sp>
      <p:sp>
        <p:nvSpPr>
          <p:cNvPr id="39" name="t39"/>
          <p:cNvSpPr/>
          <p:nvPr/>
        </p:nvSpPr>
        <p:spPr>
          <a:xfrm>
            <a:off x="10008000" y="2126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374151"/>
                </a:solidFill>
              </a:rPr>
              <a:t>DD4 · D.M4 · DP8 · DP9</a:t>
            </a:r>
          </a:p>
        </p:txBody>
      </p:sp>
      <p:sp>
        <p:nvSpPr>
          <p:cNvPr id="40" name="r40"/>
          <p:cNvSpPr/>
          <p:nvPr/>
        </p:nvSpPr>
        <p:spPr>
          <a:xfrm>
            <a:off x="8280000" y="2484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8280000" y="2484000"/>
            <a:ext cx="3600000" cy="228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8352000" y="2738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B8860B"/>
                </a:solidFill>
              </a:rPr>
              <a:t>Dastur nomi</a:t>
            </a:r>
          </a:p>
        </p:txBody>
      </p:sp>
      <p:sp>
        <p:nvSpPr>
          <p:cNvPr id="43" name="t43"/>
          <p:cNvSpPr/>
          <p:nvPr/>
        </p:nvSpPr>
        <p:spPr>
          <a:xfrm>
            <a:off x="10008000" y="2738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374151"/>
                </a:solidFill>
              </a:rPr>
              <a:t>KTMD v1.0</a:t>
            </a:r>
          </a:p>
        </p:txBody>
      </p:sp>
      <p:sp>
        <p:nvSpPr>
          <p:cNvPr id="44" name="r44"/>
          <p:cNvSpPr/>
          <p:nvPr/>
        </p:nvSpPr>
        <p:spPr>
          <a:xfrm>
            <a:off x="8280000" y="3096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45"/>
          <p:cNvSpPr/>
          <p:nvPr/>
        </p:nvSpPr>
        <p:spPr>
          <a:xfrm>
            <a:off x="8280000" y="3096000"/>
            <a:ext cx="3600000" cy="228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8352000" y="3350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B8860B"/>
                </a:solidFill>
              </a:rPr>
              <a:t>Muddati</a:t>
            </a:r>
          </a:p>
        </p:txBody>
      </p:sp>
      <p:sp>
        <p:nvSpPr>
          <p:cNvPr id="47" name="t47"/>
          <p:cNvSpPr/>
          <p:nvPr/>
        </p:nvSpPr>
        <p:spPr>
          <a:xfrm>
            <a:off x="10008000" y="3350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374151"/>
                </a:solidFill>
              </a:rPr>
              <a:t>2024, Iyun</a:t>
            </a:r>
          </a:p>
        </p:txBody>
      </p:sp>
      <p:sp>
        <p:nvSpPr>
          <p:cNvPr id="48" name="t48"/>
          <p:cNvSpPr/>
          <p:nvPr/>
        </p:nvSpPr>
        <p:spPr>
          <a:xfrm>
            <a:off x="648000" y="6192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300" b="0" i="0" dirty="0">
                <a:solidFill>
                  <a:srgbClr val="6B7280"/>
                </a:solidFill>
              </a:rPr>
              <a:t>9-bo'lim LAD  ·  2-son  ·  2024 yil iyun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3200" b="1" i="0" dirty="0">
                <a:solidFill>
                  <a:srgbClr val="111827"/>
                </a:solidFill>
              </a:rPr>
              <a:t>MUNDARIJA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80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80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864000" y="1098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01</a:t>
            </a:r>
          </a:p>
        </p:txBody>
      </p:sp>
      <p:sp>
        <p:nvSpPr>
          <p:cNvPr id="31" name="t31"/>
          <p:cNvSpPr/>
          <p:nvPr/>
        </p:nvSpPr>
        <p:spPr>
          <a:xfrm>
            <a:off x="1440000" y="1188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Loyiha haqida umumiy ma'lumot</a:t>
            </a:r>
          </a:p>
        </p:txBody>
      </p:sp>
      <p:sp>
        <p:nvSpPr>
          <p:cNvPr id="32" name="r32"/>
          <p:cNvSpPr/>
          <p:nvPr/>
        </p:nvSpPr>
        <p:spPr>
          <a:xfrm>
            <a:off x="648000" y="1872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r33"/>
          <p:cNvSpPr/>
          <p:nvPr/>
        </p:nvSpPr>
        <p:spPr>
          <a:xfrm>
            <a:off x="648000" y="1872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864000" y="189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02</a:t>
            </a:r>
          </a:p>
        </p:txBody>
      </p:sp>
      <p:sp>
        <p:nvSpPr>
          <p:cNvPr id="35" name="t35"/>
          <p:cNvSpPr/>
          <p:nvPr/>
        </p:nvSpPr>
        <p:spPr>
          <a:xfrm>
            <a:off x="1440000" y="1980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Dasturning ishlash mexanizmi</a:t>
            </a:r>
          </a:p>
        </p:txBody>
      </p:sp>
      <p:sp>
        <p:nvSpPr>
          <p:cNvPr id="36" name="r36"/>
          <p:cNvSpPr/>
          <p:nvPr/>
        </p:nvSpPr>
        <p:spPr>
          <a:xfrm>
            <a:off x="648000" y="2664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648000" y="2664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64000" y="2682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03</a:t>
            </a:r>
          </a:p>
        </p:txBody>
      </p:sp>
      <p:sp>
        <p:nvSpPr>
          <p:cNvPr id="39" name="t39"/>
          <p:cNvSpPr/>
          <p:nvPr/>
        </p:nvSpPr>
        <p:spPr>
          <a:xfrm>
            <a:off x="1440000" y="2772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DD 4 — Texnik ko'nikmalarni qo'llash</a:t>
            </a:r>
          </a:p>
        </p:txBody>
      </p:sp>
      <p:sp>
        <p:nvSpPr>
          <p:cNvPr id="40" name="r40"/>
          <p:cNvSpPr/>
          <p:nvPr/>
        </p:nvSpPr>
        <p:spPr>
          <a:xfrm>
            <a:off x="648000" y="3456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648000" y="3456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864000" y="3474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04</a:t>
            </a:r>
          </a:p>
        </p:txBody>
      </p:sp>
      <p:sp>
        <p:nvSpPr>
          <p:cNvPr id="43" name="t43"/>
          <p:cNvSpPr/>
          <p:nvPr/>
        </p:nvSpPr>
        <p:spPr>
          <a:xfrm>
            <a:off x="1440000" y="3564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D.M4 — Xatti-harakatlarni yaxshilash tavsiyalari</a:t>
            </a:r>
          </a:p>
        </p:txBody>
      </p:sp>
      <p:sp>
        <p:nvSpPr>
          <p:cNvPr id="44" name="r44"/>
          <p:cNvSpPr/>
          <p:nvPr/>
        </p:nvSpPr>
        <p:spPr>
          <a:xfrm>
            <a:off x="6408000" y="1080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45"/>
          <p:cNvSpPr/>
          <p:nvPr/>
        </p:nvSpPr>
        <p:spPr>
          <a:xfrm>
            <a:off x="6408000" y="1080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6624000" y="1098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05</a:t>
            </a:r>
          </a:p>
        </p:txBody>
      </p:sp>
      <p:sp>
        <p:nvSpPr>
          <p:cNvPr id="47" name="t47"/>
          <p:cNvSpPr/>
          <p:nvPr/>
        </p:nvSpPr>
        <p:spPr>
          <a:xfrm>
            <a:off x="7200000" y="1188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DP 8 — Loyiha boshqarish ko'nikmalari</a:t>
            </a:r>
          </a:p>
        </p:txBody>
      </p:sp>
      <p:sp>
        <p:nvSpPr>
          <p:cNvPr id="48" name="r48"/>
          <p:cNvSpPr/>
          <p:nvPr/>
        </p:nvSpPr>
        <p:spPr>
          <a:xfrm>
            <a:off x="6408000" y="1872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6408000" y="1872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6624000" y="189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06</a:t>
            </a:r>
          </a:p>
        </p:txBody>
      </p:sp>
      <p:sp>
        <p:nvSpPr>
          <p:cNvPr id="51" name="t51"/>
          <p:cNvSpPr/>
          <p:nvPr/>
        </p:nvSpPr>
        <p:spPr>
          <a:xfrm>
            <a:off x="7200000" y="1980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DP 9 — Kasbiy xatti-harakatlar</a:t>
            </a:r>
          </a:p>
        </p:txBody>
      </p:sp>
      <p:sp>
        <p:nvSpPr>
          <p:cNvPr id="52" name="r52"/>
          <p:cNvSpPr/>
          <p:nvPr/>
        </p:nvSpPr>
        <p:spPr>
          <a:xfrm>
            <a:off x="6408000" y="2664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6408000" y="2664000"/>
            <a:ext cx="125999" cy="684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54"/>
          <p:cNvSpPr/>
          <p:nvPr/>
        </p:nvSpPr>
        <p:spPr>
          <a:xfrm>
            <a:off x="6624000" y="2682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1D4ED8"/>
                </a:solidFill>
              </a:rPr>
              <a:t>07</a:t>
            </a:r>
          </a:p>
        </p:txBody>
      </p:sp>
      <p:sp>
        <p:nvSpPr>
          <p:cNvPr id="55" name="t55"/>
          <p:cNvSpPr/>
          <p:nvPr/>
        </p:nvSpPr>
        <p:spPr>
          <a:xfrm>
            <a:off x="7200000" y="2772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Natijalar va xulosa</a:t>
            </a:r>
          </a:p>
        </p:txBody>
      </p:sp>
      <p:sp>
        <p:nvSpPr>
          <p:cNvPr id="56" name="t56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01  |  LOYIHA HAQIDA UMUMIY MA'LUMOT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07999"/>
            <a:ext cx="7200000" cy="14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07999"/>
            <a:ext cx="144000" cy="1440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864000" y="1080000"/>
            <a:ext cx="6912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Yangi dasturiy ta'minot kompaniyasida IT mutaxassisi sifatida</a:t>
            </a:r>
          </a:p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ishga qabul qilindim. Loyiha — Kompyuter Tizimi Monitor Dasturi</a:t>
            </a:r>
          </a:p>
          <a:p>
            <a:pPr algn="l"/>
            <a:r>
              <a:rPr lang="uz-UZ" sz="1900" b="0" i="0" dirty="0">
                <a:solidFill>
                  <a:srgbClr val="1F2937"/>
                </a:solidFill>
              </a:rPr>
              <a:t>(KTMD) — yakunlangandan so'ng ushbu hisobot tayyorlandi.</a:t>
            </a:r>
          </a:p>
        </p:txBody>
      </p:sp>
      <p:sp>
        <p:nvSpPr>
          <p:cNvPr id="31" name="r31"/>
          <p:cNvSpPr/>
          <p:nvPr/>
        </p:nvSpPr>
        <p:spPr>
          <a:xfrm>
            <a:off x="64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648000" y="2880000"/>
            <a:ext cx="2700000" cy="20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64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B8860B"/>
                </a:solidFill>
              </a:rPr>
              <a:t>KTMD v1.0</a:t>
            </a:r>
          </a:p>
        </p:txBody>
      </p:sp>
      <p:sp>
        <p:nvSpPr>
          <p:cNvPr id="34" name="t34"/>
          <p:cNvSpPr/>
          <p:nvPr/>
        </p:nvSpPr>
        <p:spPr>
          <a:xfrm>
            <a:off x="64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1F2937"/>
                </a:solidFill>
              </a:rPr>
              <a:t>Dastur nomi</a:t>
            </a:r>
          </a:p>
        </p:txBody>
      </p:sp>
      <p:sp>
        <p:nvSpPr>
          <p:cNvPr id="35" name="r35"/>
          <p:cNvSpPr/>
          <p:nvPr/>
        </p:nvSpPr>
        <p:spPr>
          <a:xfrm>
            <a:off x="352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3528000" y="2880000"/>
            <a:ext cx="2700000" cy="203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352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1D4ED8"/>
                </a:solidFill>
              </a:rPr>
              <a:t>8 hafta</a:t>
            </a:r>
          </a:p>
        </p:txBody>
      </p:sp>
      <p:sp>
        <p:nvSpPr>
          <p:cNvPr id="38" name="t38"/>
          <p:cNvSpPr/>
          <p:nvPr/>
        </p:nvSpPr>
        <p:spPr>
          <a:xfrm>
            <a:off x="352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1F2937"/>
                </a:solidFill>
              </a:rPr>
              <a:t>Loyiha muddati</a:t>
            </a:r>
          </a:p>
        </p:txBody>
      </p:sp>
      <p:sp>
        <p:nvSpPr>
          <p:cNvPr id="39" name="r39"/>
          <p:cNvSpPr/>
          <p:nvPr/>
        </p:nvSpPr>
        <p:spPr>
          <a:xfrm>
            <a:off x="640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40"/>
          <p:cNvSpPr/>
          <p:nvPr/>
        </p:nvSpPr>
        <p:spPr>
          <a:xfrm>
            <a:off x="6408000" y="2880000"/>
            <a:ext cx="2700000" cy="203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640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15803D"/>
                </a:solidFill>
              </a:rPr>
              <a:t>13 ball</a:t>
            </a:r>
          </a:p>
        </p:txBody>
      </p:sp>
      <p:sp>
        <p:nvSpPr>
          <p:cNvPr id="42" name="t42"/>
          <p:cNvSpPr/>
          <p:nvPr/>
        </p:nvSpPr>
        <p:spPr>
          <a:xfrm>
            <a:off x="640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1F2937"/>
                </a:solidFill>
              </a:rPr>
              <a:t>D maqsad</a:t>
            </a:r>
          </a:p>
        </p:txBody>
      </p:sp>
      <p:sp>
        <p:nvSpPr>
          <p:cNvPr id="43" name="r43"/>
          <p:cNvSpPr/>
          <p:nvPr/>
        </p:nvSpPr>
        <p:spPr>
          <a:xfrm>
            <a:off x="928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9288000" y="2880000"/>
            <a:ext cx="2700000" cy="203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928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DC2626"/>
                </a:solidFill>
              </a:rPr>
              <a:t>6 modul</a:t>
            </a:r>
          </a:p>
        </p:txBody>
      </p:sp>
      <p:sp>
        <p:nvSpPr>
          <p:cNvPr id="46" name="t46"/>
          <p:cNvSpPr/>
          <p:nvPr/>
        </p:nvSpPr>
        <p:spPr>
          <a:xfrm>
            <a:off x="928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1F2937"/>
                </a:solidFill>
              </a:rPr>
              <a:t>Tarkibiy qismlar</a:t>
            </a:r>
          </a:p>
        </p:txBody>
      </p:sp>
      <p:sp>
        <p:nvSpPr>
          <p:cNvPr id="47" name="t47"/>
          <p:cNvSpPr/>
          <p:nvPr/>
        </p:nvSpPr>
        <p:spPr>
          <a:xfrm>
            <a:off x="648000" y="522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6B7280"/>
                </a:solidFill>
              </a:rPr>
              <a:t>Kasbiy senariy: Siz yangi dasturiy ta'minot kompaniyasiga ishga olingan IT mutaxassisisiz.</a:t>
            </a:r>
          </a:p>
        </p:txBody>
      </p:sp>
      <p:sp>
        <p:nvSpPr>
          <p:cNvPr id="48" name="t48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02  |  DASTURNING ISHLASH MEXANIZMI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07999"/>
            <a:ext cx="3420000" cy="20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792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792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2" name="t32"/>
          <p:cNvSpPr/>
          <p:nvPr/>
        </p:nvSpPr>
        <p:spPr>
          <a:xfrm>
            <a:off x="1440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B8860B"/>
                </a:solidFill>
              </a:rPr>
              <a:t>LOGIN</a:t>
            </a:r>
          </a:p>
        </p:txBody>
      </p:sp>
      <p:sp>
        <p:nvSpPr>
          <p:cNvPr id="33" name="t33"/>
          <p:cNvSpPr/>
          <p:nvPr/>
        </p:nvSpPr>
        <p:spPr>
          <a:xfrm>
            <a:off x="792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SHA-256 shifrlash bilan autentifikatsiya</a:t>
            </a:r>
          </a:p>
        </p:txBody>
      </p:sp>
      <p:sp>
        <p:nvSpPr>
          <p:cNvPr id="34" name="r34"/>
          <p:cNvSpPr/>
          <p:nvPr/>
        </p:nvSpPr>
        <p:spPr>
          <a:xfrm>
            <a:off x="4320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4320000" y="1007999"/>
            <a:ext cx="3420000" cy="203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4464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4464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8" name="t38"/>
          <p:cNvSpPr/>
          <p:nvPr/>
        </p:nvSpPr>
        <p:spPr>
          <a:xfrm>
            <a:off x="5112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D4ED8"/>
                </a:solidFill>
              </a:rPr>
              <a:t>SKANERLASH</a:t>
            </a:r>
          </a:p>
        </p:txBody>
      </p:sp>
      <p:sp>
        <p:nvSpPr>
          <p:cNvPr id="39" name="t39"/>
          <p:cNvSpPr/>
          <p:nvPr/>
        </p:nvSpPr>
        <p:spPr>
          <a:xfrm>
            <a:off x="4464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Tarmoqda IP manzillarni aniqlash (Nmap)</a:t>
            </a:r>
          </a:p>
        </p:txBody>
      </p:sp>
      <p:sp>
        <p:nvSpPr>
          <p:cNvPr id="40" name="r40"/>
          <p:cNvSpPr/>
          <p:nvPr/>
        </p:nvSpPr>
        <p:spPr>
          <a:xfrm>
            <a:off x="7992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7992000" y="1007999"/>
            <a:ext cx="3420000" cy="203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8136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8136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4" name="t44"/>
          <p:cNvSpPr/>
          <p:nvPr/>
        </p:nvSpPr>
        <p:spPr>
          <a:xfrm>
            <a:off x="8784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5803D"/>
                </a:solidFill>
              </a:rPr>
              <a:t>MONITORING</a:t>
            </a:r>
          </a:p>
        </p:txBody>
      </p:sp>
      <p:sp>
        <p:nvSpPr>
          <p:cNvPr id="45" name="t45"/>
          <p:cNvSpPr/>
          <p:nvPr/>
        </p:nvSpPr>
        <p:spPr>
          <a:xfrm>
            <a:off x="8136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CPU, RAM, Disk — har 5 soniyada o'lchash</a:t>
            </a:r>
          </a:p>
        </p:txBody>
      </p:sp>
      <p:sp>
        <p:nvSpPr>
          <p:cNvPr id="46" name="r46"/>
          <p:cNvSpPr/>
          <p:nvPr/>
        </p:nvSpPr>
        <p:spPr>
          <a:xfrm>
            <a:off x="648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648000" y="3600000"/>
            <a:ext cx="3420000" cy="203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792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792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0" name="t50"/>
          <p:cNvSpPr/>
          <p:nvPr/>
        </p:nvSpPr>
        <p:spPr>
          <a:xfrm>
            <a:off x="1440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DC2626"/>
                </a:solidFill>
              </a:rPr>
              <a:t>OGOHLANTIRISH</a:t>
            </a:r>
          </a:p>
        </p:txBody>
      </p:sp>
      <p:sp>
        <p:nvSpPr>
          <p:cNvPr id="51" name="t51"/>
          <p:cNvSpPr/>
          <p:nvPr/>
        </p:nvSpPr>
        <p:spPr>
          <a:xfrm>
            <a:off x="792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CPU&gt;90% yoki Disk&gt;95% da email yuborish</a:t>
            </a:r>
          </a:p>
        </p:txBody>
      </p:sp>
      <p:sp>
        <p:nvSpPr>
          <p:cNvPr id="52" name="r52"/>
          <p:cNvSpPr/>
          <p:nvPr/>
        </p:nvSpPr>
        <p:spPr>
          <a:xfrm>
            <a:off x="4320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4320000" y="3600000"/>
            <a:ext cx="3420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4464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4464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6" name="t56"/>
          <p:cNvSpPr/>
          <p:nvPr/>
        </p:nvSpPr>
        <p:spPr>
          <a:xfrm>
            <a:off x="5112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A78BFA"/>
                </a:solidFill>
              </a:rPr>
              <a:t>SAQLASH</a:t>
            </a:r>
          </a:p>
        </p:txBody>
      </p:sp>
      <p:sp>
        <p:nvSpPr>
          <p:cNvPr id="57" name="t57"/>
          <p:cNvSpPr/>
          <p:nvPr/>
        </p:nvSpPr>
        <p:spPr>
          <a:xfrm>
            <a:off x="4464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Barcha ma'lumotlar SQLite bazasiga yoziladi</a:t>
            </a:r>
          </a:p>
        </p:txBody>
      </p:sp>
      <p:sp>
        <p:nvSpPr>
          <p:cNvPr id="58" name="r58"/>
          <p:cNvSpPr/>
          <p:nvPr/>
        </p:nvSpPr>
        <p:spPr>
          <a:xfrm>
            <a:off x="7992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r59"/>
          <p:cNvSpPr/>
          <p:nvPr/>
        </p:nvSpPr>
        <p:spPr>
          <a:xfrm>
            <a:off x="7992000" y="3600000"/>
            <a:ext cx="3420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r60"/>
          <p:cNvSpPr/>
          <p:nvPr/>
        </p:nvSpPr>
        <p:spPr>
          <a:xfrm>
            <a:off x="8136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61"/>
          <p:cNvSpPr/>
          <p:nvPr/>
        </p:nvSpPr>
        <p:spPr>
          <a:xfrm>
            <a:off x="8136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2" name="t62"/>
          <p:cNvSpPr/>
          <p:nvPr/>
        </p:nvSpPr>
        <p:spPr>
          <a:xfrm>
            <a:off x="8784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4D399"/>
                </a:solidFill>
              </a:rPr>
              <a:t>HISOBOT</a:t>
            </a:r>
          </a:p>
        </p:txBody>
      </p:sp>
      <p:sp>
        <p:nvSpPr>
          <p:cNvPr id="63" name="t63"/>
          <p:cNvSpPr/>
          <p:nvPr/>
        </p:nvSpPr>
        <p:spPr>
          <a:xfrm>
            <a:off x="8136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PDF/Excel formatda avtomatik hisobot olish</a:t>
            </a:r>
          </a:p>
        </p:txBody>
      </p:sp>
      <p:sp>
        <p:nvSpPr>
          <p:cNvPr id="64" name="t64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02  |  DASTUR ARXITEKTURASI — MODULLAR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152000"/>
            <a:ext cx="2753000" cy="432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902000" y="1152000"/>
            <a:ext cx="249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FFFFFF"/>
                </a:solidFill>
              </a:rPr>
              <a:t>Modul</a:t>
            </a:r>
          </a:p>
        </p:txBody>
      </p:sp>
      <p:sp>
        <p:nvSpPr>
          <p:cNvPr id="30" name="r30"/>
          <p:cNvSpPr/>
          <p:nvPr/>
        </p:nvSpPr>
        <p:spPr>
          <a:xfrm>
            <a:off x="3671999" y="1152000"/>
            <a:ext cx="5633000" cy="432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3925999" y="1152000"/>
            <a:ext cx="537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FFFFFF"/>
                </a:solidFill>
              </a:rPr>
              <a:t>Vazifasi</a:t>
            </a:r>
          </a:p>
        </p:txBody>
      </p:sp>
      <p:sp>
        <p:nvSpPr>
          <p:cNvPr id="32" name="r32"/>
          <p:cNvSpPr/>
          <p:nvPr/>
        </p:nvSpPr>
        <p:spPr>
          <a:xfrm>
            <a:off x="9576000" y="1152000"/>
            <a:ext cx="2753000" cy="432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9830000" y="1152000"/>
            <a:ext cx="249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FFFFFF"/>
                </a:solidFill>
              </a:rPr>
              <a:t>Texnologiya</a:t>
            </a:r>
          </a:p>
        </p:txBody>
      </p:sp>
      <p:sp>
        <p:nvSpPr>
          <p:cNvPr id="34" name="r34"/>
          <p:cNvSpPr/>
          <p:nvPr/>
        </p:nvSpPr>
        <p:spPr>
          <a:xfrm>
            <a:off x="648000" y="162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902000" y="174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GUI Moduli</a:t>
            </a:r>
          </a:p>
        </p:txBody>
      </p:sp>
      <p:sp>
        <p:nvSpPr>
          <p:cNvPr id="36" name="r36"/>
          <p:cNvSpPr/>
          <p:nvPr/>
        </p:nvSpPr>
        <p:spPr>
          <a:xfrm>
            <a:off x="3671999" y="1620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3925999" y="1747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Foydalanuvchi interfeysi, tugmalar, grafik</a:t>
            </a:r>
          </a:p>
        </p:txBody>
      </p:sp>
      <p:sp>
        <p:nvSpPr>
          <p:cNvPr id="38" name="r38"/>
          <p:cNvSpPr/>
          <p:nvPr/>
        </p:nvSpPr>
        <p:spPr>
          <a:xfrm>
            <a:off x="9576000" y="162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9830000" y="174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Python Tkinter</a:t>
            </a:r>
          </a:p>
        </p:txBody>
      </p:sp>
      <p:sp>
        <p:nvSpPr>
          <p:cNvPr id="40" name="r40"/>
          <p:cNvSpPr/>
          <p:nvPr/>
        </p:nvSpPr>
        <p:spPr>
          <a:xfrm>
            <a:off x="648000" y="2376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902000" y="2503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Tarmoq Skaneri</a:t>
            </a:r>
          </a:p>
        </p:txBody>
      </p:sp>
      <p:sp>
        <p:nvSpPr>
          <p:cNvPr id="42" name="r42"/>
          <p:cNvSpPr/>
          <p:nvPr/>
        </p:nvSpPr>
        <p:spPr>
          <a:xfrm>
            <a:off x="3671999" y="2376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3925999" y="2503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IP skanerlash, qurilmalarni aniqlash</a:t>
            </a:r>
          </a:p>
        </p:txBody>
      </p:sp>
      <p:sp>
        <p:nvSpPr>
          <p:cNvPr id="44" name="r44"/>
          <p:cNvSpPr/>
          <p:nvPr/>
        </p:nvSpPr>
        <p:spPr>
          <a:xfrm>
            <a:off x="9576000" y="2376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9830000" y="2503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socket / nmap</a:t>
            </a:r>
          </a:p>
        </p:txBody>
      </p:sp>
      <p:sp>
        <p:nvSpPr>
          <p:cNvPr id="46" name="r46"/>
          <p:cNvSpPr/>
          <p:nvPr/>
        </p:nvSpPr>
        <p:spPr>
          <a:xfrm>
            <a:off x="648000" y="3132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7"/>
          <p:cNvSpPr/>
          <p:nvPr/>
        </p:nvSpPr>
        <p:spPr>
          <a:xfrm>
            <a:off x="902000" y="3259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Monitor Moduli</a:t>
            </a:r>
          </a:p>
        </p:txBody>
      </p:sp>
      <p:sp>
        <p:nvSpPr>
          <p:cNvPr id="48" name="r48"/>
          <p:cNvSpPr/>
          <p:nvPr/>
        </p:nvSpPr>
        <p:spPr>
          <a:xfrm>
            <a:off x="3671999" y="3132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3925999" y="3259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CPU, RAM, Disk, Temperatura kuzatish</a:t>
            </a:r>
          </a:p>
        </p:txBody>
      </p:sp>
      <p:sp>
        <p:nvSpPr>
          <p:cNvPr id="50" name="r50"/>
          <p:cNvSpPr/>
          <p:nvPr/>
        </p:nvSpPr>
        <p:spPr>
          <a:xfrm>
            <a:off x="9576000" y="3132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51"/>
          <p:cNvSpPr/>
          <p:nvPr/>
        </p:nvSpPr>
        <p:spPr>
          <a:xfrm>
            <a:off x="9830000" y="3259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psutil</a:t>
            </a:r>
          </a:p>
        </p:txBody>
      </p:sp>
      <p:sp>
        <p:nvSpPr>
          <p:cNvPr id="52" name="r52"/>
          <p:cNvSpPr/>
          <p:nvPr/>
        </p:nvSpPr>
        <p:spPr>
          <a:xfrm>
            <a:off x="648000" y="3888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53"/>
          <p:cNvSpPr/>
          <p:nvPr/>
        </p:nvSpPr>
        <p:spPr>
          <a:xfrm>
            <a:off x="902000" y="4015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Ma'lumotlar Bazasi</a:t>
            </a:r>
          </a:p>
        </p:txBody>
      </p:sp>
      <p:sp>
        <p:nvSpPr>
          <p:cNvPr id="54" name="r54"/>
          <p:cNvSpPr/>
          <p:nvPr/>
        </p:nvSpPr>
        <p:spPr>
          <a:xfrm>
            <a:off x="3671999" y="3888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3925999" y="4015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Monitoring ma'lumotlarini saqlash</a:t>
            </a:r>
          </a:p>
        </p:txBody>
      </p:sp>
      <p:sp>
        <p:nvSpPr>
          <p:cNvPr id="56" name="r56"/>
          <p:cNvSpPr/>
          <p:nvPr/>
        </p:nvSpPr>
        <p:spPr>
          <a:xfrm>
            <a:off x="9576000" y="3888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57"/>
          <p:cNvSpPr/>
          <p:nvPr/>
        </p:nvSpPr>
        <p:spPr>
          <a:xfrm>
            <a:off x="9830000" y="4015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SQLite3</a:t>
            </a:r>
          </a:p>
        </p:txBody>
      </p:sp>
      <p:sp>
        <p:nvSpPr>
          <p:cNvPr id="58" name="r58"/>
          <p:cNvSpPr/>
          <p:nvPr/>
        </p:nvSpPr>
        <p:spPr>
          <a:xfrm>
            <a:off x="648000" y="4644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t59"/>
          <p:cNvSpPr/>
          <p:nvPr/>
        </p:nvSpPr>
        <p:spPr>
          <a:xfrm>
            <a:off x="902000" y="4771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Hisobot Generator</a:t>
            </a:r>
          </a:p>
        </p:txBody>
      </p:sp>
      <p:sp>
        <p:nvSpPr>
          <p:cNvPr id="60" name="r60"/>
          <p:cNvSpPr/>
          <p:nvPr/>
        </p:nvSpPr>
        <p:spPr>
          <a:xfrm>
            <a:off x="3671999" y="4644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61"/>
          <p:cNvSpPr/>
          <p:nvPr/>
        </p:nvSpPr>
        <p:spPr>
          <a:xfrm>
            <a:off x="3925999" y="4771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PDF va Excel hisobotlar tayyorlash</a:t>
            </a:r>
          </a:p>
        </p:txBody>
      </p:sp>
      <p:sp>
        <p:nvSpPr>
          <p:cNvPr id="62" name="r62"/>
          <p:cNvSpPr/>
          <p:nvPr/>
        </p:nvSpPr>
        <p:spPr>
          <a:xfrm>
            <a:off x="9576000" y="4644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t63"/>
          <p:cNvSpPr/>
          <p:nvPr/>
        </p:nvSpPr>
        <p:spPr>
          <a:xfrm>
            <a:off x="9830000" y="4771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ReportLab / openpyxl</a:t>
            </a:r>
          </a:p>
        </p:txBody>
      </p:sp>
      <p:sp>
        <p:nvSpPr>
          <p:cNvPr id="64" name="r64"/>
          <p:cNvSpPr/>
          <p:nvPr/>
        </p:nvSpPr>
        <p:spPr>
          <a:xfrm>
            <a:off x="648000" y="540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t65"/>
          <p:cNvSpPr/>
          <p:nvPr/>
        </p:nvSpPr>
        <p:spPr>
          <a:xfrm>
            <a:off x="902000" y="552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Ogohlantirish</a:t>
            </a:r>
          </a:p>
        </p:txBody>
      </p:sp>
      <p:sp>
        <p:nvSpPr>
          <p:cNvPr id="66" name="r66"/>
          <p:cNvSpPr/>
          <p:nvPr/>
        </p:nvSpPr>
        <p:spPr>
          <a:xfrm>
            <a:off x="3671999" y="5400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t67"/>
          <p:cNvSpPr/>
          <p:nvPr/>
        </p:nvSpPr>
        <p:spPr>
          <a:xfrm>
            <a:off x="3925999" y="5527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Kritik holatlarda email/SMS yuborish</a:t>
            </a:r>
          </a:p>
        </p:txBody>
      </p:sp>
      <p:sp>
        <p:nvSpPr>
          <p:cNvPr id="68" name="r68"/>
          <p:cNvSpPr/>
          <p:nvPr/>
        </p:nvSpPr>
        <p:spPr>
          <a:xfrm>
            <a:off x="9576000" y="540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t69"/>
          <p:cNvSpPr/>
          <p:nvPr/>
        </p:nvSpPr>
        <p:spPr>
          <a:xfrm>
            <a:off x="9830000" y="552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smtplib / Twilio</a:t>
            </a:r>
          </a:p>
        </p:txBody>
      </p:sp>
      <p:sp>
        <p:nvSpPr>
          <p:cNvPr id="70" name="t70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FFFFF"/>
                </a:solidFill>
              </a:rPr>
              <a:t>DD 4</a:t>
            </a:r>
          </a:p>
        </p:txBody>
      </p:sp>
      <p:sp>
        <p:nvSpPr>
          <p:cNvPr id="28" name="t28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111827"/>
                </a:solidFill>
              </a:rPr>
              <a:t>Loyihani doimiy yaxshi texnik tushunish va ko'nikmalarni qo'llash</a:t>
            </a:r>
          </a:p>
        </p:txBody>
      </p:sp>
      <p:sp>
        <p:nvSpPr>
          <p:cNvPr id="29" name="r29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900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900000"/>
            <a:ext cx="144000" cy="1007999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864000" y="954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5803D"/>
                </a:solidFill>
              </a:rPr>
              <a:t>Tarmoq skanerlash</a:t>
            </a:r>
          </a:p>
        </p:txBody>
      </p:sp>
      <p:sp>
        <p:nvSpPr>
          <p:cNvPr id="33" name="t33"/>
          <p:cNvSpPr/>
          <p:nvPr/>
        </p:nvSpPr>
        <p:spPr>
          <a:xfrm>
            <a:off x="864000" y="1368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Nmap bilan 150+ qurilmani aniqlash</a:t>
            </a:r>
          </a:p>
        </p:txBody>
      </p:sp>
      <p:sp>
        <p:nvSpPr>
          <p:cNvPr id="34" name="r34"/>
          <p:cNvSpPr/>
          <p:nvPr/>
        </p:nvSpPr>
        <p:spPr>
          <a:xfrm>
            <a:off x="9540000" y="1151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9540000" y="1151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100% aniqlik</a:t>
            </a:r>
          </a:p>
        </p:txBody>
      </p:sp>
      <p:sp>
        <p:nvSpPr>
          <p:cNvPr id="36" name="r36"/>
          <p:cNvSpPr/>
          <p:nvPr/>
        </p:nvSpPr>
        <p:spPr>
          <a:xfrm>
            <a:off x="648000" y="2052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648000" y="2052000"/>
            <a:ext cx="144000" cy="1007999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64000" y="2106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B8860B"/>
                </a:solidFill>
              </a:rPr>
              <a:t>Python dasturlash</a:t>
            </a:r>
          </a:p>
        </p:txBody>
      </p:sp>
      <p:sp>
        <p:nvSpPr>
          <p:cNvPr id="39" name="t39"/>
          <p:cNvSpPr/>
          <p:nvPr/>
        </p:nvSpPr>
        <p:spPr>
          <a:xfrm>
            <a:off x="864000" y="2520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Monitor va hisobot modullarini yozish</a:t>
            </a:r>
          </a:p>
        </p:txBody>
      </p:sp>
      <p:sp>
        <p:nvSpPr>
          <p:cNvPr id="40" name="r40"/>
          <p:cNvSpPr/>
          <p:nvPr/>
        </p:nvSpPr>
        <p:spPr>
          <a:xfrm>
            <a:off x="9540000" y="2303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9540000" y="2303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Avtomatik tizim</a:t>
            </a:r>
          </a:p>
        </p:txBody>
      </p:sp>
      <p:sp>
        <p:nvSpPr>
          <p:cNvPr id="42" name="r42"/>
          <p:cNvSpPr/>
          <p:nvPr/>
        </p:nvSpPr>
        <p:spPr>
          <a:xfrm>
            <a:off x="648000" y="3204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648000" y="3204000"/>
            <a:ext cx="144000" cy="1007999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864000" y="3258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D4ED8"/>
                </a:solidFill>
              </a:rPr>
              <a:t>SQL baza</a:t>
            </a:r>
          </a:p>
        </p:txBody>
      </p:sp>
      <p:sp>
        <p:nvSpPr>
          <p:cNvPr id="45" name="t45"/>
          <p:cNvSpPr/>
          <p:nvPr/>
        </p:nvSpPr>
        <p:spPr>
          <a:xfrm>
            <a:off x="864000" y="3672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3 oylik monitoring ma'lumotlari</a:t>
            </a:r>
          </a:p>
        </p:txBody>
      </p:sp>
      <p:sp>
        <p:nvSpPr>
          <p:cNvPr id="46" name="r46"/>
          <p:cNvSpPr/>
          <p:nvPr/>
        </p:nvSpPr>
        <p:spPr>
          <a:xfrm>
            <a:off x="9540000" y="3455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7"/>
          <p:cNvSpPr/>
          <p:nvPr/>
        </p:nvSpPr>
        <p:spPr>
          <a:xfrm>
            <a:off x="9540000" y="3455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Tezkor so'rovlar</a:t>
            </a:r>
          </a:p>
        </p:txBody>
      </p:sp>
      <p:sp>
        <p:nvSpPr>
          <p:cNvPr id="48" name="r48"/>
          <p:cNvSpPr/>
          <p:nvPr/>
        </p:nvSpPr>
        <p:spPr>
          <a:xfrm>
            <a:off x="648000" y="4356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648000" y="4356000"/>
            <a:ext cx="144000" cy="100799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864000" y="4410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DC2626"/>
                </a:solidFill>
              </a:rPr>
              <a:t>Xavfsizlik</a:t>
            </a:r>
          </a:p>
        </p:txBody>
      </p:sp>
      <p:sp>
        <p:nvSpPr>
          <p:cNvPr id="51" name="t51"/>
          <p:cNvSpPr/>
          <p:nvPr/>
        </p:nvSpPr>
        <p:spPr>
          <a:xfrm>
            <a:off x="864000" y="4824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SHA-256 shifrlash joriy etish</a:t>
            </a:r>
          </a:p>
        </p:txBody>
      </p:sp>
      <p:sp>
        <p:nvSpPr>
          <p:cNvPr id="52" name="r52"/>
          <p:cNvSpPr/>
          <p:nvPr/>
        </p:nvSpPr>
        <p:spPr>
          <a:xfrm>
            <a:off x="9540000" y="4607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53"/>
          <p:cNvSpPr/>
          <p:nvPr/>
        </p:nvSpPr>
        <p:spPr>
          <a:xfrm>
            <a:off x="9540000" y="4607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0 buzilish hodisasi</a:t>
            </a:r>
          </a:p>
        </p:txBody>
      </p:sp>
      <p:sp>
        <p:nvSpPr>
          <p:cNvPr id="54" name="r54"/>
          <p:cNvSpPr/>
          <p:nvPr/>
        </p:nvSpPr>
        <p:spPr>
          <a:xfrm>
            <a:off x="648000" y="5544000"/>
            <a:ext cx="10980000" cy="648000"/>
          </a:xfrm>
          <a:prstGeom prst="roundRect">
            <a:avLst>
              <a:gd name="adj" fmla="val 6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r55"/>
          <p:cNvSpPr/>
          <p:nvPr/>
        </p:nvSpPr>
        <p:spPr>
          <a:xfrm>
            <a:off x="648000" y="5544000"/>
            <a:ext cx="144000" cy="64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56"/>
          <p:cNvSpPr/>
          <p:nvPr/>
        </p:nvSpPr>
        <p:spPr>
          <a:xfrm>
            <a:off x="864000" y="5580000"/>
            <a:ext cx="108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B8860B"/>
                </a:solidFill>
              </a:rPr>
              <a:t>Multithreading texnikasi: Skanerlash vaqti 12 daqiqadan 45 soniyaga tushirildi → 94% samaradorlik oshishi</a:t>
            </a:r>
          </a:p>
        </p:txBody>
      </p:sp>
      <p:sp>
        <p:nvSpPr>
          <p:cNvPr id="57" name="t57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180000"/>
            <a:ext cx="1368000" cy="360000"/>
          </a:xfrm>
          <a:prstGeom prst="roundRect">
            <a:avLst>
              <a:gd name="adj" fmla="val 4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684000" y="180000"/>
            <a:ext cx="1296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FFFFF"/>
                </a:solidFill>
              </a:rPr>
              <a:t>D.M4</a:t>
            </a:r>
          </a:p>
        </p:txBody>
      </p:sp>
      <p:sp>
        <p:nvSpPr>
          <p:cNvPr id="28" name="t28"/>
          <p:cNvSpPr/>
          <p:nvPr/>
        </p:nvSpPr>
        <p:spPr>
          <a:xfrm>
            <a:off x="2160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111827"/>
                </a:solidFill>
              </a:rPr>
              <a:t>AT loyihasi davomida xatti-harakatlarni yaxshilashni tavsiya etish</a:t>
            </a:r>
          </a:p>
        </p:txBody>
      </p:sp>
      <p:sp>
        <p:nvSpPr>
          <p:cNvPr id="29" name="r29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007999"/>
            <a:ext cx="4860000" cy="2088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1007999"/>
            <a:ext cx="4860000" cy="20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792000" y="1151999"/>
            <a:ext cx="457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B8860B"/>
                </a:solidFill>
              </a:rPr>
              <a:t>📋 Sprint Planning</a:t>
            </a:r>
          </a:p>
        </p:txBody>
      </p:sp>
      <p:sp>
        <p:nvSpPr>
          <p:cNvPr id="33" name="t33"/>
          <p:cNvSpPr/>
          <p:nvPr/>
        </p:nvSpPr>
        <p:spPr>
          <a:xfrm>
            <a:off x="792000" y="1655999"/>
            <a:ext cx="457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1F2937"/>
                </a:solidFill>
              </a:rPr>
              <a:t>Har sprint boshida 2 soatlik talablar sessiyasi — kechikishni 70% kamaytiradi</a:t>
            </a:r>
          </a:p>
        </p:txBody>
      </p:sp>
      <p:sp>
        <p:nvSpPr>
          <p:cNvPr id="34" name="r34"/>
          <p:cNvSpPr/>
          <p:nvPr/>
        </p:nvSpPr>
        <p:spPr>
          <a:xfrm>
            <a:off x="5940000" y="1007999"/>
            <a:ext cx="4860000" cy="2088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5940000" y="1007999"/>
            <a:ext cx="4860000" cy="203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6084000" y="1151999"/>
            <a:ext cx="457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1D4ED8"/>
                </a:solidFill>
              </a:rPr>
              <a:t>🧪 CI/CD Pipeline</a:t>
            </a:r>
          </a:p>
        </p:txBody>
      </p:sp>
      <p:sp>
        <p:nvSpPr>
          <p:cNvPr id="37" name="t37"/>
          <p:cNvSpPr/>
          <p:nvPr/>
        </p:nvSpPr>
        <p:spPr>
          <a:xfrm>
            <a:off x="6084000" y="1655999"/>
            <a:ext cx="457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1F2937"/>
                </a:solidFill>
              </a:rPr>
              <a:t>GitHub Actions bilan avtomatik test va deploy — nosoz kod oldini oladi</a:t>
            </a:r>
          </a:p>
        </p:txBody>
      </p:sp>
      <p:sp>
        <p:nvSpPr>
          <p:cNvPr id="38" name="r38"/>
          <p:cNvSpPr/>
          <p:nvPr/>
        </p:nvSpPr>
        <p:spPr>
          <a:xfrm>
            <a:off x="648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r39"/>
          <p:cNvSpPr/>
          <p:nvPr/>
        </p:nvSpPr>
        <p:spPr>
          <a:xfrm>
            <a:off x="648000" y="3420000"/>
            <a:ext cx="3420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792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4D399"/>
                </a:solidFill>
              </a:rPr>
              <a:t>💾 Avtomatik Backup</a:t>
            </a:r>
          </a:p>
        </p:txBody>
      </p:sp>
      <p:sp>
        <p:nvSpPr>
          <p:cNvPr id="41" name="t41"/>
          <p:cNvSpPr/>
          <p:nvPr/>
        </p:nvSpPr>
        <p:spPr>
          <a:xfrm>
            <a:off x="792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1F2937"/>
                </a:solidFill>
              </a:rPr>
              <a:t>Har kecha 02:00 da bulutga backup — ma'lumot yo'qolish xavfi nol</a:t>
            </a:r>
          </a:p>
        </p:txBody>
      </p:sp>
      <p:sp>
        <p:nvSpPr>
          <p:cNvPr id="42" name="r42"/>
          <p:cNvSpPr/>
          <p:nvPr/>
        </p:nvSpPr>
        <p:spPr>
          <a:xfrm>
            <a:off x="4320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4320000" y="3420000"/>
            <a:ext cx="3420000" cy="203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4464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DC2626"/>
                </a:solidFill>
              </a:rPr>
              <a:t>📚 Lunch &amp; Learn</a:t>
            </a:r>
          </a:p>
        </p:txBody>
      </p:sp>
      <p:sp>
        <p:nvSpPr>
          <p:cNvPr id="45" name="t45"/>
          <p:cNvSpPr/>
          <p:nvPr/>
        </p:nvSpPr>
        <p:spPr>
          <a:xfrm>
            <a:off x="4464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1F2937"/>
                </a:solidFill>
              </a:rPr>
              <a:t>Har 2 haftada texnik bilim almashish — jamoa darajasini oshiradi</a:t>
            </a:r>
          </a:p>
        </p:txBody>
      </p:sp>
      <p:sp>
        <p:nvSpPr>
          <p:cNvPr id="46" name="r46"/>
          <p:cNvSpPr/>
          <p:nvPr/>
        </p:nvSpPr>
        <p:spPr>
          <a:xfrm>
            <a:off x="7992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7992000" y="3420000"/>
            <a:ext cx="3420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48"/>
          <p:cNvSpPr/>
          <p:nvPr/>
        </p:nvSpPr>
        <p:spPr>
          <a:xfrm>
            <a:off x="8136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A78BFA"/>
                </a:solidFill>
              </a:rPr>
              <a:t>📝 Doimiy Dokumentatsiya</a:t>
            </a:r>
          </a:p>
        </p:txBody>
      </p:sp>
      <p:sp>
        <p:nvSpPr>
          <p:cNvPr id="49" name="t49"/>
          <p:cNvSpPr/>
          <p:nvPr/>
        </p:nvSpPr>
        <p:spPr>
          <a:xfrm>
            <a:off x="8136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1F2937"/>
                </a:solidFill>
              </a:rPr>
              <a:t>Confluence/Notion da real vaqt yangilanish — bus factor kamayadi</a:t>
            </a:r>
          </a:p>
        </p:txBody>
      </p:sp>
      <p:sp>
        <p:nvSpPr>
          <p:cNvPr id="50" name="t50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FFFFF"/>
                </a:solidFill>
              </a:rPr>
              <a:t>DP 8</a:t>
            </a:r>
          </a:p>
        </p:txBody>
      </p:sp>
      <p:sp>
        <p:nvSpPr>
          <p:cNvPr id="28" name="t28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111827"/>
                </a:solidFill>
              </a:rPr>
              <a:t>Loyiha boshqarish ko'nikmalaridan foydalanganligini tushuntirish</a:t>
            </a:r>
          </a:p>
        </p:txBody>
      </p:sp>
      <p:sp>
        <p:nvSpPr>
          <p:cNvPr id="29" name="r29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3060000"/>
            <a:ext cx="10980000" cy="1016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648000" y="1080000"/>
            <a:ext cx="1728000" cy="20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648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B8860B"/>
                </a:solidFill>
              </a:rPr>
              <a:t>1-hafta</a:t>
            </a:r>
          </a:p>
        </p:txBody>
      </p:sp>
      <p:sp>
        <p:nvSpPr>
          <p:cNvPr id="34" name="t34"/>
          <p:cNvSpPr/>
          <p:nvPr/>
        </p:nvSpPr>
        <p:spPr>
          <a:xfrm>
            <a:off x="648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Tahlil</a:t>
            </a:r>
          </a:p>
        </p:txBody>
      </p:sp>
      <p:sp>
        <p:nvSpPr>
          <p:cNvPr id="35" name="t35"/>
          <p:cNvSpPr/>
          <p:nvPr/>
        </p:nvSpPr>
        <p:spPr>
          <a:xfrm>
            <a:off x="648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TOR hujjati tayyorlandi</a:t>
            </a:r>
          </a:p>
        </p:txBody>
      </p:sp>
      <p:sp>
        <p:nvSpPr>
          <p:cNvPr id="36" name="r36"/>
          <p:cNvSpPr/>
          <p:nvPr/>
        </p:nvSpPr>
        <p:spPr>
          <a:xfrm>
            <a:off x="1296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2520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38"/>
          <p:cNvSpPr/>
          <p:nvPr/>
        </p:nvSpPr>
        <p:spPr>
          <a:xfrm>
            <a:off x="2520000" y="1080000"/>
            <a:ext cx="1728000" cy="203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2520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D4ED8"/>
                </a:solidFill>
              </a:rPr>
              <a:t>3-5 kun</a:t>
            </a:r>
          </a:p>
        </p:txBody>
      </p:sp>
      <p:sp>
        <p:nvSpPr>
          <p:cNvPr id="40" name="t40"/>
          <p:cNvSpPr/>
          <p:nvPr/>
        </p:nvSpPr>
        <p:spPr>
          <a:xfrm>
            <a:off x="2520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Arxitektura</a:t>
            </a:r>
          </a:p>
        </p:txBody>
      </p:sp>
      <p:sp>
        <p:nvSpPr>
          <p:cNvPr id="41" name="t41"/>
          <p:cNvSpPr/>
          <p:nvPr/>
        </p:nvSpPr>
        <p:spPr>
          <a:xfrm>
            <a:off x="2520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UML diagrammalar yaratildi</a:t>
            </a:r>
          </a:p>
        </p:txBody>
      </p:sp>
      <p:sp>
        <p:nvSpPr>
          <p:cNvPr id="42" name="r42"/>
          <p:cNvSpPr/>
          <p:nvPr/>
        </p:nvSpPr>
        <p:spPr>
          <a:xfrm>
            <a:off x="3168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4392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4392000" y="1080000"/>
            <a:ext cx="1728000" cy="203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4392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5803D"/>
                </a:solidFill>
              </a:rPr>
              <a:t>3-hafta</a:t>
            </a:r>
          </a:p>
        </p:txBody>
      </p:sp>
      <p:sp>
        <p:nvSpPr>
          <p:cNvPr id="46" name="t46"/>
          <p:cNvSpPr/>
          <p:nvPr/>
        </p:nvSpPr>
        <p:spPr>
          <a:xfrm>
            <a:off x="4392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Backend</a:t>
            </a:r>
          </a:p>
        </p:txBody>
      </p:sp>
      <p:sp>
        <p:nvSpPr>
          <p:cNvPr id="47" name="t47"/>
          <p:cNvSpPr/>
          <p:nvPr/>
        </p:nvSpPr>
        <p:spPr>
          <a:xfrm>
            <a:off x="4392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Monitor + DB modullari</a:t>
            </a:r>
          </a:p>
        </p:txBody>
      </p:sp>
      <p:sp>
        <p:nvSpPr>
          <p:cNvPr id="48" name="r48"/>
          <p:cNvSpPr/>
          <p:nvPr/>
        </p:nvSpPr>
        <p:spPr>
          <a:xfrm>
            <a:off x="5040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6264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r50"/>
          <p:cNvSpPr/>
          <p:nvPr/>
        </p:nvSpPr>
        <p:spPr>
          <a:xfrm>
            <a:off x="6264000" y="1080000"/>
            <a:ext cx="1728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51"/>
          <p:cNvSpPr/>
          <p:nvPr/>
        </p:nvSpPr>
        <p:spPr>
          <a:xfrm>
            <a:off x="6264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A78BFA"/>
                </a:solidFill>
              </a:rPr>
              <a:t>1-hafta</a:t>
            </a:r>
          </a:p>
        </p:txBody>
      </p:sp>
      <p:sp>
        <p:nvSpPr>
          <p:cNvPr id="52" name="t52"/>
          <p:cNvSpPr/>
          <p:nvPr/>
        </p:nvSpPr>
        <p:spPr>
          <a:xfrm>
            <a:off x="6264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GUI</a:t>
            </a:r>
          </a:p>
        </p:txBody>
      </p:sp>
      <p:sp>
        <p:nvSpPr>
          <p:cNvPr id="53" name="t53"/>
          <p:cNvSpPr/>
          <p:nvPr/>
        </p:nvSpPr>
        <p:spPr>
          <a:xfrm>
            <a:off x="6264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Tkinter interfeysi</a:t>
            </a:r>
          </a:p>
        </p:txBody>
      </p:sp>
      <p:sp>
        <p:nvSpPr>
          <p:cNvPr id="54" name="r54"/>
          <p:cNvSpPr/>
          <p:nvPr/>
        </p:nvSpPr>
        <p:spPr>
          <a:xfrm>
            <a:off x="6912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r55"/>
          <p:cNvSpPr/>
          <p:nvPr/>
        </p:nvSpPr>
        <p:spPr>
          <a:xfrm>
            <a:off x="8136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r56"/>
          <p:cNvSpPr/>
          <p:nvPr/>
        </p:nvSpPr>
        <p:spPr>
          <a:xfrm>
            <a:off x="8136000" y="1080000"/>
            <a:ext cx="1728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57"/>
          <p:cNvSpPr/>
          <p:nvPr/>
        </p:nvSpPr>
        <p:spPr>
          <a:xfrm>
            <a:off x="8136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34D399"/>
                </a:solidFill>
              </a:rPr>
              <a:t>1-hafta</a:t>
            </a:r>
          </a:p>
        </p:txBody>
      </p:sp>
      <p:sp>
        <p:nvSpPr>
          <p:cNvPr id="58" name="t58"/>
          <p:cNvSpPr/>
          <p:nvPr/>
        </p:nvSpPr>
        <p:spPr>
          <a:xfrm>
            <a:off x="8136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Test</a:t>
            </a:r>
          </a:p>
        </p:txBody>
      </p:sp>
      <p:sp>
        <p:nvSpPr>
          <p:cNvPr id="59" name="t59"/>
          <p:cNvSpPr/>
          <p:nvPr/>
        </p:nvSpPr>
        <p:spPr>
          <a:xfrm>
            <a:off x="8136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0 kritik xato</a:t>
            </a:r>
          </a:p>
        </p:txBody>
      </p:sp>
      <p:sp>
        <p:nvSpPr>
          <p:cNvPr id="60" name="r60"/>
          <p:cNvSpPr/>
          <p:nvPr/>
        </p:nvSpPr>
        <p:spPr>
          <a:xfrm>
            <a:off x="8784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r61"/>
          <p:cNvSpPr/>
          <p:nvPr/>
        </p:nvSpPr>
        <p:spPr>
          <a:xfrm>
            <a:off x="10008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r62"/>
          <p:cNvSpPr/>
          <p:nvPr/>
        </p:nvSpPr>
        <p:spPr>
          <a:xfrm>
            <a:off x="10008000" y="1080000"/>
            <a:ext cx="1728000" cy="203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t63"/>
          <p:cNvSpPr/>
          <p:nvPr/>
        </p:nvSpPr>
        <p:spPr>
          <a:xfrm>
            <a:off x="10008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DC2626"/>
                </a:solidFill>
              </a:rPr>
              <a:t>2-kun</a:t>
            </a:r>
          </a:p>
        </p:txBody>
      </p:sp>
      <p:sp>
        <p:nvSpPr>
          <p:cNvPr id="64" name="t64"/>
          <p:cNvSpPr/>
          <p:nvPr/>
        </p:nvSpPr>
        <p:spPr>
          <a:xfrm>
            <a:off x="10008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111827"/>
                </a:solidFill>
              </a:rPr>
              <a:t>Deploy</a:t>
            </a:r>
          </a:p>
        </p:txBody>
      </p:sp>
      <p:sp>
        <p:nvSpPr>
          <p:cNvPr id="65" name="t65"/>
          <p:cNvSpPr/>
          <p:nvPr/>
        </p:nvSpPr>
        <p:spPr>
          <a:xfrm>
            <a:off x="10008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1F2937"/>
                </a:solidFill>
              </a:rPr>
              <a:t>Ishlab chiqarishga chiqarildi</a:t>
            </a:r>
          </a:p>
        </p:txBody>
      </p:sp>
      <p:sp>
        <p:nvSpPr>
          <p:cNvPr id="66" name="r66"/>
          <p:cNvSpPr/>
          <p:nvPr/>
        </p:nvSpPr>
        <p:spPr>
          <a:xfrm>
            <a:off x="10656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t67"/>
          <p:cNvSpPr/>
          <p:nvPr/>
        </p:nvSpPr>
        <p:spPr>
          <a:xfrm>
            <a:off x="648000" y="3671999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B8860B"/>
                </a:solidFill>
              </a:rPr>
              <a:t>RISK BOSHQARUVI</a:t>
            </a:r>
          </a:p>
        </p:txBody>
      </p:sp>
      <p:sp>
        <p:nvSpPr>
          <p:cNvPr id="68" name="r68"/>
          <p:cNvSpPr/>
          <p:nvPr/>
        </p:nvSpPr>
        <p:spPr>
          <a:xfrm>
            <a:off x="648000" y="410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69"/>
          <p:cNvSpPr/>
          <p:nvPr/>
        </p:nvSpPr>
        <p:spPr>
          <a:xfrm>
            <a:off x="648000" y="4104000"/>
            <a:ext cx="203200" cy="64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t70"/>
          <p:cNvSpPr/>
          <p:nvPr/>
        </p:nvSpPr>
        <p:spPr>
          <a:xfrm>
            <a:off x="792000" y="417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111827"/>
                </a:solidFill>
              </a:rPr>
              <a:t>Ma'lumot yo'qolishi</a:t>
            </a:r>
          </a:p>
        </p:txBody>
      </p:sp>
      <p:sp>
        <p:nvSpPr>
          <p:cNvPr id="71" name="r71"/>
          <p:cNvSpPr/>
          <p:nvPr/>
        </p:nvSpPr>
        <p:spPr>
          <a:xfrm>
            <a:off x="4140000" y="421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72" name="t72"/>
          <p:cNvSpPr/>
          <p:nvPr/>
        </p:nvSpPr>
        <p:spPr>
          <a:xfrm>
            <a:off x="4140000" y="421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O'rta</a:t>
            </a:r>
          </a:p>
        </p:txBody>
      </p:sp>
      <p:sp>
        <p:nvSpPr>
          <p:cNvPr id="73" name="t73"/>
          <p:cNvSpPr/>
          <p:nvPr/>
        </p:nvSpPr>
        <p:spPr>
          <a:xfrm>
            <a:off x="5220000" y="417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Kunlik avtomatik backup</a:t>
            </a:r>
          </a:p>
        </p:txBody>
      </p:sp>
      <p:sp>
        <p:nvSpPr>
          <p:cNvPr id="74" name="r74"/>
          <p:cNvSpPr/>
          <p:nvPr/>
        </p:nvSpPr>
        <p:spPr>
          <a:xfrm>
            <a:off x="648000" y="482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5" name="r75"/>
          <p:cNvSpPr/>
          <p:nvPr/>
        </p:nvSpPr>
        <p:spPr>
          <a:xfrm>
            <a:off x="648000" y="4824000"/>
            <a:ext cx="203200" cy="648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76" name="t76"/>
          <p:cNvSpPr/>
          <p:nvPr/>
        </p:nvSpPr>
        <p:spPr>
          <a:xfrm>
            <a:off x="792000" y="489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111827"/>
                </a:solidFill>
              </a:rPr>
              <a:t>Server nosozligi</a:t>
            </a:r>
          </a:p>
        </p:txBody>
      </p:sp>
      <p:sp>
        <p:nvSpPr>
          <p:cNvPr id="77" name="r77"/>
          <p:cNvSpPr/>
          <p:nvPr/>
        </p:nvSpPr>
        <p:spPr>
          <a:xfrm>
            <a:off x="4140000" y="493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78" name="t78"/>
          <p:cNvSpPr/>
          <p:nvPr/>
        </p:nvSpPr>
        <p:spPr>
          <a:xfrm>
            <a:off x="4140000" y="493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Past</a:t>
            </a:r>
          </a:p>
        </p:txBody>
      </p:sp>
      <p:sp>
        <p:nvSpPr>
          <p:cNvPr id="79" name="t79"/>
          <p:cNvSpPr/>
          <p:nvPr/>
        </p:nvSpPr>
        <p:spPr>
          <a:xfrm>
            <a:off x="5220000" y="489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Redundant server konfiguratsiya</a:t>
            </a:r>
          </a:p>
        </p:txBody>
      </p:sp>
      <p:sp>
        <p:nvSpPr>
          <p:cNvPr id="80" name="r80"/>
          <p:cNvSpPr/>
          <p:nvPr/>
        </p:nvSpPr>
        <p:spPr>
          <a:xfrm>
            <a:off x="648000" y="554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r81"/>
          <p:cNvSpPr/>
          <p:nvPr/>
        </p:nvSpPr>
        <p:spPr>
          <a:xfrm>
            <a:off x="648000" y="5544000"/>
            <a:ext cx="203200" cy="64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t82"/>
          <p:cNvSpPr/>
          <p:nvPr/>
        </p:nvSpPr>
        <p:spPr>
          <a:xfrm>
            <a:off x="792000" y="561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111827"/>
                </a:solidFill>
              </a:rPr>
              <a:t>Xavfsizlik buzilishi</a:t>
            </a:r>
          </a:p>
        </p:txBody>
      </p:sp>
      <p:sp>
        <p:nvSpPr>
          <p:cNvPr id="83" name="r83"/>
          <p:cNvSpPr/>
          <p:nvPr/>
        </p:nvSpPr>
        <p:spPr>
          <a:xfrm>
            <a:off x="4140000" y="565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84" name="t84"/>
          <p:cNvSpPr/>
          <p:nvPr/>
        </p:nvSpPr>
        <p:spPr>
          <a:xfrm>
            <a:off x="4140000" y="565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FFFFFF"/>
                </a:solidFill>
              </a:rPr>
              <a:t>O'rta</a:t>
            </a:r>
          </a:p>
        </p:txBody>
      </p:sp>
      <p:sp>
        <p:nvSpPr>
          <p:cNvPr id="85" name="t85"/>
          <p:cNvSpPr/>
          <p:nvPr/>
        </p:nvSpPr>
        <p:spPr>
          <a:xfrm>
            <a:off x="5220000" y="561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Penetration test va shifrlash</a:t>
            </a:r>
          </a:p>
        </p:txBody>
      </p:sp>
      <p:sp>
        <p:nvSpPr>
          <p:cNvPr id="86" name="t86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FFFFF"/>
                </a:solidFill>
              </a:rPr>
              <a:t>DP 9</a:t>
            </a:r>
          </a:p>
        </p:txBody>
      </p:sp>
      <p:sp>
        <p:nvSpPr>
          <p:cNvPr id="28" name="t28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111827"/>
                </a:solidFill>
              </a:rPr>
              <a:t>AT loyihasini boshqarishda tegishli xatti-harakatlarni qo'llash</a:t>
            </a:r>
          </a:p>
        </p:txBody>
      </p:sp>
      <p:sp>
        <p:nvSpPr>
          <p:cNvPr id="29" name="r29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007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1007999"/>
            <a:ext cx="144000" cy="1152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864000" y="1079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DC2626"/>
                </a:solidFill>
              </a:rPr>
              <a:t>🔐 Ma'lumotlar Maxfiyligi</a:t>
            </a:r>
          </a:p>
        </p:txBody>
      </p:sp>
      <p:sp>
        <p:nvSpPr>
          <p:cNvPr id="33" name="t33"/>
          <p:cNvSpPr/>
          <p:nvPr/>
        </p:nvSpPr>
        <p:spPr>
          <a:xfrm>
            <a:off x="864000" y="1475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Monitoring ma'lumotlari faqat tizim ma'muri ko'radi. Har bir foydalanuvchi Privacy Policy bilan tanishtirildi.</a:t>
            </a:r>
          </a:p>
        </p:txBody>
      </p:sp>
      <p:sp>
        <p:nvSpPr>
          <p:cNvPr id="34" name="r34"/>
          <p:cNvSpPr/>
          <p:nvPr/>
        </p:nvSpPr>
        <p:spPr>
          <a:xfrm>
            <a:off x="648000" y="2303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648000" y="2303999"/>
            <a:ext cx="144000" cy="1152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864000" y="2375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B8860B"/>
                </a:solidFill>
              </a:rPr>
              <a:t>🤝 Kasbiy Munosabatlar</a:t>
            </a:r>
          </a:p>
        </p:txBody>
      </p:sp>
      <p:sp>
        <p:nvSpPr>
          <p:cNvPr id="37" name="t37"/>
          <p:cNvSpPr/>
          <p:nvPr/>
        </p:nvSpPr>
        <p:spPr>
          <a:xfrm>
            <a:off x="864000" y="2771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Yangi hamkasblarga mentorliq qildim. Jamoa ichida ishonch muhiti shakllantirildi.</a:t>
            </a:r>
          </a:p>
        </p:txBody>
      </p:sp>
      <p:sp>
        <p:nvSpPr>
          <p:cNvPr id="38" name="r38"/>
          <p:cNvSpPr/>
          <p:nvPr/>
        </p:nvSpPr>
        <p:spPr>
          <a:xfrm>
            <a:off x="648000" y="3599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r39"/>
          <p:cNvSpPr/>
          <p:nvPr/>
        </p:nvSpPr>
        <p:spPr>
          <a:xfrm>
            <a:off x="648000" y="3599999"/>
            <a:ext cx="144000" cy="1152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864000" y="3671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D4ED8"/>
                </a:solidFill>
              </a:rPr>
              <a:t>📚 Doimiy O'rganish</a:t>
            </a:r>
          </a:p>
        </p:txBody>
      </p:sp>
      <p:sp>
        <p:nvSpPr>
          <p:cNvPr id="41" name="t41"/>
          <p:cNvSpPr/>
          <p:nvPr/>
        </p:nvSpPr>
        <p:spPr>
          <a:xfrm>
            <a:off x="864000" y="4067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Docker, Grafana, REST API — loyiha davomida mustaqil o'rganildi va amaliyotda qo'llanildi.</a:t>
            </a:r>
          </a:p>
        </p:txBody>
      </p:sp>
      <p:sp>
        <p:nvSpPr>
          <p:cNvPr id="42" name="r42"/>
          <p:cNvSpPr/>
          <p:nvPr/>
        </p:nvSpPr>
        <p:spPr>
          <a:xfrm>
            <a:off x="648000" y="4895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648000" y="4895999"/>
            <a:ext cx="144000" cy="1152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864000" y="4967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5803D"/>
                </a:solidFill>
              </a:rPr>
              <a:t>⚖️ Litsenziya va Etika</a:t>
            </a:r>
          </a:p>
        </p:txBody>
      </p:sp>
      <p:sp>
        <p:nvSpPr>
          <p:cNvPr id="45" name="t45"/>
          <p:cNvSpPr/>
          <p:nvPr/>
        </p:nvSpPr>
        <p:spPr>
          <a:xfrm>
            <a:off x="864000" y="5363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Barcha open-source kutubxonalar litsenziyalari tekshirildi. Intellektual mulk qoidalari to'liq bajarildi.</a:t>
            </a:r>
          </a:p>
        </p:txBody>
      </p:sp>
      <p:sp>
        <p:nvSpPr>
          <p:cNvPr id="46" name="t46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DP 9  |  MUAMMO HAL ETISH — 5 BOSQICH METODI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28"/>
          <p:cNvSpPr/>
          <p:nvPr/>
        </p:nvSpPr>
        <p:spPr>
          <a:xfrm>
            <a:off x="648000" y="1007999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800" b="0" i="0" dirty="0">
                <a:solidFill>
                  <a:srgbClr val="B8860B"/>
                </a:solidFill>
              </a:rPr>
              <a:t>Holat: Tarmoq skanerlash 150 ta qurilmadan 3-5 tasini o'tkazib yuborardi</a:t>
            </a:r>
          </a:p>
        </p:txBody>
      </p:sp>
      <p:sp>
        <p:nvSpPr>
          <p:cNvPr id="29" name="r29"/>
          <p:cNvSpPr/>
          <p:nvPr/>
        </p:nvSpPr>
        <p:spPr>
          <a:xfrm>
            <a:off x="648000" y="1620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620000"/>
            <a:ext cx="144000" cy="827999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864000" y="1764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864000" y="1764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33"/>
          <p:cNvSpPr/>
          <p:nvPr/>
        </p:nvSpPr>
        <p:spPr>
          <a:xfrm>
            <a:off x="1584000" y="1692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4D399"/>
                </a:solidFill>
              </a:rPr>
              <a:t>1  ANIQLASH</a:t>
            </a:r>
          </a:p>
        </p:txBody>
      </p:sp>
      <p:sp>
        <p:nvSpPr>
          <p:cNvPr id="34" name="t34"/>
          <p:cNvSpPr/>
          <p:nvPr/>
        </p:nvSpPr>
        <p:spPr>
          <a:xfrm>
            <a:off x="1584000" y="2052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Log fayllar tahlili → qaysi IP manzillar o'tkazib yuborilmoqda?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2556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648000" y="2556000"/>
            <a:ext cx="144000" cy="827999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864000" y="2700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64000" y="2700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9" name="t39"/>
          <p:cNvSpPr/>
          <p:nvPr/>
        </p:nvSpPr>
        <p:spPr>
          <a:xfrm>
            <a:off x="1584000" y="2628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B8860B"/>
                </a:solidFill>
              </a:rPr>
              <a:t>2  SABAB</a:t>
            </a:r>
          </a:p>
        </p:txBody>
      </p:sp>
      <p:sp>
        <p:nvSpPr>
          <p:cNvPr id="40" name="t40"/>
          <p:cNvSpPr/>
          <p:nvPr/>
        </p:nvSpPr>
        <p:spPr>
          <a:xfrm>
            <a:off x="1584000" y="2988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Timeout = 0.5 sek (juda qisqa). Ba'zi qurilmalar sekin javob qaytaradi.</a:t>
            </a:r>
          </a:p>
        </p:txBody>
      </p:sp>
      <p:sp>
        <p:nvSpPr>
          <p:cNvPr id="41" name="r41"/>
          <p:cNvSpPr/>
          <p:nvPr/>
        </p:nvSpPr>
        <p:spPr>
          <a:xfrm>
            <a:off x="648000" y="3492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648000" y="3492000"/>
            <a:ext cx="144000" cy="827999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864000" y="3636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864000" y="3636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5" name="t45"/>
          <p:cNvSpPr/>
          <p:nvPr/>
        </p:nvSpPr>
        <p:spPr>
          <a:xfrm>
            <a:off x="1584000" y="3564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1D4ED8"/>
                </a:solidFill>
              </a:rPr>
              <a:t>3  YECHIM</a:t>
            </a:r>
          </a:p>
        </p:txBody>
      </p:sp>
      <p:sp>
        <p:nvSpPr>
          <p:cNvPr id="46" name="t46"/>
          <p:cNvSpPr/>
          <p:nvPr/>
        </p:nvSpPr>
        <p:spPr>
          <a:xfrm>
            <a:off x="1584000" y="3924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Adaptive timeout algoritmi: qurilma turi va kechikishiga qarab avto-moslash</a:t>
            </a:r>
          </a:p>
        </p:txBody>
      </p:sp>
      <p:sp>
        <p:nvSpPr>
          <p:cNvPr id="47" name="r47"/>
          <p:cNvSpPr/>
          <p:nvPr/>
        </p:nvSpPr>
        <p:spPr>
          <a:xfrm>
            <a:off x="648000" y="4428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648000" y="4428000"/>
            <a:ext cx="144000" cy="827999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864000" y="4572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864000" y="4572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1" name="t51"/>
          <p:cNvSpPr/>
          <p:nvPr/>
        </p:nvSpPr>
        <p:spPr>
          <a:xfrm>
            <a:off x="1584000" y="4500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A78BFA"/>
                </a:solidFill>
              </a:rPr>
              <a:t>4  TEST</a:t>
            </a:r>
          </a:p>
        </p:txBody>
      </p:sp>
      <p:sp>
        <p:nvSpPr>
          <p:cNvPr id="52" name="t52"/>
          <p:cNvSpPr/>
          <p:nvPr/>
        </p:nvSpPr>
        <p:spPr>
          <a:xfrm>
            <a:off x="1584000" y="4860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3 marta to'liq skanerlash: 150/150 qurilma aniqlandi → 100% aniqlik</a:t>
            </a:r>
          </a:p>
        </p:txBody>
      </p:sp>
      <p:sp>
        <p:nvSpPr>
          <p:cNvPr id="53" name="r53"/>
          <p:cNvSpPr/>
          <p:nvPr/>
        </p:nvSpPr>
        <p:spPr>
          <a:xfrm>
            <a:off x="648000" y="5364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648000" y="5364000"/>
            <a:ext cx="144000" cy="82799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r55"/>
          <p:cNvSpPr/>
          <p:nvPr/>
        </p:nvSpPr>
        <p:spPr>
          <a:xfrm>
            <a:off x="864000" y="5508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56"/>
          <p:cNvSpPr/>
          <p:nvPr/>
        </p:nvSpPr>
        <p:spPr>
          <a:xfrm>
            <a:off x="864000" y="5508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7" name="t57"/>
          <p:cNvSpPr/>
          <p:nvPr/>
        </p:nvSpPr>
        <p:spPr>
          <a:xfrm>
            <a:off x="1584000" y="5436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DC2626"/>
                </a:solidFill>
              </a:rPr>
              <a:t>5  HUJJATLASHTIRISH</a:t>
            </a:r>
          </a:p>
        </p:txBody>
      </p:sp>
      <p:sp>
        <p:nvSpPr>
          <p:cNvPr id="58" name="t58"/>
          <p:cNvSpPr/>
          <p:nvPr/>
        </p:nvSpPr>
        <p:spPr>
          <a:xfrm>
            <a:off x="1584000" y="5796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Muammo + yechim + saboq texnik hujjatga yozildi → kelajak loyihalar uchun</a:t>
            </a:r>
          </a:p>
        </p:txBody>
      </p:sp>
      <p:sp>
        <p:nvSpPr>
          <p:cNvPr id="59" name="t59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LOYIHA NATIJALARI — KPI JADVAL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152000"/>
            <a:ext cx="3833000" cy="46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902000" y="1152000"/>
            <a:ext cx="357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FFFFFF"/>
                </a:solidFill>
              </a:rPr>
              <a:t>Ko'rsatkich</a:t>
            </a:r>
          </a:p>
        </p:txBody>
      </p:sp>
      <p:sp>
        <p:nvSpPr>
          <p:cNvPr id="30" name="r30"/>
          <p:cNvSpPr/>
          <p:nvPr/>
        </p:nvSpPr>
        <p:spPr>
          <a:xfrm>
            <a:off x="4752000" y="1152000"/>
            <a:ext cx="1853000" cy="46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5006000" y="1152000"/>
            <a:ext cx="15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FFFFFF"/>
                </a:solidFill>
              </a:rPr>
              <a:t>Maqsad</a:t>
            </a:r>
          </a:p>
        </p:txBody>
      </p:sp>
      <p:sp>
        <p:nvSpPr>
          <p:cNvPr id="32" name="r32"/>
          <p:cNvSpPr/>
          <p:nvPr/>
        </p:nvSpPr>
        <p:spPr>
          <a:xfrm>
            <a:off x="6876000" y="1152000"/>
            <a:ext cx="1853000" cy="46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7130000" y="1152000"/>
            <a:ext cx="15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FFFFFF"/>
                </a:solidFill>
              </a:rPr>
              <a:t>Natija</a:t>
            </a:r>
          </a:p>
        </p:txBody>
      </p:sp>
      <p:sp>
        <p:nvSpPr>
          <p:cNvPr id="34" name="r34"/>
          <p:cNvSpPr/>
          <p:nvPr/>
        </p:nvSpPr>
        <p:spPr>
          <a:xfrm>
            <a:off x="9000000" y="1152000"/>
            <a:ext cx="2753000" cy="46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9254000" y="1152000"/>
            <a:ext cx="24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FFFFFF"/>
                </a:solidFill>
              </a:rPr>
              <a:t>Holat</a:t>
            </a:r>
          </a:p>
        </p:txBody>
      </p:sp>
      <p:sp>
        <p:nvSpPr>
          <p:cNvPr id="36" name="r36"/>
          <p:cNvSpPr/>
          <p:nvPr/>
        </p:nvSpPr>
        <p:spPr>
          <a:xfrm>
            <a:off x="648000" y="1655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902000" y="1782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Qurilma aniqlash aniqligi</a:t>
            </a:r>
          </a:p>
        </p:txBody>
      </p:sp>
      <p:sp>
        <p:nvSpPr>
          <p:cNvPr id="38" name="r38"/>
          <p:cNvSpPr/>
          <p:nvPr/>
        </p:nvSpPr>
        <p:spPr>
          <a:xfrm>
            <a:off x="4752000" y="165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5006000" y="178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95%</a:t>
            </a:r>
          </a:p>
        </p:txBody>
      </p:sp>
      <p:sp>
        <p:nvSpPr>
          <p:cNvPr id="40" name="r40"/>
          <p:cNvSpPr/>
          <p:nvPr/>
        </p:nvSpPr>
        <p:spPr>
          <a:xfrm>
            <a:off x="6876000" y="165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7130000" y="178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100%</a:t>
            </a:r>
          </a:p>
        </p:txBody>
      </p:sp>
      <p:sp>
        <p:nvSpPr>
          <p:cNvPr id="42" name="r42"/>
          <p:cNvSpPr/>
          <p:nvPr/>
        </p:nvSpPr>
        <p:spPr>
          <a:xfrm>
            <a:off x="9000000" y="1655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9254000" y="1782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Oshirib bajarildi</a:t>
            </a:r>
          </a:p>
        </p:txBody>
      </p:sp>
      <p:sp>
        <p:nvSpPr>
          <p:cNvPr id="44" name="r44"/>
          <p:cNvSpPr/>
          <p:nvPr/>
        </p:nvSpPr>
        <p:spPr>
          <a:xfrm>
            <a:off x="648000" y="2411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902000" y="2538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Skanerlash vaqti (150 ta)</a:t>
            </a:r>
          </a:p>
        </p:txBody>
      </p:sp>
      <p:sp>
        <p:nvSpPr>
          <p:cNvPr id="46" name="r46"/>
          <p:cNvSpPr/>
          <p:nvPr/>
        </p:nvSpPr>
        <p:spPr>
          <a:xfrm>
            <a:off x="4752000" y="2411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7"/>
          <p:cNvSpPr/>
          <p:nvPr/>
        </p:nvSpPr>
        <p:spPr>
          <a:xfrm>
            <a:off x="5006000" y="2538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2 daqiqa</a:t>
            </a:r>
          </a:p>
        </p:txBody>
      </p:sp>
      <p:sp>
        <p:nvSpPr>
          <p:cNvPr id="48" name="r48"/>
          <p:cNvSpPr/>
          <p:nvPr/>
        </p:nvSpPr>
        <p:spPr>
          <a:xfrm>
            <a:off x="6876000" y="2411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7130000" y="2538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45 soniya</a:t>
            </a:r>
          </a:p>
        </p:txBody>
      </p:sp>
      <p:sp>
        <p:nvSpPr>
          <p:cNvPr id="50" name="r50"/>
          <p:cNvSpPr/>
          <p:nvPr/>
        </p:nvSpPr>
        <p:spPr>
          <a:xfrm>
            <a:off x="9000000" y="2411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51"/>
          <p:cNvSpPr/>
          <p:nvPr/>
        </p:nvSpPr>
        <p:spPr>
          <a:xfrm>
            <a:off x="9254000" y="2538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Oshirib bajarildi</a:t>
            </a:r>
          </a:p>
        </p:txBody>
      </p:sp>
      <p:sp>
        <p:nvSpPr>
          <p:cNvPr id="52" name="r52"/>
          <p:cNvSpPr/>
          <p:nvPr/>
        </p:nvSpPr>
        <p:spPr>
          <a:xfrm>
            <a:off x="648000" y="3167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53"/>
          <p:cNvSpPr/>
          <p:nvPr/>
        </p:nvSpPr>
        <p:spPr>
          <a:xfrm>
            <a:off x="902000" y="3294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Tizim ishlamay qolishi</a:t>
            </a:r>
          </a:p>
        </p:txBody>
      </p:sp>
      <p:sp>
        <p:nvSpPr>
          <p:cNvPr id="54" name="r54"/>
          <p:cNvSpPr/>
          <p:nvPr/>
        </p:nvSpPr>
        <p:spPr>
          <a:xfrm>
            <a:off x="4752000" y="3167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5006000" y="3294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&lt; 1 soat/oy</a:t>
            </a:r>
          </a:p>
        </p:txBody>
      </p:sp>
      <p:sp>
        <p:nvSpPr>
          <p:cNvPr id="56" name="r56"/>
          <p:cNvSpPr/>
          <p:nvPr/>
        </p:nvSpPr>
        <p:spPr>
          <a:xfrm>
            <a:off x="6876000" y="3167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57"/>
          <p:cNvSpPr/>
          <p:nvPr/>
        </p:nvSpPr>
        <p:spPr>
          <a:xfrm>
            <a:off x="7130000" y="3294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0 daqiqa</a:t>
            </a:r>
          </a:p>
        </p:txBody>
      </p:sp>
      <p:sp>
        <p:nvSpPr>
          <p:cNvPr id="58" name="r58"/>
          <p:cNvSpPr/>
          <p:nvPr/>
        </p:nvSpPr>
        <p:spPr>
          <a:xfrm>
            <a:off x="9000000" y="3167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t59"/>
          <p:cNvSpPr/>
          <p:nvPr/>
        </p:nvSpPr>
        <p:spPr>
          <a:xfrm>
            <a:off x="9254000" y="3294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60" name="r60"/>
          <p:cNvSpPr/>
          <p:nvPr/>
        </p:nvSpPr>
        <p:spPr>
          <a:xfrm>
            <a:off x="648000" y="3923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61"/>
          <p:cNvSpPr/>
          <p:nvPr/>
        </p:nvSpPr>
        <p:spPr>
          <a:xfrm>
            <a:off x="902000" y="4050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Hisobot tayyorlash vaqti</a:t>
            </a:r>
          </a:p>
        </p:txBody>
      </p:sp>
      <p:sp>
        <p:nvSpPr>
          <p:cNvPr id="62" name="r62"/>
          <p:cNvSpPr/>
          <p:nvPr/>
        </p:nvSpPr>
        <p:spPr>
          <a:xfrm>
            <a:off x="4752000" y="3923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t63"/>
          <p:cNvSpPr/>
          <p:nvPr/>
        </p:nvSpPr>
        <p:spPr>
          <a:xfrm>
            <a:off x="5006000" y="4050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30 daqiqa</a:t>
            </a:r>
          </a:p>
        </p:txBody>
      </p:sp>
      <p:sp>
        <p:nvSpPr>
          <p:cNvPr id="64" name="r64"/>
          <p:cNvSpPr/>
          <p:nvPr/>
        </p:nvSpPr>
        <p:spPr>
          <a:xfrm>
            <a:off x="6876000" y="3923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t65"/>
          <p:cNvSpPr/>
          <p:nvPr/>
        </p:nvSpPr>
        <p:spPr>
          <a:xfrm>
            <a:off x="7130000" y="4050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2 daqiqa</a:t>
            </a:r>
          </a:p>
        </p:txBody>
      </p:sp>
      <p:sp>
        <p:nvSpPr>
          <p:cNvPr id="66" name="r66"/>
          <p:cNvSpPr/>
          <p:nvPr/>
        </p:nvSpPr>
        <p:spPr>
          <a:xfrm>
            <a:off x="9000000" y="3923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t67"/>
          <p:cNvSpPr/>
          <p:nvPr/>
        </p:nvSpPr>
        <p:spPr>
          <a:xfrm>
            <a:off x="9254000" y="4050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Avtomatlashtirildi</a:t>
            </a:r>
          </a:p>
        </p:txBody>
      </p:sp>
      <p:sp>
        <p:nvSpPr>
          <p:cNvPr id="68" name="r68"/>
          <p:cNvSpPr/>
          <p:nvPr/>
        </p:nvSpPr>
        <p:spPr>
          <a:xfrm>
            <a:off x="648000" y="4679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t69"/>
          <p:cNvSpPr/>
          <p:nvPr/>
        </p:nvSpPr>
        <p:spPr>
          <a:xfrm>
            <a:off x="902000" y="4806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Xavfsizlik hodisalari</a:t>
            </a:r>
          </a:p>
        </p:txBody>
      </p:sp>
      <p:sp>
        <p:nvSpPr>
          <p:cNvPr id="70" name="r70"/>
          <p:cNvSpPr/>
          <p:nvPr/>
        </p:nvSpPr>
        <p:spPr>
          <a:xfrm>
            <a:off x="4752000" y="4679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t71"/>
          <p:cNvSpPr/>
          <p:nvPr/>
        </p:nvSpPr>
        <p:spPr>
          <a:xfrm>
            <a:off x="5006000" y="4806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72" name="r72"/>
          <p:cNvSpPr/>
          <p:nvPr/>
        </p:nvSpPr>
        <p:spPr>
          <a:xfrm>
            <a:off x="6876000" y="4679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73"/>
          <p:cNvSpPr/>
          <p:nvPr/>
        </p:nvSpPr>
        <p:spPr>
          <a:xfrm>
            <a:off x="7130000" y="4806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74" name="r74"/>
          <p:cNvSpPr/>
          <p:nvPr/>
        </p:nvSpPr>
        <p:spPr>
          <a:xfrm>
            <a:off x="9000000" y="4679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5" name="t75"/>
          <p:cNvSpPr/>
          <p:nvPr/>
        </p:nvSpPr>
        <p:spPr>
          <a:xfrm>
            <a:off x="9254000" y="4806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76" name="r76"/>
          <p:cNvSpPr/>
          <p:nvPr/>
        </p:nvSpPr>
        <p:spPr>
          <a:xfrm>
            <a:off x="648000" y="5435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7" name="t77"/>
          <p:cNvSpPr/>
          <p:nvPr/>
        </p:nvSpPr>
        <p:spPr>
          <a:xfrm>
            <a:off x="902000" y="5562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B8860B"/>
                </a:solidFill>
              </a:rPr>
              <a:t>Loyiha muddati</a:t>
            </a:r>
          </a:p>
        </p:txBody>
      </p:sp>
      <p:sp>
        <p:nvSpPr>
          <p:cNvPr id="78" name="r78"/>
          <p:cNvSpPr/>
          <p:nvPr/>
        </p:nvSpPr>
        <p:spPr>
          <a:xfrm>
            <a:off x="4752000" y="543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9" name="t79"/>
          <p:cNvSpPr/>
          <p:nvPr/>
        </p:nvSpPr>
        <p:spPr>
          <a:xfrm>
            <a:off x="5006000" y="556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1F2937"/>
                </a:solidFill>
              </a:rPr>
              <a:t>8 hafta</a:t>
            </a:r>
          </a:p>
        </p:txBody>
      </p:sp>
      <p:sp>
        <p:nvSpPr>
          <p:cNvPr id="80" name="r80"/>
          <p:cNvSpPr/>
          <p:nvPr/>
        </p:nvSpPr>
        <p:spPr>
          <a:xfrm>
            <a:off x="6876000" y="543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t81"/>
          <p:cNvSpPr/>
          <p:nvPr/>
        </p:nvSpPr>
        <p:spPr>
          <a:xfrm>
            <a:off x="7130000" y="556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1F2937"/>
                </a:solidFill>
              </a:rPr>
              <a:t>7.5 hafta</a:t>
            </a:r>
          </a:p>
        </p:txBody>
      </p:sp>
      <p:sp>
        <p:nvSpPr>
          <p:cNvPr id="82" name="r82"/>
          <p:cNvSpPr/>
          <p:nvPr/>
        </p:nvSpPr>
        <p:spPr>
          <a:xfrm>
            <a:off x="9000000" y="5435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FFF8E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t83"/>
          <p:cNvSpPr/>
          <p:nvPr/>
        </p:nvSpPr>
        <p:spPr>
          <a:xfrm>
            <a:off x="9254000" y="5562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15803D"/>
                </a:solidFill>
              </a:rPr>
              <a:t>✅ Muddatdan oldin</a:t>
            </a:r>
          </a:p>
        </p:txBody>
      </p:sp>
      <p:sp>
        <p:nvSpPr>
          <p:cNvPr id="84" name="t84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XULOSA VA SHAXSIY RIVOJLANISH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80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80000"/>
            <a:ext cx="144000" cy="1080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864000" y="1134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B8860B"/>
                </a:solidFill>
              </a:rPr>
              <a:t>Texnik Ko'nikmalar</a:t>
            </a:r>
          </a:p>
        </p:txBody>
      </p:sp>
      <p:sp>
        <p:nvSpPr>
          <p:cNvPr id="31" name="t31"/>
          <p:cNvSpPr/>
          <p:nvPr/>
        </p:nvSpPr>
        <p:spPr>
          <a:xfrm>
            <a:off x="864000" y="1548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Python multithreading, Docker, REST API, Grafana — barchasi amaliyotda o'rganildi</a:t>
            </a:r>
          </a:p>
        </p:txBody>
      </p:sp>
      <p:sp>
        <p:nvSpPr>
          <p:cNvPr id="32" name="r32"/>
          <p:cNvSpPr/>
          <p:nvPr/>
        </p:nvSpPr>
        <p:spPr>
          <a:xfrm>
            <a:off x="648000" y="2304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r33"/>
          <p:cNvSpPr/>
          <p:nvPr/>
        </p:nvSpPr>
        <p:spPr>
          <a:xfrm>
            <a:off x="648000" y="2304000"/>
            <a:ext cx="144000" cy="108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864000" y="2358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1D4ED8"/>
                </a:solidFill>
              </a:rPr>
              <a:t>Loyiha Boshqaruvi</a:t>
            </a:r>
          </a:p>
        </p:txBody>
      </p:sp>
      <p:sp>
        <p:nvSpPr>
          <p:cNvPr id="35" name="t35"/>
          <p:cNvSpPr/>
          <p:nvPr/>
        </p:nvSpPr>
        <p:spPr>
          <a:xfrm>
            <a:off x="864000" y="2772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Agile/Scrum real loyihada qo'llandi; risk va muloqot boshqaruvi puxta o'zlashtirildi</a:t>
            </a:r>
          </a:p>
        </p:txBody>
      </p:sp>
      <p:sp>
        <p:nvSpPr>
          <p:cNvPr id="36" name="r36"/>
          <p:cNvSpPr/>
          <p:nvPr/>
        </p:nvSpPr>
        <p:spPr>
          <a:xfrm>
            <a:off x="648000" y="3528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648000" y="3528000"/>
            <a:ext cx="144000" cy="1080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64000" y="3582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4D399"/>
                </a:solidFill>
              </a:rPr>
              <a:t>Kasbiy Xatti-harakat</a:t>
            </a:r>
          </a:p>
        </p:txBody>
      </p:sp>
      <p:sp>
        <p:nvSpPr>
          <p:cNvPr id="39" name="t39"/>
          <p:cNvSpPr/>
          <p:nvPr/>
        </p:nvSpPr>
        <p:spPr>
          <a:xfrm>
            <a:off x="864000" y="3996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Mas'uliyatlilik, shaffoflik, doimiy o'rganish va etika — IT mutaxassisining asosi</a:t>
            </a:r>
          </a:p>
        </p:txBody>
      </p:sp>
      <p:sp>
        <p:nvSpPr>
          <p:cNvPr id="40" name="r40"/>
          <p:cNvSpPr/>
          <p:nvPr/>
        </p:nvSpPr>
        <p:spPr>
          <a:xfrm>
            <a:off x="648000" y="4752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648000" y="4752000"/>
            <a:ext cx="144000" cy="1080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864000" y="4806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A78BFA"/>
                </a:solidFill>
              </a:rPr>
              <a:t>Muammo Hal Etish</a:t>
            </a:r>
          </a:p>
        </p:txBody>
      </p:sp>
      <p:sp>
        <p:nvSpPr>
          <p:cNvPr id="43" name="t43"/>
          <p:cNvSpPr/>
          <p:nvPr/>
        </p:nvSpPr>
        <p:spPr>
          <a:xfrm>
            <a:off x="864000" y="5220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Tizimli 5 bosqich metodi murakkab texnik muammolarni samarali hal etishda ishladi</a:t>
            </a:r>
          </a:p>
        </p:txBody>
      </p:sp>
      <p:sp>
        <p:nvSpPr>
          <p:cNvPr id="44" name="r44"/>
          <p:cNvSpPr/>
          <p:nvPr/>
        </p:nvSpPr>
        <p:spPr>
          <a:xfrm>
            <a:off x="648000" y="5760000"/>
            <a:ext cx="10980000" cy="503999"/>
          </a:xfrm>
          <a:prstGeom prst="roundRect">
            <a:avLst>
              <a:gd name="adj" fmla="val 60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45"/>
          <p:cNvSpPr/>
          <p:nvPr/>
        </p:nvSpPr>
        <p:spPr>
          <a:xfrm>
            <a:off x="648000" y="5760000"/>
            <a:ext cx="144000" cy="503999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864000" y="5796000"/>
            <a:ext cx="104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800" b="1" i="0" dirty="0">
                <a:solidFill>
                  <a:srgbClr val="15803D"/>
                </a:solidFill>
              </a:rPr>
              <a:t>Ushbu loyiha menga texnik va kasbiy sifatda sezilarli o'sish imkonini berdi.</a:t>
            </a:r>
          </a:p>
        </p:txBody>
      </p:sp>
      <p:sp>
        <p:nvSpPr>
          <p:cNvPr id="47" name="t47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502400"/>
            <a:ext cx="12193200" cy="355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355600"/>
            <a:ext cx="127000" cy="6146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111827"/>
                </a:solidFill>
              </a:rPr>
              <a:t>BAHOLASH MEZONLARI — D MAQSAD (13 BALL)</a:t>
            </a:r>
          </a:p>
        </p:txBody>
      </p:sp>
      <p:sp>
        <p:nvSpPr>
          <p:cNvPr id="27" name="r27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15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152000"/>
            <a:ext cx="144000" cy="1152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827999" y="136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827999" y="136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FFFFFF"/>
                </a:solidFill>
              </a:rPr>
              <a:t>DD 4</a:t>
            </a:r>
          </a:p>
        </p:txBody>
      </p:sp>
      <p:sp>
        <p:nvSpPr>
          <p:cNvPr id="32" name="t32"/>
          <p:cNvSpPr/>
          <p:nvPr/>
        </p:nvSpPr>
        <p:spPr>
          <a:xfrm>
            <a:off x="1980000" y="120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Loyihani doimiy yaxshi texnik tushunish</a:t>
            </a:r>
          </a:p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va ko'nikmalarni samarali qo'llash</a:t>
            </a:r>
          </a:p>
        </p:txBody>
      </p:sp>
      <p:sp>
        <p:nvSpPr>
          <p:cNvPr id="33" name="t33"/>
          <p:cNvSpPr/>
          <p:nvPr/>
        </p:nvSpPr>
        <p:spPr>
          <a:xfrm>
            <a:off x="8820000" y="133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6B7280"/>
                </a:solidFill>
              </a:rPr>
              <a:t>Bo'lim 3 &amp; 5</a:t>
            </a:r>
          </a:p>
        </p:txBody>
      </p:sp>
      <p:sp>
        <p:nvSpPr>
          <p:cNvPr id="34" name="r34"/>
          <p:cNvSpPr/>
          <p:nvPr/>
        </p:nvSpPr>
        <p:spPr>
          <a:xfrm>
            <a:off x="9900000" y="144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9900000" y="144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36" name="r36"/>
          <p:cNvSpPr/>
          <p:nvPr/>
        </p:nvSpPr>
        <p:spPr>
          <a:xfrm>
            <a:off x="648000" y="241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648000" y="2412000"/>
            <a:ext cx="144000" cy="1152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38"/>
          <p:cNvSpPr/>
          <p:nvPr/>
        </p:nvSpPr>
        <p:spPr>
          <a:xfrm>
            <a:off x="827999" y="262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827999" y="262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FFFFFF"/>
                </a:solidFill>
              </a:rPr>
              <a:t>D.M4</a:t>
            </a:r>
          </a:p>
        </p:txBody>
      </p:sp>
      <p:sp>
        <p:nvSpPr>
          <p:cNvPr id="40" name="t40"/>
          <p:cNvSpPr/>
          <p:nvPr/>
        </p:nvSpPr>
        <p:spPr>
          <a:xfrm>
            <a:off x="1980000" y="246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AT loyihasi davomida qo'llaniladigan</a:t>
            </a:r>
          </a:p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xatti-harakatlarni yaxshilashni tavsiya</a:t>
            </a:r>
          </a:p>
        </p:txBody>
      </p:sp>
      <p:sp>
        <p:nvSpPr>
          <p:cNvPr id="41" name="t41"/>
          <p:cNvSpPr/>
          <p:nvPr/>
        </p:nvSpPr>
        <p:spPr>
          <a:xfrm>
            <a:off x="8820000" y="259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6B7280"/>
                </a:solidFill>
              </a:rPr>
              <a:t>Bo'lim 4</a:t>
            </a:r>
          </a:p>
        </p:txBody>
      </p:sp>
      <p:sp>
        <p:nvSpPr>
          <p:cNvPr id="42" name="r42"/>
          <p:cNvSpPr/>
          <p:nvPr/>
        </p:nvSpPr>
        <p:spPr>
          <a:xfrm>
            <a:off x="9900000" y="270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9900000" y="270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44" name="r44"/>
          <p:cNvSpPr/>
          <p:nvPr/>
        </p:nvSpPr>
        <p:spPr>
          <a:xfrm>
            <a:off x="648000" y="367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45"/>
          <p:cNvSpPr/>
          <p:nvPr/>
        </p:nvSpPr>
        <p:spPr>
          <a:xfrm>
            <a:off x="648000" y="3672000"/>
            <a:ext cx="144000" cy="1152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46"/>
          <p:cNvSpPr/>
          <p:nvPr/>
        </p:nvSpPr>
        <p:spPr>
          <a:xfrm>
            <a:off x="827999" y="388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7"/>
          <p:cNvSpPr/>
          <p:nvPr/>
        </p:nvSpPr>
        <p:spPr>
          <a:xfrm>
            <a:off x="827999" y="388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FFFFFF"/>
                </a:solidFill>
              </a:rPr>
              <a:t>DP 8</a:t>
            </a:r>
          </a:p>
        </p:txBody>
      </p:sp>
      <p:sp>
        <p:nvSpPr>
          <p:cNvPr id="48" name="t48"/>
          <p:cNvSpPr/>
          <p:nvPr/>
        </p:nvSpPr>
        <p:spPr>
          <a:xfrm>
            <a:off x="1980000" y="372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Loyiha boshqarish ko'nikmalaridan</a:t>
            </a:r>
          </a:p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AT loyihasida foydalanganligini tushuntirish</a:t>
            </a:r>
          </a:p>
        </p:txBody>
      </p:sp>
      <p:sp>
        <p:nvSpPr>
          <p:cNvPr id="49" name="t49"/>
          <p:cNvSpPr/>
          <p:nvPr/>
        </p:nvSpPr>
        <p:spPr>
          <a:xfrm>
            <a:off x="8820000" y="385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6B7280"/>
                </a:solidFill>
              </a:rPr>
              <a:t>Bo'lim 6</a:t>
            </a:r>
          </a:p>
        </p:txBody>
      </p:sp>
      <p:sp>
        <p:nvSpPr>
          <p:cNvPr id="50" name="r50"/>
          <p:cNvSpPr/>
          <p:nvPr/>
        </p:nvSpPr>
        <p:spPr>
          <a:xfrm>
            <a:off x="9900000" y="396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51"/>
          <p:cNvSpPr/>
          <p:nvPr/>
        </p:nvSpPr>
        <p:spPr>
          <a:xfrm>
            <a:off x="9900000" y="396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52" name="r52"/>
          <p:cNvSpPr/>
          <p:nvPr/>
        </p:nvSpPr>
        <p:spPr>
          <a:xfrm>
            <a:off x="648000" y="493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F0F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648000" y="4932000"/>
            <a:ext cx="144000" cy="115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827999" y="514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827999" y="514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FFFFFF"/>
                </a:solidFill>
              </a:rPr>
              <a:t>DP 9</a:t>
            </a:r>
          </a:p>
        </p:txBody>
      </p:sp>
      <p:sp>
        <p:nvSpPr>
          <p:cNvPr id="56" name="t56"/>
          <p:cNvSpPr/>
          <p:nvPr/>
        </p:nvSpPr>
        <p:spPr>
          <a:xfrm>
            <a:off x="1980000" y="498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AT loyihasini boshqarishda tegishli</a:t>
            </a:r>
          </a:p>
          <a:p>
            <a:pPr algn="l"/>
            <a:r>
              <a:rPr lang="uz-UZ" sz="1750" b="0" i="0" dirty="0">
                <a:solidFill>
                  <a:srgbClr val="1F2937"/>
                </a:solidFill>
              </a:rPr>
              <a:t>xatti-harakatlarni qo'llanganligini ko'rsatish</a:t>
            </a:r>
          </a:p>
        </p:txBody>
      </p:sp>
      <p:sp>
        <p:nvSpPr>
          <p:cNvPr id="57" name="t57"/>
          <p:cNvSpPr/>
          <p:nvPr/>
        </p:nvSpPr>
        <p:spPr>
          <a:xfrm>
            <a:off x="8820000" y="511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6B7280"/>
                </a:solidFill>
              </a:rPr>
              <a:t>Bo'lim 7</a:t>
            </a:r>
          </a:p>
        </p:txBody>
      </p:sp>
      <p:sp>
        <p:nvSpPr>
          <p:cNvPr id="58" name="r58"/>
          <p:cNvSpPr/>
          <p:nvPr/>
        </p:nvSpPr>
        <p:spPr>
          <a:xfrm>
            <a:off x="9900000" y="522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t59"/>
          <p:cNvSpPr/>
          <p:nvPr/>
        </p:nvSpPr>
        <p:spPr>
          <a:xfrm>
            <a:off x="9900000" y="522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15803D"/>
                </a:solidFill>
              </a:rPr>
              <a:t>✅ BAJARILDI</a:t>
            </a:r>
          </a:p>
        </p:txBody>
      </p:sp>
      <p:sp>
        <p:nvSpPr>
          <p:cNvPr id="60" name="r60"/>
          <p:cNvSpPr/>
          <p:nvPr/>
        </p:nvSpPr>
        <p:spPr>
          <a:xfrm>
            <a:off x="648000" y="6120000"/>
            <a:ext cx="10980000" cy="540000"/>
          </a:xfrm>
          <a:prstGeom prst="roundRect">
            <a:avLst>
              <a:gd name="adj" fmla="val 60000"/>
            </a:avLst>
          </a:prstGeom>
          <a:solidFill>
            <a:srgbClr val="FEF3C7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r61"/>
          <p:cNvSpPr/>
          <p:nvPr/>
        </p:nvSpPr>
        <p:spPr>
          <a:xfrm>
            <a:off x="648000" y="6120000"/>
            <a:ext cx="10980000" cy="20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62"/>
          <p:cNvSpPr/>
          <p:nvPr/>
        </p:nvSpPr>
        <p:spPr>
          <a:xfrm>
            <a:off x="2880000" y="6156000"/>
            <a:ext cx="72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B8860B"/>
                </a:solidFill>
              </a:rPr>
              <a:t>Pearson | BTEC  ·  9-bo'lim LAD  ·  2-son  ·  2024 yil iyun  ·  D maqsad — 13 ball</a:t>
            </a:r>
          </a:p>
        </p:txBody>
      </p:sp>
      <p:sp>
        <p:nvSpPr>
          <p:cNvPr id="63" name="t63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6B7280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TEC">
  <a:themeElements>
    <a:clrScheme name="BTEC">
      <a:dk1>
        <a:srgbClr val="111827"/>
      </a:dk1>
      <a:lt1>
        <a:srgbClr val="FFFFFF"/>
      </a:lt1>
      <a:dk2>
        <a:srgbClr val="1F2937"/>
      </a:dk2>
      <a:lt2>
        <a:srgbClr val="F3F4F6"/>
      </a:lt2>
      <a:accent1>
        <a:srgbClr val="B8860B"/>
      </a:accent1>
      <a:accent2>
        <a:srgbClr val="1D4ED8"/>
      </a:accent2>
      <a:accent3>
        <a:srgbClr val="DC2626"/>
      </a:accent3>
      <a:accent4>
        <a:srgbClr val="15803D"/>
      </a:accent4>
      <a:accent5>
        <a:srgbClr val="7C3AED"/>
      </a:accent5>
      <a:accent6>
        <a:srgbClr val="0F766E"/>
      </a:accent6>
      <a:hlink>
        <a:srgbClr val="1D4ED8"/>
      </a:hlink>
      <a:folHlink>
        <a:srgbClr val="6B7280"/>
      </a:folHlink>
    </a:clrScheme>
    <a:fontScheme name="BTEC">
      <a:majorFont>
        <a:latin typeface="Segoe UI" panose="020B0604020202020204"/>
        <a:ea typeface=""/>
        <a:cs typeface=""/>
      </a:majorFont>
      <a:minorFont>
        <a:latin typeface="Segoe UI" panose="020B0604020202020204"/>
        <a:ea typeface=""/>
        <a:cs typeface=""/>
      </a:minorFont>
    </a:fontScheme>
    <a:fmtScheme name="BTEC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